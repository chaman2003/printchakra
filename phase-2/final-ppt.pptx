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3" r:id="rId6"/>
    <p:sldId id="295" r:id="rId7"/>
    <p:sldId id="301" r:id="rId8"/>
    <p:sldId id="317" r:id="rId9"/>
    <p:sldId id="302" r:id="rId10"/>
    <p:sldId id="276" r:id="rId11"/>
    <p:sldId id="268" r:id="rId12"/>
    <p:sldId id="286" r:id="rId13"/>
    <p:sldId id="284" r:id="rId14"/>
    <p:sldId id="283" r:id="rId15"/>
    <p:sldId id="316" r:id="rId16"/>
    <p:sldId id="311" r:id="rId17"/>
    <p:sldId id="318" r:id="rId18"/>
    <p:sldId id="282" r:id="rId19"/>
    <p:sldId id="264" r:id="rId20"/>
    <p:sldId id="265" r:id="rId21"/>
    <p:sldId id="267" r:id="rId22"/>
    <p:sldId id="313" r:id="rId23"/>
    <p:sldId id="314" r:id="rId24"/>
    <p:sldId id="315" r:id="rId25"/>
    <p:sldId id="269" r:id="rId26"/>
    <p:sldId id="270" r:id="rId27"/>
    <p:sldId id="271" r:id="rId28"/>
    <p:sldId id="280" r:id="rId29"/>
    <p:sldId id="279" r:id="rId30"/>
    <p:sldId id="297" r:id="rId31"/>
    <p:sldId id="298" r:id="rId32"/>
    <p:sldId id="27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0" autoAdjust="0"/>
    <p:restoredTop sz="94660"/>
  </p:normalViewPr>
  <p:slideViewPr>
    <p:cSldViewPr snapToGrid="0">
      <p:cViewPr varScale="1">
        <p:scale>
          <a:sx n="111" d="100"/>
          <a:sy n="111" d="100"/>
        </p:scale>
        <p:origin x="78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59AC9-30A0-440B-AF41-94819212A481}" type="datetimeFigureOut">
              <a:rPr lang="en-IN" smtClean="0"/>
              <a:t>09-01-2026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8E1B2-F8F7-41C2-BFC5-B9ECD75AD531}" type="slidenum">
              <a:rPr lang="en-IN" smtClean="0"/>
              <a:t>‹#›</a:t>
            </a:fld>
            <a:endParaRPr lang="en-IN"/>
          </a:p>
        </p:txBody>
      </p:sp>
    </p:spTree>
    <p:extLst>
      <p:ext uri="{BB962C8B-B14F-4D97-AF65-F5344CB8AC3E}">
        <p14:creationId xmlns:p14="http://schemas.microsoft.com/office/powerpoint/2010/main" val="62740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88E1B2-F8F7-41C2-BFC5-B9ECD75AD531}" type="slidenum">
              <a:rPr lang="en-IN" smtClean="0"/>
              <a:t>1</a:t>
            </a:fld>
            <a:endParaRPr lang="en-IN"/>
          </a:p>
        </p:txBody>
      </p:sp>
    </p:spTree>
    <p:extLst>
      <p:ext uri="{BB962C8B-B14F-4D97-AF65-F5344CB8AC3E}">
        <p14:creationId xmlns:p14="http://schemas.microsoft.com/office/powerpoint/2010/main" val="1971671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8E1B2-F8F7-41C2-BFC5-B9ECD75AD531}" type="slidenum">
              <a:rPr lang="en-IN" smtClean="0"/>
              <a:t>2</a:t>
            </a:fld>
            <a:endParaRPr lang="en-IN"/>
          </a:p>
        </p:txBody>
      </p:sp>
    </p:spTree>
    <p:extLst>
      <p:ext uri="{BB962C8B-B14F-4D97-AF65-F5344CB8AC3E}">
        <p14:creationId xmlns:p14="http://schemas.microsoft.com/office/powerpoint/2010/main" val="1369186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88E1B2-F8F7-41C2-BFC5-B9ECD75AD531}" type="slidenum">
              <a:rPr lang="en-IN" smtClean="0"/>
              <a:t>11</a:t>
            </a:fld>
            <a:endParaRPr lang="en-IN"/>
          </a:p>
        </p:txBody>
      </p:sp>
    </p:spTree>
    <p:extLst>
      <p:ext uri="{BB962C8B-B14F-4D97-AF65-F5344CB8AC3E}">
        <p14:creationId xmlns:p14="http://schemas.microsoft.com/office/powerpoint/2010/main" val="2318767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88E1B2-F8F7-41C2-BFC5-B9ECD75AD531}" type="slidenum">
              <a:rPr lang="en-IN" smtClean="0"/>
              <a:t>19</a:t>
            </a:fld>
            <a:endParaRPr lang="en-IN"/>
          </a:p>
        </p:txBody>
      </p:sp>
    </p:spTree>
    <p:extLst>
      <p:ext uri="{BB962C8B-B14F-4D97-AF65-F5344CB8AC3E}">
        <p14:creationId xmlns:p14="http://schemas.microsoft.com/office/powerpoint/2010/main" val="1349295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88E1B2-F8F7-41C2-BFC5-B9ECD75AD531}" type="slidenum">
              <a:rPr lang="en-IN" smtClean="0"/>
              <a:t>27</a:t>
            </a:fld>
            <a:endParaRPr lang="en-IN"/>
          </a:p>
        </p:txBody>
      </p:sp>
    </p:spTree>
    <p:extLst>
      <p:ext uri="{BB962C8B-B14F-4D97-AF65-F5344CB8AC3E}">
        <p14:creationId xmlns:p14="http://schemas.microsoft.com/office/powerpoint/2010/main" val="4070413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88E1B2-F8F7-41C2-BFC5-B9ECD75AD531}" type="slidenum">
              <a:rPr lang="en-IN" smtClean="0"/>
              <a:t>28</a:t>
            </a:fld>
            <a:endParaRPr lang="en-IN"/>
          </a:p>
        </p:txBody>
      </p:sp>
    </p:spTree>
    <p:extLst>
      <p:ext uri="{BB962C8B-B14F-4D97-AF65-F5344CB8AC3E}">
        <p14:creationId xmlns:p14="http://schemas.microsoft.com/office/powerpoint/2010/main" val="1910536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5A7E-0625-4C55-0F84-E09167684A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EAC7DD-633C-E347-5238-700725B7C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250173-FF3E-46E1-6CF9-3F7E7D64F90A}"/>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5" name="Footer Placeholder 4">
            <a:extLst>
              <a:ext uri="{FF2B5EF4-FFF2-40B4-BE49-F238E27FC236}">
                <a16:creationId xmlns:a16="http://schemas.microsoft.com/office/drawing/2014/main" id="{F7ED2BC2-D9E8-E95A-3079-36D16502AC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D59C3-843F-63C6-0B88-1124679A7744}"/>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739920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6602-FA74-09F7-7AF3-ABA73C2F73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AC1F86-8539-8AE0-07D2-4EF7189EF1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22462F-5F63-841F-72C2-07EEF15CB597}"/>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5" name="Footer Placeholder 4">
            <a:extLst>
              <a:ext uri="{FF2B5EF4-FFF2-40B4-BE49-F238E27FC236}">
                <a16:creationId xmlns:a16="http://schemas.microsoft.com/office/drawing/2014/main" id="{31726624-A3DE-BE83-1D12-853252FB9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A374AB-368F-4449-1309-6DF199ABA11F}"/>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130856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A260-172A-1750-EC67-95E87A867C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DD7568-5B21-2CBC-6373-921ED0A4F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257A46-4BB2-1BE0-3390-D8065713056D}"/>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5" name="Footer Placeholder 4">
            <a:extLst>
              <a:ext uri="{FF2B5EF4-FFF2-40B4-BE49-F238E27FC236}">
                <a16:creationId xmlns:a16="http://schemas.microsoft.com/office/drawing/2014/main" id="{8172E9C6-BA55-649B-679A-3836738547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ADC92-48C9-A5FA-1557-552929CEA3B3}"/>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09362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6191-2011-313C-BC4A-0F7A3D1DDD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128010-9BB8-CDA2-05A5-12350BB250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7C9B92-8874-A515-6E6C-9CE9FFFFC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465BF0-DF7A-9081-962A-B25D777E65E7}"/>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6" name="Footer Placeholder 5">
            <a:extLst>
              <a:ext uri="{FF2B5EF4-FFF2-40B4-BE49-F238E27FC236}">
                <a16:creationId xmlns:a16="http://schemas.microsoft.com/office/drawing/2014/main" id="{1BBACC19-1EE4-BABF-2F09-3452EA5F20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56A759-A703-B1E9-1D44-E907A779BEE6}"/>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900604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DF60-42C2-4CE0-665F-B5D7EEC139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599603-BE71-7FF4-114F-C4FDD99D0E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3016AF-7681-9D40-BC2C-699E94E74E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CA6B90-FF0A-47D9-FD7F-73E06C5630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C91799-D48A-C7C9-301C-77CB51ED1A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9C2CC2-49CD-EE89-D5FF-C07F6840510E}"/>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8" name="Footer Placeholder 7">
            <a:extLst>
              <a:ext uri="{FF2B5EF4-FFF2-40B4-BE49-F238E27FC236}">
                <a16:creationId xmlns:a16="http://schemas.microsoft.com/office/drawing/2014/main" id="{889A69C9-7E04-96DB-33F2-2A458B6791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A8B490-4975-5158-8CE6-820249AAC18A}"/>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407469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87CC-D218-BF01-7DCA-67C103C1AC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100DCD-0640-07A4-D126-16D86FC348E5}"/>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4" name="Footer Placeholder 3">
            <a:extLst>
              <a:ext uri="{FF2B5EF4-FFF2-40B4-BE49-F238E27FC236}">
                <a16:creationId xmlns:a16="http://schemas.microsoft.com/office/drawing/2014/main" id="{2F41037C-8C47-68BF-3653-1EC8391F49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B6E4A3-2867-D101-4840-E57F251C9ACE}"/>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593295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109C4-1BE1-AE19-2CBA-3D325EA42E2D}"/>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3" name="Footer Placeholder 2">
            <a:extLst>
              <a:ext uri="{FF2B5EF4-FFF2-40B4-BE49-F238E27FC236}">
                <a16:creationId xmlns:a16="http://schemas.microsoft.com/office/drawing/2014/main" id="{98568BBF-F980-D84E-A90E-5B6EEA7D01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E49690-52B2-7AE0-1F96-FAA50158F60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343090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22F8-76CE-AF40-D244-2F556B0042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51EE23-344D-DDA0-DFFD-8B1CBCD6D5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DFA9FC-BFFE-8E98-9D31-8B290D8A6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878BA9-8F40-2C80-7E56-0FF85713B747}"/>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6" name="Footer Placeholder 5">
            <a:extLst>
              <a:ext uri="{FF2B5EF4-FFF2-40B4-BE49-F238E27FC236}">
                <a16:creationId xmlns:a16="http://schemas.microsoft.com/office/drawing/2014/main" id="{4CD74A4D-58E7-88E7-1E3D-753A3E586A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458AE5-A843-328D-2DAC-EDECF257800B}"/>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3156670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9C0B2-79BC-ED10-5C8D-62363C3FD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4834B8-4B03-D558-5ED4-E99FEEC591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C7E6B2-136D-82CC-2AC6-550B8591D9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83A53-1AC4-03CA-45BE-D54076280F19}"/>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6" name="Footer Placeholder 5">
            <a:extLst>
              <a:ext uri="{FF2B5EF4-FFF2-40B4-BE49-F238E27FC236}">
                <a16:creationId xmlns:a16="http://schemas.microsoft.com/office/drawing/2014/main" id="{5F22EE42-6906-A2A8-2137-3C2628B5B2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1761E2-571F-8FB6-9ED2-41EAC8CEF66D}"/>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4026404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4A70-EBFC-43C6-8D3D-74B59622EA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3B4147-4AC7-062D-620F-66D9870D69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6B6EDB-84C4-4775-E2FD-D1E4B0A5C94C}"/>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5" name="Footer Placeholder 4">
            <a:extLst>
              <a:ext uri="{FF2B5EF4-FFF2-40B4-BE49-F238E27FC236}">
                <a16:creationId xmlns:a16="http://schemas.microsoft.com/office/drawing/2014/main" id="{4B85D3D5-C8AE-E53F-C5DA-66EE0092BD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05557-2DC7-3F05-EA69-5052D399D9D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4143949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13312-7BE4-FD63-62DB-8AAE1F684D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39735E-90AC-B019-A36A-7D57622385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AD1201-8297-5064-C909-85EA263056F5}"/>
              </a:ext>
            </a:extLst>
          </p:cNvPr>
          <p:cNvSpPr>
            <a:spLocks noGrp="1"/>
          </p:cNvSpPr>
          <p:nvPr>
            <p:ph type="dt" sz="half" idx="10"/>
          </p:nvPr>
        </p:nvSpPr>
        <p:spPr/>
        <p:txBody>
          <a:bodyPr/>
          <a:lstStyle/>
          <a:p>
            <a:fld id="{A298C13F-C621-4EE4-BE50-3B8B7BF01E8F}" type="datetimeFigureOut">
              <a:rPr lang="en-IN" smtClean="0"/>
              <a:t>09-01-2026</a:t>
            </a:fld>
            <a:endParaRPr lang="en-IN"/>
          </a:p>
        </p:txBody>
      </p:sp>
      <p:sp>
        <p:nvSpPr>
          <p:cNvPr id="5" name="Footer Placeholder 4">
            <a:extLst>
              <a:ext uri="{FF2B5EF4-FFF2-40B4-BE49-F238E27FC236}">
                <a16:creationId xmlns:a16="http://schemas.microsoft.com/office/drawing/2014/main" id="{7E52C1C4-150A-3E98-3382-1EB0188986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5E77E-26C4-9F34-6C71-B07B7CB94C5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744792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47F7F-FC21-7806-64C8-20C291932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08D339-83F4-C4D5-6B16-6186F0D2ED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89515-A60C-69C1-FB8A-01941E7084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98C13F-C621-4EE4-BE50-3B8B7BF01E8F}" type="datetimeFigureOut">
              <a:rPr lang="en-IN" smtClean="0"/>
              <a:t>09-01-2026</a:t>
            </a:fld>
            <a:endParaRPr lang="en-IN"/>
          </a:p>
        </p:txBody>
      </p:sp>
      <p:sp>
        <p:nvSpPr>
          <p:cNvPr id="5" name="Footer Placeholder 4">
            <a:extLst>
              <a:ext uri="{FF2B5EF4-FFF2-40B4-BE49-F238E27FC236}">
                <a16:creationId xmlns:a16="http://schemas.microsoft.com/office/drawing/2014/main" id="{0E3A96BA-2E86-4B5D-041B-3B92FF431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EAA82E0-9AC6-3ABA-4F03-42BA8E5EE0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08062F-E083-4631-A010-A50ED976E5AC}" type="slidenum">
              <a:rPr lang="en-IN" smtClean="0"/>
              <a:t>‹#›</a:t>
            </a:fld>
            <a:endParaRPr lang="en-IN"/>
          </a:p>
        </p:txBody>
      </p:sp>
    </p:spTree>
    <p:extLst>
      <p:ext uri="{BB962C8B-B14F-4D97-AF65-F5344CB8AC3E}">
        <p14:creationId xmlns:p14="http://schemas.microsoft.com/office/powerpoint/2010/main" val="2641615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jpe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jpe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2.jp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1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jpe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2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4.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2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8.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2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2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_rels/slide2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jpe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jpe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9.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svg"/><Relationship Id="rId3" Type="http://schemas.openxmlformats.org/officeDocument/2006/relationships/hyperlink" Target="https://doi.org/10.62527/ijasce.2.1.29" TargetMode="External"/><Relationship Id="rId7" Type="http://schemas.openxmlformats.org/officeDocument/2006/relationships/hyperlink" Target="https://doi.org/10.1016/j.jocs.2020.101139" TargetMode="External"/><Relationship Id="rId12"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doi.org/10.3390/s17040846" TargetMode="External"/><Relationship Id="rId11" Type="http://schemas.openxmlformats.org/officeDocument/2006/relationships/image" Target="../media/image5.svg"/><Relationship Id="rId5" Type="http://schemas.openxmlformats.org/officeDocument/2006/relationships/hyperlink" Target="https://doi.org/10.22214/ijraset.2025.74033" TargetMode="External"/><Relationship Id="rId15" Type="http://schemas.openxmlformats.org/officeDocument/2006/relationships/image" Target="../media/image9.svg"/><Relationship Id="rId10" Type="http://schemas.openxmlformats.org/officeDocument/2006/relationships/image" Target="../media/image4.png"/><Relationship Id="rId4" Type="http://schemas.openxmlformats.org/officeDocument/2006/relationships/hyperlink" Target="https://doi.org/10.54060/jieee.2023.75" TargetMode="External"/><Relationship Id="rId9" Type="http://schemas.openxmlformats.org/officeDocument/2006/relationships/image" Target="../media/image3.svg"/><Relationship Id="rId14"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svg"/><Relationship Id="rId3" Type="http://schemas.openxmlformats.org/officeDocument/2006/relationships/hyperlink" Target="https://doi.org/10.1109/TSMC.1979.4310076" TargetMode="External"/><Relationship Id="rId7" Type="http://schemas.openxmlformats.org/officeDocument/2006/relationships/hyperlink" Target="https://doi.org/10.1145/3444685" TargetMode="External"/><Relationship Id="rId12"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doi.org/10.1109/TC.1977.1674913" TargetMode="External"/><Relationship Id="rId11" Type="http://schemas.openxmlformats.org/officeDocument/2006/relationships/image" Target="../media/image5.svg"/><Relationship Id="rId5" Type="http://schemas.openxmlformats.org/officeDocument/2006/relationships/hyperlink" Target="https://www.researchgate.net/publication/287217803" TargetMode="External"/><Relationship Id="rId15" Type="http://schemas.openxmlformats.org/officeDocument/2006/relationships/image" Target="../media/image9.svg"/><Relationship Id="rId10" Type="http://schemas.openxmlformats.org/officeDocument/2006/relationships/image" Target="../media/image4.png"/><Relationship Id="rId4" Type="http://schemas.openxmlformats.org/officeDocument/2006/relationships/hyperlink" Target="https://doi.org/10.1080/01969722.2022.2147128" TargetMode="External"/><Relationship Id="rId9" Type="http://schemas.openxmlformats.org/officeDocument/2006/relationships/image" Target="../media/image3.svg"/><Relationship Id="rId14" Type="http://schemas.openxmlformats.org/officeDocument/2006/relationships/image" Target="../media/image8.png"/></Relationships>
</file>

<file path=ppt/slides/_rels/slide3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svg"/><Relationship Id="rId3" Type="http://schemas.openxmlformats.org/officeDocument/2006/relationships/hyperlink" Target="https://doi.org/10.1007/978-3-030-92128-0_54" TargetMode="External"/><Relationship Id="rId7" Type="http://schemas.openxmlformats.org/officeDocument/2006/relationships/hyperlink" Target="https://doi.org/10.48550/arXiv.1605.08695" TargetMode="External"/><Relationship Id="rId12"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doi.org/10.5815/ijcnis.2017.11.04" TargetMode="External"/><Relationship Id="rId11" Type="http://schemas.openxmlformats.org/officeDocument/2006/relationships/image" Target="../media/image5.svg"/><Relationship Id="rId5" Type="http://schemas.openxmlformats.org/officeDocument/2006/relationships/hyperlink" Target="https://doi.org/10.1088/1757-899X/1096/1/012079" TargetMode="External"/><Relationship Id="rId15" Type="http://schemas.openxmlformats.org/officeDocument/2006/relationships/image" Target="../media/image9.svg"/><Relationship Id="rId10" Type="http://schemas.openxmlformats.org/officeDocument/2006/relationships/image" Target="../media/image4.png"/><Relationship Id="rId4" Type="http://schemas.openxmlformats.org/officeDocument/2006/relationships/hyperlink" Target="https://doi.org/10.22214/ijraset.2022.47414" TargetMode="External"/><Relationship Id="rId9" Type="http://schemas.openxmlformats.org/officeDocument/2006/relationships/image" Target="../media/image3.svg"/><Relationship Id="rId14" Type="http://schemas.openxmlformats.org/officeDocument/2006/relationships/image" Target="../media/image8.png"/></Relationships>
</file>

<file path=ppt/slides/_rels/slide3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2">
            <a:extLst>
              <a:ext uri="{FF2B5EF4-FFF2-40B4-BE49-F238E27FC236}">
                <a16:creationId xmlns:a16="http://schemas.microsoft.com/office/drawing/2014/main" id="{A3D34AE9-C431-D0F5-AA81-975A063666D7}"/>
              </a:ext>
            </a:extLst>
          </p:cNvPr>
          <p:cNvGrpSpPr/>
          <p:nvPr/>
        </p:nvGrpSpPr>
        <p:grpSpPr>
          <a:xfrm>
            <a:off x="0" y="6500256"/>
            <a:ext cx="12192000" cy="546100"/>
            <a:chOff x="0" y="0"/>
            <a:chExt cx="6186311" cy="277095"/>
          </a:xfrm>
          <a:solidFill>
            <a:srgbClr val="FFC000"/>
          </a:solidFill>
        </p:grpSpPr>
        <p:sp>
          <p:nvSpPr>
            <p:cNvPr id="9" name="Freeform 13">
              <a:extLst>
                <a:ext uri="{FF2B5EF4-FFF2-40B4-BE49-F238E27FC236}">
                  <a16:creationId xmlns:a16="http://schemas.microsoft.com/office/drawing/2014/main" id="{0893F74D-41F3-5C1C-F87B-55402CCCFD3D}"/>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sp>
        <p:nvSpPr>
          <p:cNvPr id="13" name="TextBox 19">
            <a:extLst>
              <a:ext uri="{FF2B5EF4-FFF2-40B4-BE49-F238E27FC236}">
                <a16:creationId xmlns:a16="http://schemas.microsoft.com/office/drawing/2014/main" id="{893249FB-85AE-C43E-97F8-FC10CEFCC51D}"/>
              </a:ext>
            </a:extLst>
          </p:cNvPr>
          <p:cNvSpPr txBox="1"/>
          <p:nvPr/>
        </p:nvSpPr>
        <p:spPr>
          <a:xfrm>
            <a:off x="4737490" y="6600414"/>
            <a:ext cx="2520941" cy="249043"/>
          </a:xfrm>
          <a:prstGeom prst="rect">
            <a:avLst/>
          </a:prstGeom>
        </p:spPr>
        <p:txBody>
          <a:bodyPr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4" name="Content Placeholder 2">
            <a:extLst>
              <a:ext uri="{FF2B5EF4-FFF2-40B4-BE49-F238E27FC236}">
                <a16:creationId xmlns:a16="http://schemas.microsoft.com/office/drawing/2014/main" id="{C98027A9-03DF-3594-3C3C-1A87D049145E}"/>
              </a:ext>
            </a:extLst>
          </p:cNvPr>
          <p:cNvSpPr txBox="1"/>
          <p:nvPr/>
        </p:nvSpPr>
        <p:spPr>
          <a:xfrm>
            <a:off x="263241" y="1160151"/>
            <a:ext cx="11469440" cy="5009638"/>
          </a:xfrm>
          <a:prstGeom prst="rect">
            <a:avLst/>
          </a:prstGeom>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3900" b="1" dirty="0">
              <a:solidFill>
                <a:srgbClr val="00206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1A36A38-92BA-85F3-0881-6DB7EE60D775}"/>
              </a:ext>
            </a:extLst>
          </p:cNvPr>
          <p:cNvSpPr txBox="1"/>
          <p:nvPr/>
        </p:nvSpPr>
        <p:spPr>
          <a:xfrm>
            <a:off x="459319" y="1193933"/>
            <a:ext cx="11273362" cy="5012975"/>
          </a:xfrm>
          <a:prstGeom prst="rect">
            <a:avLst/>
          </a:prstGeom>
          <a:noFill/>
        </p:spPr>
        <p:txBody>
          <a:bodyPr wrap="square">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DEPARTMENT OF ARTIFICIAL INTELLIGENCE AND MACHINE LEARNING</a:t>
            </a: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lnSpc>
                <a:spcPct val="107000"/>
              </a:lnSpc>
              <a:spcAft>
                <a:spcPts val="800"/>
              </a:spcAft>
            </a:pPr>
            <a:r>
              <a:rPr lang="en-US" sz="1600" dirty="0">
                <a:latin typeface="Times New Roman" panose="02020603050405020304" pitchFamily="18" charset="0"/>
                <a:cs typeface="Times New Roman" panose="02020603050405020304" pitchFamily="18" charset="0"/>
              </a:rPr>
              <a:t>UNDER THE GUIDANCE OF</a:t>
            </a:r>
          </a:p>
          <a:p>
            <a:pPr algn="ctr"/>
            <a:r>
              <a:rPr lang="en-US" sz="1600" b="1" dirty="0">
                <a:latin typeface="Times New Roman" panose="02020603050405020304" pitchFamily="18" charset="0"/>
                <a:cs typeface="Times New Roman" panose="02020603050405020304" pitchFamily="18" charset="0"/>
              </a:rPr>
              <a:t>DR. SHAILA K</a:t>
            </a:r>
          </a:p>
          <a:p>
            <a:pPr algn="ctr"/>
            <a:r>
              <a:rPr lang="en-US" sz="1600" b="1" dirty="0">
                <a:latin typeface="Times New Roman" panose="02020603050405020304" pitchFamily="18" charset="0"/>
                <a:cs typeface="Times New Roman" panose="02020603050405020304" pitchFamily="18" charset="0"/>
              </a:rPr>
              <a:t>PROFESSOR &amp; HOD, DEPT OF AIML-VKIT</a:t>
            </a:r>
          </a:p>
          <a:p>
            <a:pPr marL="0" marR="0" algn="ctr">
              <a:lnSpc>
                <a:spcPct val="107000"/>
              </a:lnSpc>
              <a:spcAft>
                <a:spcPts val="800"/>
              </a:spcAft>
            </a:pPr>
            <a:r>
              <a:rPr lang="en-IN" sz="1600" b="1" dirty="0">
                <a:latin typeface="Times New Roman" panose="02020603050405020304" pitchFamily="18" charset="0"/>
                <a:ea typeface="Calibri" panose="020F0502020204030204" pitchFamily="34" charset="0"/>
                <a:cs typeface="Times New Roman" panose="02020603050405020304" pitchFamily="18" charset="0"/>
              </a:rPr>
              <a:t>   </a:t>
            </a:r>
            <a:endParaRPr lang="en-US" sz="18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0" name="Picture 19">
            <a:extLst>
              <a:ext uri="{FF2B5EF4-FFF2-40B4-BE49-F238E27FC236}">
                <a16:creationId xmlns:a16="http://schemas.microsoft.com/office/drawing/2014/main" id="{AD59D46A-A036-E6C7-B533-E589A5963305}"/>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2192000" cy="953404"/>
          </a:xfrm>
          <a:prstGeom prst="rect">
            <a:avLst/>
          </a:prstGeom>
        </p:spPr>
      </p:pic>
      <p:sp>
        <p:nvSpPr>
          <p:cNvPr id="17" name="TextBox 16">
            <a:extLst>
              <a:ext uri="{FF2B5EF4-FFF2-40B4-BE49-F238E27FC236}">
                <a16:creationId xmlns:a16="http://schemas.microsoft.com/office/drawing/2014/main" id="{8159FD79-B8D4-45A9-83D5-FDCD16A6B89D}"/>
              </a:ext>
            </a:extLst>
          </p:cNvPr>
          <p:cNvSpPr txBox="1"/>
          <p:nvPr/>
        </p:nvSpPr>
        <p:spPr>
          <a:xfrm>
            <a:off x="2044696" y="1873828"/>
            <a:ext cx="8102600" cy="646331"/>
          </a:xfrm>
          <a:prstGeom prst="rect">
            <a:avLst/>
          </a:prstGeom>
          <a:noFill/>
        </p:spPr>
        <p:txBody>
          <a:bodyPr wrap="square" rtlCol="0">
            <a:spAutoFit/>
          </a:bodyPr>
          <a:lstStyle/>
          <a:p>
            <a:pPr algn="ctr"/>
            <a:r>
              <a:rPr lang="en-US" b="1" dirty="0">
                <a:solidFill>
                  <a:schemeClr val="tx2"/>
                </a:solidFill>
                <a:latin typeface="Times New Roman" panose="02020603050405020304" pitchFamily="18" charset="0"/>
                <a:cs typeface="Times New Roman" panose="02020603050405020304" pitchFamily="18" charset="0"/>
              </a:rPr>
              <a:t>PROJECT PHASE II PRESENTATION </a:t>
            </a:r>
          </a:p>
          <a:p>
            <a:pPr algn="ctr"/>
            <a:r>
              <a:rPr lang="en-US" b="1" dirty="0">
                <a:solidFill>
                  <a:schemeClr val="tx2"/>
                </a:solidFill>
                <a:latin typeface="Times New Roman" panose="02020603050405020304" pitchFamily="18" charset="0"/>
                <a:cs typeface="Times New Roman" panose="02020603050405020304" pitchFamily="18" charset="0"/>
              </a:rPr>
              <a:t>ON</a:t>
            </a:r>
          </a:p>
        </p:txBody>
      </p:sp>
      <p:sp>
        <p:nvSpPr>
          <p:cNvPr id="18" name="TextBox 17">
            <a:extLst>
              <a:ext uri="{FF2B5EF4-FFF2-40B4-BE49-F238E27FC236}">
                <a16:creationId xmlns:a16="http://schemas.microsoft.com/office/drawing/2014/main" id="{147517FF-E43D-42EC-A7CD-C3C387E76384}"/>
              </a:ext>
            </a:extLst>
          </p:cNvPr>
          <p:cNvSpPr txBox="1"/>
          <p:nvPr/>
        </p:nvSpPr>
        <p:spPr>
          <a:xfrm>
            <a:off x="3234261" y="2569717"/>
            <a:ext cx="5723467" cy="646331"/>
          </a:xfrm>
          <a:prstGeom prst="rect">
            <a:avLst/>
          </a:prstGeom>
          <a:noFill/>
        </p:spPr>
        <p:txBody>
          <a:bodyPr wrap="square" rtlCol="0">
            <a:spAutoFit/>
          </a:bodyPr>
          <a:lstStyle/>
          <a:p>
            <a:pPr marL="171450" marR="228600" algn="ctr">
              <a:spcBef>
                <a:spcPts val="985"/>
              </a:spcBef>
              <a:spcAft>
                <a:spcPts val="0"/>
              </a:spcAft>
            </a:pPr>
            <a:r>
              <a:rPr lang="en-US" sz="1800" b="1" dirty="0">
                <a:solidFill>
                  <a:srgbClr val="993300"/>
                </a:solidFill>
                <a:effectLst/>
                <a:latin typeface="Times New Roman" panose="02020603050405020304" pitchFamily="18" charset="0"/>
                <a:ea typeface="Times New Roman" panose="02020603050405020304" pitchFamily="18" charset="0"/>
              </a:rPr>
              <a:t>“</a:t>
            </a:r>
            <a:r>
              <a:rPr lang="en-US" sz="1800" b="1" dirty="0" err="1">
                <a:solidFill>
                  <a:srgbClr val="993300"/>
                </a:solidFill>
                <a:effectLst/>
                <a:latin typeface="Times New Roman" panose="02020603050405020304" pitchFamily="18" charset="0"/>
                <a:ea typeface="Times New Roman" panose="02020603050405020304" pitchFamily="18" charset="0"/>
              </a:rPr>
              <a:t>PrintChakra</a:t>
            </a:r>
            <a:r>
              <a:rPr lang="en-US" sz="1800" b="1" dirty="0">
                <a:solidFill>
                  <a:srgbClr val="993300"/>
                </a:solidFill>
                <a:effectLst/>
                <a:latin typeface="Times New Roman" panose="02020603050405020304" pitchFamily="18" charset="0"/>
                <a:ea typeface="Times New Roman" panose="02020603050405020304" pitchFamily="18" charset="0"/>
              </a:rPr>
              <a:t> –  An AI-Powered Smart Print</a:t>
            </a:r>
            <a:endParaRPr lang="en-US" sz="1800" dirty="0">
              <a:effectLst/>
              <a:latin typeface="Times New Roman" panose="02020603050405020304" pitchFamily="18" charset="0"/>
              <a:ea typeface="Times New Roman" panose="02020603050405020304" pitchFamily="18" charset="0"/>
            </a:endParaRPr>
          </a:p>
          <a:p>
            <a:r>
              <a:rPr lang="en-US" sz="1800" b="1" dirty="0">
                <a:solidFill>
                  <a:srgbClr val="993300"/>
                </a:solidFill>
                <a:effectLst/>
                <a:latin typeface="Times New Roman" panose="02020603050405020304" pitchFamily="18" charset="0"/>
                <a:ea typeface="Times New Roman" panose="02020603050405020304" pitchFamily="18" charset="0"/>
              </a:rPr>
              <a:t>                             &amp; Capture Solution</a:t>
            </a:r>
            <a:r>
              <a:rPr lang="en-US" sz="1800" b="1" spc="-10" dirty="0">
                <a:solidFill>
                  <a:srgbClr val="993300"/>
                </a:solidFill>
                <a:effectLst/>
                <a:latin typeface="Times New Roman" panose="02020603050405020304" pitchFamily="18" charset="0"/>
                <a:ea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913DC0A4-3252-4352-848F-3344D2547E7C}"/>
              </a:ext>
            </a:extLst>
          </p:cNvPr>
          <p:cNvSpPr txBox="1"/>
          <p:nvPr/>
        </p:nvSpPr>
        <p:spPr>
          <a:xfrm>
            <a:off x="3936994" y="3381693"/>
            <a:ext cx="4318000"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PRESENTED BY</a:t>
            </a:r>
          </a:p>
        </p:txBody>
      </p:sp>
      <p:sp>
        <p:nvSpPr>
          <p:cNvPr id="21" name="TextBox 20">
            <a:extLst>
              <a:ext uri="{FF2B5EF4-FFF2-40B4-BE49-F238E27FC236}">
                <a16:creationId xmlns:a16="http://schemas.microsoft.com/office/drawing/2014/main" id="{24C68746-483C-40C3-A739-838577F8611F}"/>
              </a:ext>
            </a:extLst>
          </p:cNvPr>
          <p:cNvSpPr txBox="1"/>
          <p:nvPr/>
        </p:nvSpPr>
        <p:spPr>
          <a:xfrm>
            <a:off x="4006696" y="3820405"/>
            <a:ext cx="4248298" cy="1070165"/>
          </a:xfrm>
          <a:prstGeom prst="rect">
            <a:avLst/>
          </a:prstGeom>
          <a:noFill/>
        </p:spPr>
        <p:txBody>
          <a:bodyPr wrap="square" rtlCol="0">
            <a:spAutoFit/>
          </a:bodyPr>
          <a:lstStyle/>
          <a:p>
            <a:pPr marL="0" marR="0">
              <a:lnSpc>
                <a:spcPct val="107000"/>
              </a:lnSpc>
              <a:spcAft>
                <a:spcPts val="800"/>
              </a:spcAft>
              <a:buNone/>
            </a:pPr>
            <a:r>
              <a:rPr lang="en-US" sz="1600" b="1" kern="1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CHAMAN S</a:t>
            </a:r>
            <a:r>
              <a:rPr lang="en-US" sz="16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1VK22AI007</a:t>
            </a:r>
          </a:p>
          <a:p>
            <a:pPr marL="0" marR="0">
              <a:lnSpc>
                <a:spcPct val="107000"/>
              </a:lnSpc>
              <a:spcAft>
                <a:spcPts val="800"/>
              </a:spcAft>
              <a:buNone/>
            </a:pPr>
            <a:r>
              <a:rPr lang="en-US" sz="16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GOW</a:t>
            </a:r>
            <a:r>
              <a:rPr lang="en-US" sz="1600" b="1" kern="1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THAM S		   1VK22AI013</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600" b="1" kern="1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KARTHIK KUMAR V GUPTA   </a:t>
            </a:r>
            <a:r>
              <a:rPr lang="en-US" sz="1600" b="1" kern="1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1VK22AI016</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681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5">
            <a:extLst>
              <a:ext uri="{FF2B5EF4-FFF2-40B4-BE49-F238E27FC236}">
                <a16:creationId xmlns:a16="http://schemas.microsoft.com/office/drawing/2014/main" id="{AE51EB97-F271-4616-92DB-B95C0ABD4B98}"/>
              </a:ext>
            </a:extLst>
          </p:cNvPr>
          <p:cNvSpPr txBox="1">
            <a:spLocks/>
          </p:cNvSpPr>
          <p:nvPr/>
        </p:nvSpPr>
        <p:spPr>
          <a:xfrm>
            <a:off x="131087" y="1471328"/>
            <a:ext cx="11929826" cy="5175342"/>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Introduction</a:t>
            </a:r>
          </a:p>
          <a:p>
            <a:pPr>
              <a:buFont typeface="Wingdings" panose="05000000000000000000" charset="0"/>
              <a:buChar char="q"/>
            </a:pPr>
            <a:r>
              <a:rPr lang="en-US" sz="2000" dirty="0">
                <a:latin typeface="Times New Roman" panose="02020603050405020304" pitchFamily="18" charset="0"/>
                <a:cs typeface="Times New Roman" panose="02020603050405020304" pitchFamily="18" charset="0"/>
              </a:rPr>
              <a:t>Problems Statement</a:t>
            </a:r>
          </a:p>
          <a:p>
            <a:pPr>
              <a:buFont typeface="Wingdings" panose="05000000000000000000" charset="0"/>
              <a:buChar char="q"/>
            </a:pPr>
            <a:r>
              <a:rPr lang="en-US" sz="2000" dirty="0">
                <a:latin typeface="Times New Roman" panose="02020603050405020304" pitchFamily="18" charset="0"/>
                <a:cs typeface="Times New Roman" panose="02020603050405020304" pitchFamily="18" charset="0"/>
              </a:rPr>
              <a:t>Problems Solved</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Objectives </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Literature Survey </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Gaps Identified</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Block Diagram</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Technology Stack</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Algorithmic Enhancements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Hardware Alternatives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System Requirements</a:t>
            </a:r>
          </a:p>
          <a:p>
            <a:pPr>
              <a:buFont typeface="Wingdings" panose="05000000000000000000" charset="0"/>
              <a:buChar char="q"/>
            </a:pPr>
            <a:r>
              <a:rPr lang="en-US" sz="2000" dirty="0">
                <a:latin typeface="Times New Roman" panose="02020603050405020304" pitchFamily="18" charset="0"/>
                <a:cs typeface="Times New Roman" panose="02020603050405020304" pitchFamily="18" charset="0"/>
              </a:rPr>
              <a:t>Performance Evaluation </a:t>
            </a:r>
          </a:p>
          <a:p>
            <a:pPr>
              <a:buFont typeface="Wingdings" panose="05000000000000000000" charset="0"/>
              <a:buChar char="q"/>
            </a:pPr>
            <a:r>
              <a:rPr lang="en-US" sz="2000" dirty="0">
                <a:latin typeface="Times New Roman" panose="02020603050405020304" pitchFamily="18" charset="0"/>
                <a:cs typeface="Times New Roman" panose="02020603050405020304" pitchFamily="18" charset="0"/>
              </a:rPr>
              <a:t>Implementation – Development environment</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Future Scope</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18" name="Title 8">
            <a:extLst>
              <a:ext uri="{FF2B5EF4-FFF2-40B4-BE49-F238E27FC236}">
                <a16:creationId xmlns:a16="http://schemas.microsoft.com/office/drawing/2014/main" id="{35E67535-AA34-167B-06F3-BF3F014FF538}"/>
              </a:ext>
            </a:extLst>
          </p:cNvPr>
          <p:cNvSpPr txBox="1">
            <a:spLocks/>
          </p:cNvSpPr>
          <p:nvPr/>
        </p:nvSpPr>
        <p:spPr>
          <a:xfrm>
            <a:off x="131087" y="1010542"/>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u="sng" dirty="0">
                <a:latin typeface="Times New Roman" panose="02020603050405020304" pitchFamily="18" charset="0"/>
                <a:cs typeface="Times New Roman" panose="02020603050405020304" pitchFamily="18" charset="0"/>
              </a:rPr>
              <a:t>CONTENTS</a:t>
            </a:r>
            <a:endParaRPr lang="en-IN" sz="2800" b="1" u="sng" dirty="0">
              <a:latin typeface="Times New Roman" panose="02020603050405020304" pitchFamily="18" charset="0"/>
              <a:cs typeface="Times New Roman" panose="02020603050405020304" pitchFamily="18" charset="0"/>
            </a:endParaRPr>
          </a:p>
        </p:txBody>
      </p:sp>
      <p:grpSp>
        <p:nvGrpSpPr>
          <p:cNvPr id="19" name="Group 2">
            <a:extLst>
              <a:ext uri="{FF2B5EF4-FFF2-40B4-BE49-F238E27FC236}">
                <a16:creationId xmlns:a16="http://schemas.microsoft.com/office/drawing/2014/main" id="{C2A77CD9-6D01-A8DB-C66D-BF03B69941D6}"/>
              </a:ext>
            </a:extLst>
          </p:cNvPr>
          <p:cNvGrpSpPr/>
          <p:nvPr/>
        </p:nvGrpSpPr>
        <p:grpSpPr>
          <a:xfrm>
            <a:off x="0" y="6470650"/>
            <a:ext cx="12192000" cy="546100"/>
            <a:chOff x="0" y="0"/>
            <a:chExt cx="6186311" cy="277095"/>
          </a:xfrm>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solidFill>
              <a:srgbClr val="FFC000"/>
            </a:solidFill>
          </p:spPr>
          <p:txBody>
            <a:bodyPr/>
            <a:lstStyle/>
            <a:p>
              <a:endParaRPr lang="en-IN">
                <a:solidFill>
                  <a:srgbClr val="FFC000"/>
                </a:solidFill>
              </a:endParaRPr>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58439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58439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58439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58439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60661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3" name="Picture 12">
            <a:extLst>
              <a:ext uri="{FF2B5EF4-FFF2-40B4-BE49-F238E27FC236}">
                <a16:creationId xmlns:a16="http://schemas.microsoft.com/office/drawing/2014/main" id="{A7DFB8A6-0EE4-6DA4-62D9-66050FDB6285}"/>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2" name="TextBox 1">
            <a:extLst>
              <a:ext uri="{FF2B5EF4-FFF2-40B4-BE49-F238E27FC236}">
                <a16:creationId xmlns:a16="http://schemas.microsoft.com/office/drawing/2014/main" id="{C6C7F839-BF1E-6612-E3A2-158F440202F4}"/>
              </a:ext>
            </a:extLst>
          </p:cNvPr>
          <p:cNvSpPr txBox="1"/>
          <p:nvPr/>
        </p:nvSpPr>
        <p:spPr>
          <a:xfrm>
            <a:off x="164029" y="6558474"/>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943880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3" name="Title 8">
            <a:extLst>
              <a:ext uri="{FF2B5EF4-FFF2-40B4-BE49-F238E27FC236}">
                <a16:creationId xmlns:a16="http://schemas.microsoft.com/office/drawing/2014/main" id="{12492449-092F-2489-42C6-37071677B220}"/>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INTRODUCTION </a:t>
            </a:r>
            <a:endParaRPr lang="en-IN" sz="2800" b="1" dirty="0">
              <a:latin typeface="Times New Roman" panose="02020603050405020304" pitchFamily="18" charset="0"/>
              <a:cs typeface="Times New Roman" panose="02020603050405020304" pitchFamily="18" charset="0"/>
            </a:endParaRPr>
          </a:p>
        </p:txBody>
      </p:sp>
      <p:sp>
        <p:nvSpPr>
          <p:cNvPr id="14" name="Content Placeholder 5">
            <a:extLst>
              <a:ext uri="{FF2B5EF4-FFF2-40B4-BE49-F238E27FC236}">
                <a16:creationId xmlns:a16="http://schemas.microsoft.com/office/drawing/2014/main" id="{18D1E11A-7BB4-72E8-5797-07BA67914B54}"/>
              </a:ext>
            </a:extLst>
          </p:cNvPr>
          <p:cNvSpPr txBox="1">
            <a:spLocks/>
          </p:cNvSpPr>
          <p:nvPr/>
        </p:nvSpPr>
        <p:spPr>
          <a:xfrm>
            <a:off x="131087" y="1588261"/>
            <a:ext cx="11832313" cy="4328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9789A926-AA47-B4C4-5806-D5636BCE4B10}"/>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7" name="TextBox 16">
            <a:extLst>
              <a:ext uri="{FF2B5EF4-FFF2-40B4-BE49-F238E27FC236}">
                <a16:creationId xmlns:a16="http://schemas.microsoft.com/office/drawing/2014/main" id="{448568C0-E041-114C-C0A2-F7DEBF43D8FB}"/>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7" name="Rectangle 6">
            <a:extLst>
              <a:ext uri="{FF2B5EF4-FFF2-40B4-BE49-F238E27FC236}">
                <a16:creationId xmlns:a16="http://schemas.microsoft.com/office/drawing/2014/main" id="{6528B66E-3F46-425D-9A72-4BFAA747C521}"/>
              </a:ext>
            </a:extLst>
          </p:cNvPr>
          <p:cNvSpPr>
            <a:spLocks noChangeArrowheads="1"/>
          </p:cNvSpPr>
          <p:nvPr/>
        </p:nvSpPr>
        <p:spPr bwMode="auto">
          <a:xfrm>
            <a:off x="131087" y="1623658"/>
            <a:ext cx="11734800" cy="4293483"/>
          </a:xfrm>
          <a:prstGeom prst="rect">
            <a:avLst/>
          </a:prstGeom>
        </p:spPr>
        <p:txBody>
          <a:bodyPr>
            <a:normAutofit/>
          </a:bodyPr>
          <a:lstStyle/>
          <a:p>
            <a:pPr marL="228600" indent="-228600" algn="just">
              <a:spcBef>
                <a:spcPts val="100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Traditional document management across educational, institutional, and corporate environments is inefficient, manual, and prone to errors.</a:t>
            </a:r>
          </a:p>
          <a:p>
            <a:pPr marL="228600" indent="-228600" algn="just">
              <a:spcBef>
                <a:spcPts val="100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Recent advancements have introduced AI and OCR technologies to improve accuracy and speed.</a:t>
            </a:r>
          </a:p>
          <a:p>
            <a:pPr marL="228600" indent="-228600" algn="just">
              <a:spcBef>
                <a:spcPts val="1000"/>
              </a:spcBef>
              <a:buFont typeface="Arial" panose="020B0604020202020204" pitchFamily="34" charset="0"/>
              <a:buChar char="•"/>
            </a:pPr>
            <a:r>
              <a:rPr lang="en-US" altLang="en-US" dirty="0" err="1">
                <a:latin typeface="Times New Roman" panose="02020603050405020304" pitchFamily="18" charset="0"/>
                <a:cs typeface="Times New Roman" panose="02020603050405020304" pitchFamily="18" charset="0"/>
              </a:rPr>
              <a:t>PrintChakra</a:t>
            </a:r>
            <a:r>
              <a:rPr lang="en-US" altLang="en-US" dirty="0">
                <a:latin typeface="Times New Roman" panose="02020603050405020304" pitchFamily="18" charset="0"/>
                <a:cs typeface="Times New Roman" panose="02020603050405020304" pitchFamily="18" charset="0"/>
              </a:rPr>
              <a:t> AI addresses issues like slow workflows, inaccurate text extraction, and lack of offline synchronization.</a:t>
            </a:r>
          </a:p>
          <a:p>
            <a:pPr marL="228600" indent="-228600" algn="just">
              <a:spcBef>
                <a:spcPts val="100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solve these challenges, we implement intelligent image enhancement, precise OCR, and seamless offline synchronization between mobile and desktop platforms.</a:t>
            </a:r>
          </a:p>
          <a:p>
            <a:pPr marL="228600" indent="-228600" algn="just">
              <a:spcBef>
                <a:spcPts val="10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method makes handling documents easier and faster, improving accuracy and reliability in different work environments.</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236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4" name="Title 8">
            <a:extLst>
              <a:ext uri="{FF2B5EF4-FFF2-40B4-BE49-F238E27FC236}">
                <a16:creationId xmlns:a16="http://schemas.microsoft.com/office/drawing/2014/main" id="{C398F070-A45D-3E84-0A4E-E094EAC19E52}"/>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PROBLEMS STATEMENT</a:t>
            </a:r>
            <a:endParaRPr lang="en-IN" sz="2800" b="1" dirty="0">
              <a:latin typeface="Times New Roman" panose="02020603050405020304" pitchFamily="18" charset="0"/>
              <a:cs typeface="Times New Roman" panose="02020603050405020304" pitchFamily="18" charset="0"/>
            </a:endParaRPr>
          </a:p>
        </p:txBody>
      </p:sp>
      <p:sp>
        <p:nvSpPr>
          <p:cNvPr id="15" name="Content Placeholder 5">
            <a:extLst>
              <a:ext uri="{FF2B5EF4-FFF2-40B4-BE49-F238E27FC236}">
                <a16:creationId xmlns:a16="http://schemas.microsoft.com/office/drawing/2014/main" id="{35454CB6-3804-B192-80E4-579934225C13}"/>
              </a:ext>
            </a:extLst>
          </p:cNvPr>
          <p:cNvSpPr txBox="1">
            <a:spLocks/>
          </p:cNvSpPr>
          <p:nvPr/>
        </p:nvSpPr>
        <p:spPr>
          <a:xfrm>
            <a:off x="139870" y="1606854"/>
            <a:ext cx="11738097" cy="45111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0" fontAlgn="base" hangingPunct="0">
              <a:lnSpc>
                <a:spcPct val="15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Traditional document workflows remain slow, inaccurate, and wasteful, taking several minutes per file with frequent mis-scans, duplicates, and paper waste, caused by manual processes and outdated systems lacking AI/OCR automation.</a:t>
            </a:r>
            <a:endParaRPr lang="en-US" altLang="en-US" sz="24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74EF8EBE-8A04-D1A1-E6C8-7A68C1E2B076}"/>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7" name="TextBox 16">
            <a:extLst>
              <a:ext uri="{FF2B5EF4-FFF2-40B4-BE49-F238E27FC236}">
                <a16:creationId xmlns:a16="http://schemas.microsoft.com/office/drawing/2014/main" id="{5DB17D7D-4136-7DA8-C6E6-9BA47690A12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2258888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4643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575889"/>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575889"/>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575889"/>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575889"/>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598114"/>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0843"/>
            <a:ext cx="12192000" cy="955522"/>
          </a:xfrm>
          <a:prstGeom prst="rect">
            <a:avLst/>
          </a:prstGeom>
        </p:spPr>
      </p:pic>
      <p:sp>
        <p:nvSpPr>
          <p:cNvPr id="16" name="TextBox 15">
            <a:extLst>
              <a:ext uri="{FF2B5EF4-FFF2-40B4-BE49-F238E27FC236}">
                <a16:creationId xmlns:a16="http://schemas.microsoft.com/office/drawing/2014/main" id="{0B9A3A04-681F-08BF-6B31-8595D34351AD}"/>
              </a:ext>
            </a:extLst>
          </p:cNvPr>
          <p:cNvSpPr txBox="1"/>
          <p:nvPr/>
        </p:nvSpPr>
        <p:spPr>
          <a:xfrm>
            <a:off x="256032" y="6524057"/>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4" name="Rectangle 3">
            <a:extLst>
              <a:ext uri="{FF2B5EF4-FFF2-40B4-BE49-F238E27FC236}">
                <a16:creationId xmlns:a16="http://schemas.microsoft.com/office/drawing/2014/main" id="{93BD5571-B822-670B-C4DC-924F8BEB478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15">
            <a:extLst>
              <a:ext uri="{FF2B5EF4-FFF2-40B4-BE49-F238E27FC236}">
                <a16:creationId xmlns:a16="http://schemas.microsoft.com/office/drawing/2014/main" id="{86C29EF7-205A-4485-9D6F-456944D46793}"/>
              </a:ext>
            </a:extLst>
          </p:cNvPr>
          <p:cNvSpPr>
            <a:spLocks noChangeArrowheads="1"/>
          </p:cNvSpPr>
          <p:nvPr/>
        </p:nvSpPr>
        <p:spPr bwMode="auto">
          <a:xfrm>
            <a:off x="132408" y="1113623"/>
            <a:ext cx="11805592" cy="3735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an AI-driven system for automatic document detection, enhancement, text extraction and document conversion</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real-time communication and synchronization between mobile devices, PCs, and printers without relying on internet connectivity.</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225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5B93-7F67-7CDA-779C-69B4ED0EE04E}"/>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8A7FC091-85F2-9789-24E8-B5F4A661DB6E}"/>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0F719AEF-73B7-6D5D-C20C-5F5A4DED112C}"/>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B84B03CD-0D56-F127-C0C7-A60C61A278E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320C8C6F-D4D4-609A-C250-1C7E0D13221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DFAC8B5A-E06C-2BAF-A7ED-317A7A1AB336}"/>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752BEEDC-5712-6A78-F392-D2EE64D14A68}"/>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0DE18C62-1B2F-051C-B25F-8C09CEBF0FEF}"/>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0A143F30-B5AA-8C89-E7ED-78F95B315241}"/>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4" name="Title 8">
            <a:extLst>
              <a:ext uri="{FF2B5EF4-FFF2-40B4-BE49-F238E27FC236}">
                <a16:creationId xmlns:a16="http://schemas.microsoft.com/office/drawing/2014/main" id="{50F053AB-D40D-CDA6-459B-AF409767B415}"/>
              </a:ext>
            </a:extLst>
          </p:cNvPr>
          <p:cNvSpPr txBox="1">
            <a:spLocks/>
          </p:cNvSpPr>
          <p:nvPr/>
        </p:nvSpPr>
        <p:spPr>
          <a:xfrm>
            <a:off x="256032" y="1099276"/>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PROBLEMS SOLVED</a:t>
            </a:r>
          </a:p>
          <a:p>
            <a:endParaRPr lang="en-IN" sz="2800" b="1" dirty="0">
              <a:latin typeface="Times New Roman" panose="02020603050405020304" pitchFamily="18" charset="0"/>
              <a:cs typeface="Times New Roman" panose="02020603050405020304" pitchFamily="18" charset="0"/>
            </a:endParaRPr>
          </a:p>
        </p:txBody>
      </p:sp>
      <p:sp>
        <p:nvSpPr>
          <p:cNvPr id="15" name="Content Placeholder 5">
            <a:extLst>
              <a:ext uri="{FF2B5EF4-FFF2-40B4-BE49-F238E27FC236}">
                <a16:creationId xmlns:a16="http://schemas.microsoft.com/office/drawing/2014/main" id="{72105EDA-F476-70DF-33CE-2BBDCA983FA1}"/>
              </a:ext>
            </a:extLst>
          </p:cNvPr>
          <p:cNvSpPr txBox="1">
            <a:spLocks/>
          </p:cNvSpPr>
          <p:nvPr/>
        </p:nvSpPr>
        <p:spPr>
          <a:xfrm>
            <a:off x="226951" y="1640216"/>
            <a:ext cx="11738097" cy="45111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Times New Roman" panose="02020603050405020304" pitchFamily="18" charset="0"/>
                <a:cs typeface="Times New Roman" panose="02020603050405020304" pitchFamily="18" charset="0"/>
              </a:rPr>
              <a:t>Eliminates </a:t>
            </a:r>
            <a:r>
              <a:rPr lang="en-US" sz="1800" b="1" dirty="0">
                <a:latin typeface="Times New Roman" panose="02020603050405020304" pitchFamily="18" charset="0"/>
                <a:cs typeface="Times New Roman" panose="02020603050405020304" pitchFamily="18" charset="0"/>
              </a:rPr>
              <a:t>slow, manual, and repetitive</a:t>
            </a:r>
            <a:r>
              <a:rPr lang="en-US" sz="1800" dirty="0">
                <a:latin typeface="Times New Roman" panose="02020603050405020304" pitchFamily="18" charset="0"/>
                <a:cs typeface="Times New Roman" panose="02020603050405020304" pitchFamily="18" charset="0"/>
              </a:rPr>
              <a:t> document printing and scanning workflows.</a:t>
            </a:r>
          </a:p>
          <a:p>
            <a:r>
              <a:rPr lang="en-US" sz="1800" dirty="0">
                <a:latin typeface="Times New Roman" panose="02020603050405020304" pitchFamily="18" charset="0"/>
                <a:cs typeface="Times New Roman" panose="02020603050405020304" pitchFamily="18" charset="0"/>
              </a:rPr>
              <a:t>Prevents </a:t>
            </a:r>
            <a:r>
              <a:rPr lang="en-US" sz="1800" b="1" dirty="0">
                <a:latin typeface="Times New Roman" panose="02020603050405020304" pitchFamily="18" charset="0"/>
                <a:cs typeface="Times New Roman" panose="02020603050405020304" pitchFamily="18" charset="0"/>
              </a:rPr>
              <a:t>mis-scans, wrong labels, and data entry errors</a:t>
            </a:r>
            <a:r>
              <a:rPr lang="en-US" sz="1800" dirty="0">
                <a:latin typeface="Times New Roman" panose="02020603050405020304" pitchFamily="18" charset="0"/>
                <a:cs typeface="Times New Roman" panose="02020603050405020304" pitchFamily="18" charset="0"/>
              </a:rPr>
              <a:t> through automated AI-based document handling.</a:t>
            </a:r>
          </a:p>
          <a:p>
            <a:r>
              <a:rPr lang="en-US" sz="1800" dirty="0">
                <a:latin typeface="Times New Roman" panose="02020603050405020304" pitchFamily="18" charset="0"/>
                <a:cs typeface="Times New Roman" panose="02020603050405020304" pitchFamily="18" charset="0"/>
              </a:rPr>
              <a:t>Reduces </a:t>
            </a:r>
            <a:r>
              <a:rPr lang="en-US" sz="1800" b="1" dirty="0">
                <a:latin typeface="Times New Roman" panose="02020603050405020304" pitchFamily="18" charset="0"/>
                <a:cs typeface="Times New Roman" panose="02020603050405020304" pitchFamily="18" charset="0"/>
              </a:rPr>
              <a:t>paper waste</a:t>
            </a:r>
            <a:r>
              <a:rPr lang="en-US" sz="1800" dirty="0">
                <a:latin typeface="Times New Roman" panose="02020603050405020304" pitchFamily="18" charset="0"/>
                <a:cs typeface="Times New Roman" panose="02020603050405020304" pitchFamily="18" charset="0"/>
              </a:rPr>
              <a:t> by avoiding reprints and duplicates through digital synchronization.</a:t>
            </a:r>
          </a:p>
          <a:p>
            <a:r>
              <a:rPr lang="en-US" sz="1800" dirty="0">
                <a:latin typeface="Times New Roman" panose="02020603050405020304" pitchFamily="18" charset="0"/>
                <a:cs typeface="Times New Roman" panose="02020603050405020304" pitchFamily="18" charset="0"/>
              </a:rPr>
              <a:t>Enables </a:t>
            </a:r>
            <a:r>
              <a:rPr lang="en-US" sz="1800" b="1" dirty="0">
                <a:latin typeface="Times New Roman" panose="02020603050405020304" pitchFamily="18" charset="0"/>
                <a:cs typeface="Times New Roman" panose="02020603050405020304" pitchFamily="18" charset="0"/>
              </a:rPr>
              <a:t>real-time, offline file sharing and synchronization</a:t>
            </a:r>
            <a:r>
              <a:rPr lang="en-US" sz="1800" dirty="0">
                <a:latin typeface="Times New Roman" panose="02020603050405020304" pitchFamily="18" charset="0"/>
                <a:cs typeface="Times New Roman" panose="02020603050405020304" pitchFamily="18" charset="0"/>
              </a:rPr>
              <a:t> between mobile, PC, and printer using </a:t>
            </a:r>
            <a:r>
              <a:rPr lang="en-US" sz="1800" dirty="0" err="1">
                <a:latin typeface="Times New Roman" panose="02020603050405020304" pitchFamily="18" charset="0"/>
                <a:cs typeface="Times New Roman" panose="02020603050405020304" pitchFamily="18" charset="0"/>
              </a:rPr>
              <a:t>WebSockets</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Enhances </a:t>
            </a:r>
            <a:r>
              <a:rPr lang="en-US" sz="1800" b="1" dirty="0">
                <a:latin typeface="Times New Roman" panose="02020603050405020304" pitchFamily="18" charset="0"/>
                <a:cs typeface="Times New Roman" panose="02020603050405020304" pitchFamily="18" charset="0"/>
              </a:rPr>
              <a:t>document quality and readability</a:t>
            </a:r>
            <a:r>
              <a:rPr lang="en-US" sz="1800" dirty="0">
                <a:latin typeface="Times New Roman" panose="02020603050405020304" pitchFamily="18" charset="0"/>
                <a:cs typeface="Times New Roman" panose="02020603050405020304" pitchFamily="18" charset="0"/>
              </a:rPr>
              <a:t> via automatic enhancement and correction.</a:t>
            </a:r>
          </a:p>
          <a:p>
            <a:r>
              <a:rPr lang="en-US" sz="1800" dirty="0">
                <a:latin typeface="Times New Roman" panose="02020603050405020304" pitchFamily="18" charset="0"/>
                <a:cs typeface="Times New Roman" panose="02020603050405020304" pitchFamily="18" charset="0"/>
              </a:rPr>
              <a:t>Provides </a:t>
            </a:r>
            <a:r>
              <a:rPr lang="en-US" sz="1800" b="1" dirty="0">
                <a:latin typeface="Times New Roman" panose="02020603050405020304" pitchFamily="18" charset="0"/>
                <a:cs typeface="Times New Roman" panose="02020603050405020304" pitchFamily="18" charset="0"/>
              </a:rPr>
              <a:t>seamless cross-device integration</a:t>
            </a:r>
            <a:r>
              <a:rPr lang="en-US" sz="1800" dirty="0">
                <a:latin typeface="Times New Roman" panose="02020603050405020304" pitchFamily="18" charset="0"/>
                <a:cs typeface="Times New Roman" panose="02020603050405020304" pitchFamily="18" charset="0"/>
              </a:rPr>
              <a:t> without relying on internet connectivity.</a:t>
            </a:r>
          </a:p>
          <a:p>
            <a:r>
              <a:rPr lang="en-US" sz="1800" dirty="0">
                <a:latin typeface="Times New Roman" panose="02020603050405020304" pitchFamily="18" charset="0"/>
                <a:cs typeface="Times New Roman" panose="02020603050405020304" pitchFamily="18" charset="0"/>
              </a:rPr>
              <a:t>Replaces </a:t>
            </a:r>
            <a:r>
              <a:rPr lang="en-US" sz="1800" b="1" dirty="0">
                <a:latin typeface="Times New Roman" panose="02020603050405020304" pitchFamily="18" charset="0"/>
                <a:cs typeface="Times New Roman" panose="02020603050405020304" pitchFamily="18" charset="0"/>
              </a:rPr>
              <a:t>legacy, error-prone systems</a:t>
            </a:r>
            <a:r>
              <a:rPr lang="en-US" sz="1800" dirty="0">
                <a:latin typeface="Times New Roman" panose="02020603050405020304" pitchFamily="18" charset="0"/>
                <a:cs typeface="Times New Roman" panose="02020603050405020304" pitchFamily="18" charset="0"/>
              </a:rPr>
              <a:t> with an intelligent, AI-driven, and efficient solution.</a:t>
            </a:r>
          </a:p>
          <a:p>
            <a:r>
              <a:rPr lang="en-US" sz="1800" dirty="0">
                <a:latin typeface="Times New Roman" panose="02020603050405020304" pitchFamily="18" charset="0"/>
                <a:cs typeface="Times New Roman" panose="02020603050405020304" pitchFamily="18" charset="0"/>
              </a:rPr>
              <a:t>Integrated </a:t>
            </a:r>
            <a:r>
              <a:rPr lang="en-US" sz="1800" b="1" dirty="0">
                <a:latin typeface="Times New Roman" panose="02020603050405020304" pitchFamily="18" charset="0"/>
                <a:cs typeface="Times New Roman" panose="02020603050405020304" pitchFamily="18" charset="0"/>
              </a:rPr>
              <a:t>AI chat assistant </a:t>
            </a:r>
            <a:r>
              <a:rPr lang="en-US" sz="1800" dirty="0">
                <a:latin typeface="Times New Roman" panose="02020603050405020304" pitchFamily="18" charset="0"/>
                <a:cs typeface="Times New Roman" panose="02020603050405020304" pitchFamily="18" charset="0"/>
              </a:rPr>
              <a:t>which can do intelligent conversations while managing manual workflows.</a:t>
            </a:r>
          </a:p>
        </p:txBody>
      </p:sp>
      <p:pic>
        <p:nvPicPr>
          <p:cNvPr id="16" name="Picture 15">
            <a:extLst>
              <a:ext uri="{FF2B5EF4-FFF2-40B4-BE49-F238E27FC236}">
                <a16:creationId xmlns:a16="http://schemas.microsoft.com/office/drawing/2014/main" id="{DFACB3EF-5F64-5E79-54C1-180FDE2A7500}"/>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7" name="TextBox 16">
            <a:extLst>
              <a:ext uri="{FF2B5EF4-FFF2-40B4-BE49-F238E27FC236}">
                <a16:creationId xmlns:a16="http://schemas.microsoft.com/office/drawing/2014/main" id="{861C0EBE-7E81-0523-51AB-60AEBD79B2B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2043524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9D16D-153C-BB27-484C-85CDBFFFE56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F9AD3A35-FE25-AC18-01B5-1F3EB7BC89B5}"/>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C9C1C251-A4E4-98C5-7403-4DFBCE37914B}"/>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277627C7-3ECB-771E-CEE7-950962BF5142}"/>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35596F38-6267-B831-DA9F-FA82B42573B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01C231D3-466A-6E2E-258B-1CDA9F581B4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CA8EB49D-ED5D-2C77-8B45-66D2D33DF8F8}"/>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3EAFCA77-A2C6-20BD-7F74-A341A90F315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6A4F3A3F-8921-F4E4-D6D1-2CD598A96A9C}"/>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31" name="Picture 30">
            <a:extLst>
              <a:ext uri="{FF2B5EF4-FFF2-40B4-BE49-F238E27FC236}">
                <a16:creationId xmlns:a16="http://schemas.microsoft.com/office/drawing/2014/main" id="{B01B2DF6-3874-D8BC-6056-67F659E32852}"/>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1" name="Title 1">
            <a:extLst>
              <a:ext uri="{FF2B5EF4-FFF2-40B4-BE49-F238E27FC236}">
                <a16:creationId xmlns:a16="http://schemas.microsoft.com/office/drawing/2014/main" id="{E0A860D7-B25C-C228-CA40-1F930371AABA}"/>
              </a:ext>
            </a:extLst>
          </p:cNvPr>
          <p:cNvSpPr txBox="1">
            <a:spLocks/>
          </p:cNvSpPr>
          <p:nvPr/>
        </p:nvSpPr>
        <p:spPr>
          <a:xfrm>
            <a:off x="139870" y="957417"/>
            <a:ext cx="10131425" cy="5429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C185503-EFDE-C551-5710-CE2F48BF16A8}"/>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graphicFrame>
        <p:nvGraphicFramePr>
          <p:cNvPr id="2" name="Table 1">
            <a:extLst>
              <a:ext uri="{FF2B5EF4-FFF2-40B4-BE49-F238E27FC236}">
                <a16:creationId xmlns:a16="http://schemas.microsoft.com/office/drawing/2014/main" id="{735599DC-1C41-CEF9-BC36-849C6E9EFC69}"/>
              </a:ext>
            </a:extLst>
          </p:cNvPr>
          <p:cNvGraphicFramePr>
            <a:graphicFrameLocks noGrp="1"/>
          </p:cNvGraphicFramePr>
          <p:nvPr>
            <p:extLst>
              <p:ext uri="{D42A27DB-BD31-4B8C-83A1-F6EECF244321}">
                <p14:modId xmlns:p14="http://schemas.microsoft.com/office/powerpoint/2010/main" val="2103682571"/>
              </p:ext>
            </p:extLst>
          </p:nvPr>
        </p:nvGraphicFramePr>
        <p:xfrm>
          <a:off x="69935" y="1647430"/>
          <a:ext cx="12052130" cy="4517383"/>
        </p:xfrm>
        <a:graphic>
          <a:graphicData uri="http://schemas.openxmlformats.org/drawingml/2006/table">
            <a:tbl>
              <a:tblPr firstRow="1">
                <a:tableStyleId>{5C22544A-7EE6-4342-B048-85BDC9FD1C3A}</a:tableStyleId>
              </a:tblPr>
              <a:tblGrid>
                <a:gridCol w="1539239">
                  <a:extLst>
                    <a:ext uri="{9D8B030D-6E8A-4147-A177-3AD203B41FA5}">
                      <a16:colId xmlns:a16="http://schemas.microsoft.com/office/drawing/2014/main" val="475901788"/>
                    </a:ext>
                  </a:extLst>
                </a:gridCol>
                <a:gridCol w="1874520">
                  <a:extLst>
                    <a:ext uri="{9D8B030D-6E8A-4147-A177-3AD203B41FA5}">
                      <a16:colId xmlns:a16="http://schemas.microsoft.com/office/drawing/2014/main" val="883542278"/>
                    </a:ext>
                  </a:extLst>
                </a:gridCol>
                <a:gridCol w="2164080">
                  <a:extLst>
                    <a:ext uri="{9D8B030D-6E8A-4147-A177-3AD203B41FA5}">
                      <a16:colId xmlns:a16="http://schemas.microsoft.com/office/drawing/2014/main" val="3945173128"/>
                    </a:ext>
                  </a:extLst>
                </a:gridCol>
                <a:gridCol w="2590800">
                  <a:extLst>
                    <a:ext uri="{9D8B030D-6E8A-4147-A177-3AD203B41FA5}">
                      <a16:colId xmlns:a16="http://schemas.microsoft.com/office/drawing/2014/main" val="3393095432"/>
                    </a:ext>
                  </a:extLst>
                </a:gridCol>
                <a:gridCol w="3883491">
                  <a:extLst>
                    <a:ext uri="{9D8B030D-6E8A-4147-A177-3AD203B41FA5}">
                      <a16:colId xmlns:a16="http://schemas.microsoft.com/office/drawing/2014/main" val="1537464143"/>
                    </a:ext>
                  </a:extLst>
                </a:gridCol>
              </a:tblGrid>
              <a:tr h="417794">
                <a:tc>
                  <a:txBody>
                    <a:bodyPr/>
                    <a:lstStyle/>
                    <a:p>
                      <a:pPr algn="ctr" rtl="0" fontAlgn="b"/>
                      <a:r>
                        <a:rPr lang="en-IN" sz="1100" b="1" dirty="0">
                          <a:effectLst/>
                          <a:latin typeface="Times New Roman" panose="02020603050405020304" pitchFamily="18" charset="0"/>
                          <a:cs typeface="Times New Roman" panose="02020603050405020304" pitchFamily="18" charset="0"/>
                        </a:rPr>
                        <a:t>Author(s)</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Paper Title</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Objective</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Methodology</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Pros &amp; Cons</a:t>
                      </a:r>
                    </a:p>
                  </a:txBody>
                  <a:tcPr marL="1046" marR="1046" marT="697" marB="697" anchor="ctr"/>
                </a:tc>
                <a:extLst>
                  <a:ext uri="{0D108BD9-81ED-4DB2-BD59-A6C34878D82A}">
                    <a16:rowId xmlns:a16="http://schemas.microsoft.com/office/drawing/2014/main" val="2316914238"/>
                  </a:ext>
                </a:extLst>
              </a:tr>
              <a:tr h="688124">
                <a:tc>
                  <a:txBody>
                    <a:bodyPr/>
                    <a:lstStyle/>
                    <a:p>
                      <a:pPr>
                        <a:buNone/>
                      </a:pPr>
                      <a:r>
                        <a:rPr lang="en-IN" sz="1100">
                          <a:latin typeface="Times New Roman" panose="02020603050405020304" pitchFamily="18" charset="0"/>
                          <a:cs typeface="Times New Roman" panose="02020603050405020304" pitchFamily="18" charset="0"/>
                        </a:rPr>
                        <a:t>Idris, N. et al. </a:t>
                      </a:r>
                      <a:r>
                        <a:rPr lang="en-IN" sz="1100" b="1">
                          <a:latin typeface="Times New Roman" panose="02020603050405020304" pitchFamily="18" charset="0"/>
                          <a:cs typeface="Times New Roman" panose="02020603050405020304" pitchFamily="18" charset="0"/>
                        </a:rPr>
                        <a:t>[1]</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US" sz="1100">
                          <a:latin typeface="Times New Roman" panose="02020603050405020304" pitchFamily="18" charset="0"/>
                          <a:cs typeface="Times New Roman" panose="02020603050405020304" pitchFamily="18" charset="0"/>
                        </a:rPr>
                        <a:t>A Generic Review of Web Technology: Django and Flask</a:t>
                      </a:r>
                    </a:p>
                  </a:txBody>
                  <a:tcPr anchor="ctr"/>
                </a:tc>
                <a:tc>
                  <a:txBody>
                    <a:bodyPr/>
                    <a:lstStyle/>
                    <a:p>
                      <a:pPr>
                        <a:buNone/>
                      </a:pPr>
                      <a:r>
                        <a:rPr lang="en-US" sz="1100">
                          <a:latin typeface="Times New Roman" panose="02020603050405020304" pitchFamily="18" charset="0"/>
                          <a:cs typeface="Times New Roman" panose="02020603050405020304" pitchFamily="18" charset="0"/>
                        </a:rPr>
                        <a:t>To build a lightweight REST API backend for document processing and printer management</a:t>
                      </a: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Implements Flask with Blueprint architecture, Socket.IO integration, and modular service layers for backend operations</a:t>
                      </a:r>
                    </a:p>
                  </a:txBody>
                  <a:tcPr anchor="ctr"/>
                </a:tc>
                <a:tc>
                  <a:txBody>
                    <a:bodyPr/>
                    <a:lstStyle/>
                    <a:p>
                      <a:pPr>
                        <a:buNone/>
                      </a:pPr>
                      <a:r>
                        <a:rPr lang="en-US" sz="1100" b="1" dirty="0">
                          <a:latin typeface="Times New Roman" panose="02020603050405020304" pitchFamily="18" charset="0"/>
                          <a:cs typeface="Times New Roman" panose="02020603050405020304" pitchFamily="18" charset="0"/>
                        </a:rPr>
                        <a:t>Pros:</a:t>
                      </a:r>
                      <a:r>
                        <a:rPr lang="en-US" sz="1100" dirty="0">
                          <a:latin typeface="Times New Roman" panose="02020603050405020304" pitchFamily="18" charset="0"/>
                          <a:cs typeface="Times New Roman" panose="02020603050405020304" pitchFamily="18" charset="0"/>
                        </a:rPr>
                        <a:t> Lightweight, fast startup, easy Socket.IO integration, modular routing </a:t>
                      </a:r>
                      <a:r>
                        <a:rPr lang="en-US" sz="1100" b="1" dirty="0">
                          <a:latin typeface="Times New Roman" panose="02020603050405020304" pitchFamily="18" charset="0"/>
                          <a:cs typeface="Times New Roman" panose="02020603050405020304" pitchFamily="18" charset="0"/>
                        </a:rPr>
                        <a:t>Cons:</a:t>
                      </a:r>
                      <a:r>
                        <a:rPr lang="en-US" sz="1100" dirty="0">
                          <a:latin typeface="Times New Roman" panose="02020603050405020304" pitchFamily="18" charset="0"/>
                          <a:cs typeface="Times New Roman" panose="02020603050405020304" pitchFamily="18" charset="0"/>
                        </a:rPr>
                        <a:t> Manual configuration required for larger features</a:t>
                      </a:r>
                    </a:p>
                  </a:txBody>
                  <a:tcPr anchor="ctr"/>
                </a:tc>
                <a:extLst>
                  <a:ext uri="{0D108BD9-81ED-4DB2-BD59-A6C34878D82A}">
                    <a16:rowId xmlns:a16="http://schemas.microsoft.com/office/drawing/2014/main" val="454473730"/>
                  </a:ext>
                </a:extLst>
              </a:tr>
              <a:tr h="844434">
                <a:tc>
                  <a:txBody>
                    <a:bodyPr/>
                    <a:lstStyle/>
                    <a:p>
                      <a:pPr>
                        <a:buNone/>
                      </a:pPr>
                      <a:r>
                        <a:rPr lang="en-US" sz="1100">
                          <a:latin typeface="Times New Roman" panose="02020603050405020304" pitchFamily="18" charset="0"/>
                          <a:cs typeface="Times New Roman" panose="02020603050405020304" pitchFamily="18" charset="0"/>
                        </a:rPr>
                        <a:t>Sisodia, P. and Rizvi, S.W.A. </a:t>
                      </a:r>
                      <a:r>
                        <a:rPr lang="en-US" sz="1100" b="1">
                          <a:latin typeface="Times New Roman" panose="02020603050405020304" pitchFamily="18" charset="0"/>
                          <a:cs typeface="Times New Roman" panose="02020603050405020304" pitchFamily="18" charset="0"/>
                        </a:rPr>
                        <a:t>[2]</a:t>
                      </a:r>
                      <a:endParaRPr lang="en-US" sz="1100">
                        <a:latin typeface="Times New Roman" panose="02020603050405020304" pitchFamily="18" charset="0"/>
                        <a:cs typeface="Times New Roman" panose="02020603050405020304" pitchFamily="18" charset="0"/>
                      </a:endParaRPr>
                    </a:p>
                  </a:txBody>
                  <a:tcPr anchor="ctr"/>
                </a:tc>
                <a:tc>
                  <a:txBody>
                    <a:bodyPr/>
                    <a:lstStyle/>
                    <a:p>
                      <a:pPr>
                        <a:buNone/>
                      </a:pPr>
                      <a:r>
                        <a:rPr lang="en-US" sz="1100">
                          <a:latin typeface="Times New Roman" panose="02020603050405020304" pitchFamily="18" charset="0"/>
                          <a:cs typeface="Times New Roman" panose="02020603050405020304" pitchFamily="18" charset="0"/>
                        </a:rPr>
                        <a:t>Optical Character Recognition Development Using Python</a:t>
                      </a: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To extract text from scanned documents and images for search and indexing</a:t>
                      </a: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Uses </a:t>
                      </a:r>
                      <a:r>
                        <a:rPr lang="en-US" sz="1100" dirty="0" err="1">
                          <a:latin typeface="Times New Roman" panose="02020603050405020304" pitchFamily="18" charset="0"/>
                          <a:cs typeface="Times New Roman" panose="02020603050405020304" pitchFamily="18" charset="0"/>
                        </a:rPr>
                        <a:t>PaddleOCR</a:t>
                      </a:r>
                      <a:r>
                        <a:rPr lang="en-US" sz="1100" dirty="0">
                          <a:latin typeface="Times New Roman" panose="02020603050405020304" pitchFamily="18" charset="0"/>
                          <a:cs typeface="Times New Roman" panose="02020603050405020304" pitchFamily="18" charset="0"/>
                        </a:rPr>
                        <a:t> with OpenCV preprocessing for multi-language text extraction</a:t>
                      </a:r>
                    </a:p>
                  </a:txBody>
                  <a:tcPr anchor="ctr"/>
                </a:tc>
                <a:tc>
                  <a:txBody>
                    <a:bodyPr/>
                    <a:lstStyle/>
                    <a:p>
                      <a:pPr>
                        <a:buNone/>
                      </a:pPr>
                      <a:r>
                        <a:rPr lang="en-IN" sz="1100" b="1">
                          <a:latin typeface="Times New Roman" panose="02020603050405020304" pitchFamily="18" charset="0"/>
                          <a:cs typeface="Times New Roman" panose="02020603050405020304" pitchFamily="18" charset="0"/>
                        </a:rPr>
                        <a:t>Pros:</a:t>
                      </a:r>
                      <a:r>
                        <a:rPr lang="en-IN" sz="1100">
                          <a:latin typeface="Times New Roman" panose="02020603050405020304" pitchFamily="18" charset="0"/>
                          <a:cs typeface="Times New Roman" panose="02020603050405020304" pitchFamily="18" charset="0"/>
                        </a:rPr>
                        <a:t> High accuracy, multi-language support </a:t>
                      </a:r>
                      <a:r>
                        <a:rPr lang="en-IN" sz="1100" b="1">
                          <a:latin typeface="Times New Roman" panose="02020603050405020304" pitchFamily="18" charset="0"/>
                          <a:cs typeface="Times New Roman" panose="02020603050405020304" pitchFamily="18" charset="0"/>
                        </a:rPr>
                        <a:t>Cons:</a:t>
                      </a:r>
                      <a:r>
                        <a:rPr lang="en-IN" sz="1100">
                          <a:latin typeface="Times New Roman" panose="02020603050405020304" pitchFamily="18" charset="0"/>
                          <a:cs typeface="Times New Roman" panose="02020603050405020304" pitchFamily="18" charset="0"/>
                        </a:rPr>
                        <a:t> Depends on image quality</a:t>
                      </a:r>
                    </a:p>
                  </a:txBody>
                  <a:tcPr anchor="ctr"/>
                </a:tc>
                <a:extLst>
                  <a:ext uri="{0D108BD9-81ED-4DB2-BD59-A6C34878D82A}">
                    <a16:rowId xmlns:a16="http://schemas.microsoft.com/office/drawing/2014/main" val="3302807426"/>
                  </a:ext>
                </a:extLst>
              </a:tr>
              <a:tr h="688124">
                <a:tc>
                  <a:txBody>
                    <a:bodyPr/>
                    <a:lstStyle/>
                    <a:p>
                      <a:pPr>
                        <a:buNone/>
                      </a:pPr>
                      <a:r>
                        <a:rPr lang="en-IN" sz="1100">
                          <a:latin typeface="Times New Roman" panose="02020603050405020304" pitchFamily="18" charset="0"/>
                          <a:cs typeface="Times New Roman" panose="02020603050405020304" pitchFamily="18" charset="0"/>
                        </a:rPr>
                        <a:t>Snehalatha, B.K. et al. </a:t>
                      </a:r>
                      <a:r>
                        <a:rPr lang="en-IN" sz="1100" b="1">
                          <a:latin typeface="Times New Roman" panose="02020603050405020304" pitchFamily="18" charset="0"/>
                          <a:cs typeface="Times New Roman" panose="02020603050405020304" pitchFamily="18" charset="0"/>
                        </a:rPr>
                        <a:t>[3]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Image Streaming Using Real Time Protocol</a:t>
                      </a:r>
                    </a:p>
                  </a:txBody>
                  <a:tcPr anchor="ctr"/>
                </a:tc>
                <a:tc>
                  <a:txBody>
                    <a:bodyPr/>
                    <a:lstStyle/>
                    <a:p>
                      <a:pPr>
                        <a:buNone/>
                      </a:pPr>
                      <a:r>
                        <a:rPr lang="en-US" sz="1100">
                          <a:latin typeface="Times New Roman" panose="02020603050405020304" pitchFamily="18" charset="0"/>
                          <a:cs typeface="Times New Roman" panose="02020603050405020304" pitchFamily="18" charset="0"/>
                        </a:rPr>
                        <a:t>Enable real-time document status updates and file synchronization</a:t>
                      </a: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Socket.IO for bidirectional WebSocket communication</a:t>
                      </a:r>
                    </a:p>
                  </a:txBody>
                  <a:tcPr anchor="ctr"/>
                </a:tc>
                <a:tc>
                  <a:txBody>
                    <a:bodyPr/>
                    <a:lstStyle/>
                    <a:p>
                      <a:pPr>
                        <a:buNone/>
                      </a:pPr>
                      <a:r>
                        <a:rPr lang="en-US" sz="1100" b="1">
                          <a:latin typeface="Times New Roman" panose="02020603050405020304" pitchFamily="18" charset="0"/>
                          <a:cs typeface="Times New Roman" panose="02020603050405020304" pitchFamily="18" charset="0"/>
                        </a:rPr>
                        <a:t>Pros:</a:t>
                      </a:r>
                      <a:r>
                        <a:rPr lang="en-US" sz="1100">
                          <a:latin typeface="Times New Roman" panose="02020603050405020304" pitchFamily="18" charset="0"/>
                          <a:cs typeface="Times New Roman" panose="02020603050405020304" pitchFamily="18" charset="0"/>
                        </a:rPr>
                        <a:t> Low-latency updates, real-time sync </a:t>
                      </a:r>
                      <a:r>
                        <a:rPr lang="en-US" sz="1100" b="1">
                          <a:latin typeface="Times New Roman" panose="02020603050405020304" pitchFamily="18" charset="0"/>
                          <a:cs typeface="Times New Roman" panose="02020603050405020304" pitchFamily="18" charset="0"/>
                        </a:rPr>
                        <a:t>Cons:</a:t>
                      </a:r>
                      <a:r>
                        <a:rPr lang="en-US" sz="1100">
                          <a:latin typeface="Times New Roman" panose="02020603050405020304" pitchFamily="18" charset="0"/>
                          <a:cs typeface="Times New Roman" panose="02020603050405020304" pitchFamily="18" charset="0"/>
                        </a:rPr>
                        <a:t> Requires persistent connections</a:t>
                      </a:r>
                    </a:p>
                  </a:txBody>
                  <a:tcPr anchor="ctr"/>
                </a:tc>
                <a:extLst>
                  <a:ext uri="{0D108BD9-81ED-4DB2-BD59-A6C34878D82A}">
                    <a16:rowId xmlns:a16="http://schemas.microsoft.com/office/drawing/2014/main" val="113686390"/>
                  </a:ext>
                </a:extLst>
              </a:tr>
              <a:tr h="872068">
                <a:tc>
                  <a:txBody>
                    <a:bodyPr/>
                    <a:lstStyle/>
                    <a:p>
                      <a:pPr>
                        <a:buNone/>
                      </a:pPr>
                      <a:r>
                        <a:rPr lang="es-ES" sz="1100">
                          <a:latin typeface="Times New Roman" panose="02020603050405020304" pitchFamily="18" charset="0"/>
                          <a:cs typeface="Times New Roman" panose="02020603050405020304" pitchFamily="18" charset="0"/>
                        </a:rPr>
                        <a:t>Santos-González, I. et al. </a:t>
                      </a:r>
                      <a:r>
                        <a:rPr lang="es-ES" sz="1100" b="1">
                          <a:latin typeface="Times New Roman" panose="02020603050405020304" pitchFamily="18" charset="0"/>
                          <a:cs typeface="Times New Roman" panose="02020603050405020304" pitchFamily="18" charset="0"/>
                        </a:rPr>
                        <a:t>[4]</a:t>
                      </a:r>
                      <a:endParaRPr lang="es-ES" sz="1100">
                        <a:latin typeface="Times New Roman" panose="02020603050405020304" pitchFamily="18" charset="0"/>
                        <a:cs typeface="Times New Roman" panose="02020603050405020304" pitchFamily="18" charset="0"/>
                      </a:endParaRP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Implementation and Analysis of Real-Time Streaming Protocols</a:t>
                      </a: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Instant voice transcription feedback and UI synchronization</a:t>
                      </a:r>
                    </a:p>
                  </a:txBody>
                  <a:tcPr anchor="ctr"/>
                </a:tc>
                <a:tc>
                  <a:txBody>
                    <a:bodyPr/>
                    <a:lstStyle/>
                    <a:p>
                      <a:pPr>
                        <a:buNone/>
                      </a:pPr>
                      <a:r>
                        <a:rPr lang="en-US" sz="1100" dirty="0">
                          <a:latin typeface="Times New Roman" panose="02020603050405020304" pitchFamily="18" charset="0"/>
                          <a:cs typeface="Times New Roman" panose="02020603050405020304" pitchFamily="18" charset="0"/>
                        </a:rPr>
                        <a:t>Socket.IO client with event-driven React architecture</a:t>
                      </a:r>
                    </a:p>
                  </a:txBody>
                  <a:tcPr anchor="ctr"/>
                </a:tc>
                <a:tc>
                  <a:txBody>
                    <a:bodyPr/>
                    <a:lstStyle/>
                    <a:p>
                      <a:pPr>
                        <a:buNone/>
                      </a:pPr>
                      <a:r>
                        <a:rPr lang="en-US" sz="1100" b="1">
                          <a:latin typeface="Times New Roman" panose="02020603050405020304" pitchFamily="18" charset="0"/>
                          <a:cs typeface="Times New Roman" panose="02020603050405020304" pitchFamily="18" charset="0"/>
                        </a:rPr>
                        <a:t>Pros:</a:t>
                      </a:r>
                      <a:r>
                        <a:rPr lang="en-US" sz="1100">
                          <a:latin typeface="Times New Roman" panose="02020603050405020304" pitchFamily="18" charset="0"/>
                          <a:cs typeface="Times New Roman" panose="02020603050405020304" pitchFamily="18" charset="0"/>
                        </a:rPr>
                        <a:t> Instant feedback, smooth UI sync </a:t>
                      </a:r>
                      <a:r>
                        <a:rPr lang="en-US" sz="1100" b="1">
                          <a:latin typeface="Times New Roman" panose="02020603050405020304" pitchFamily="18" charset="0"/>
                          <a:cs typeface="Times New Roman" panose="02020603050405020304" pitchFamily="18" charset="0"/>
                        </a:rPr>
                        <a:t>Cons:</a:t>
                      </a:r>
                      <a:r>
                        <a:rPr lang="en-US" sz="1100">
                          <a:latin typeface="Times New Roman" panose="02020603050405020304" pitchFamily="18" charset="0"/>
                          <a:cs typeface="Times New Roman" panose="02020603050405020304" pitchFamily="18" charset="0"/>
                        </a:rPr>
                        <a:t> Network dependent</a:t>
                      </a:r>
                    </a:p>
                  </a:txBody>
                  <a:tcPr anchor="ctr"/>
                </a:tc>
                <a:extLst>
                  <a:ext uri="{0D108BD9-81ED-4DB2-BD59-A6C34878D82A}">
                    <a16:rowId xmlns:a16="http://schemas.microsoft.com/office/drawing/2014/main" val="3797687813"/>
                  </a:ext>
                </a:extLst>
              </a:tr>
              <a:tr h="932963">
                <a:tc>
                  <a:txBody>
                    <a:bodyPr/>
                    <a:lstStyle/>
                    <a:p>
                      <a:pPr>
                        <a:buNone/>
                      </a:pPr>
                      <a:r>
                        <a:rPr lang="fi-FI" sz="1100">
                          <a:latin typeface="Times New Roman" panose="02020603050405020304" pitchFamily="18" charset="0"/>
                          <a:cs typeface="Times New Roman" panose="02020603050405020304" pitchFamily="18" charset="0"/>
                        </a:rPr>
                        <a:t>Hämäläinen, M. et al. </a:t>
                      </a:r>
                      <a:r>
                        <a:rPr lang="fi-FI" sz="1100" b="1">
                          <a:latin typeface="Times New Roman" panose="02020603050405020304" pitchFamily="18" charset="0"/>
                          <a:cs typeface="Times New Roman" panose="02020603050405020304" pitchFamily="18" charset="0"/>
                        </a:rPr>
                        <a:t>[5]</a:t>
                      </a:r>
                      <a:endParaRPr lang="fi-FI" sz="1100">
                        <a:latin typeface="Times New Roman" panose="02020603050405020304" pitchFamily="18" charset="0"/>
                        <a:cs typeface="Times New Roman" panose="02020603050405020304" pitchFamily="18" charset="0"/>
                      </a:endParaRPr>
                    </a:p>
                  </a:txBody>
                  <a:tcPr anchor="ctr"/>
                </a:tc>
                <a:tc>
                  <a:txBody>
                    <a:bodyPr/>
                    <a:lstStyle/>
                    <a:p>
                      <a:pPr>
                        <a:buNone/>
                      </a:pPr>
                      <a:r>
                        <a:rPr lang="en-US" sz="1100">
                          <a:latin typeface="Times New Roman" panose="02020603050405020304" pitchFamily="18" charset="0"/>
                          <a:cs typeface="Times New Roman" panose="02020603050405020304" pitchFamily="18" charset="0"/>
                        </a:rPr>
                        <a:t>OCR with Neural Networks and Post-processing</a:t>
                      </a:r>
                    </a:p>
                  </a:txBody>
                  <a:tcPr anchor="ctr"/>
                </a:tc>
                <a:tc>
                  <a:txBody>
                    <a:bodyPr/>
                    <a:lstStyle/>
                    <a:p>
                      <a:pPr>
                        <a:buNone/>
                      </a:pPr>
                      <a:r>
                        <a:rPr lang="en-US" sz="1100">
                          <a:latin typeface="Times New Roman" panose="02020603050405020304" pitchFamily="18" charset="0"/>
                          <a:cs typeface="Times New Roman" panose="02020603050405020304" pitchFamily="18" charset="0"/>
                        </a:rPr>
                        <a:t>Improve OCR accuracy on low-quality scans</a:t>
                      </a:r>
                    </a:p>
                  </a:txBody>
                  <a:tcPr anchor="ctr"/>
                </a:tc>
                <a:tc>
                  <a:txBody>
                    <a:bodyPr/>
                    <a:lstStyle/>
                    <a:p>
                      <a:pPr>
                        <a:buNone/>
                      </a:pPr>
                      <a:r>
                        <a:rPr lang="en-US" sz="1100">
                          <a:latin typeface="Times New Roman" panose="02020603050405020304" pitchFamily="18" charset="0"/>
                          <a:cs typeface="Times New Roman" panose="02020603050405020304" pitchFamily="18" charset="0"/>
                        </a:rPr>
                        <a:t>PaddleOCR CNN+RNN ensemble with confidence scoring</a:t>
                      </a:r>
                    </a:p>
                  </a:txBody>
                  <a:tcPr anchor="ctr"/>
                </a:tc>
                <a:tc>
                  <a:txBody>
                    <a:bodyPr/>
                    <a:lstStyle/>
                    <a:p>
                      <a:pPr>
                        <a:buNone/>
                      </a:pPr>
                      <a:r>
                        <a:rPr lang="en-IN" sz="1100" b="1" dirty="0">
                          <a:latin typeface="Times New Roman" panose="02020603050405020304" pitchFamily="18" charset="0"/>
                          <a:cs typeface="Times New Roman" panose="02020603050405020304" pitchFamily="18" charset="0"/>
                        </a:rPr>
                        <a:t>Pros:</a:t>
                      </a:r>
                      <a:r>
                        <a:rPr lang="en-IN" sz="1100" dirty="0">
                          <a:latin typeface="Times New Roman" panose="02020603050405020304" pitchFamily="18" charset="0"/>
                          <a:cs typeface="Times New Roman" panose="02020603050405020304" pitchFamily="18" charset="0"/>
                        </a:rPr>
                        <a:t> Handles noisy documents </a:t>
                      </a:r>
                      <a:r>
                        <a:rPr lang="en-IN" sz="1100" b="1" dirty="0">
                          <a:latin typeface="Times New Roman" panose="02020603050405020304" pitchFamily="18" charset="0"/>
                          <a:cs typeface="Times New Roman" panose="02020603050405020304" pitchFamily="18" charset="0"/>
                        </a:rPr>
                        <a:t>Cons:</a:t>
                      </a:r>
                      <a:r>
                        <a:rPr lang="en-IN" sz="1100" dirty="0">
                          <a:latin typeface="Times New Roman" panose="02020603050405020304" pitchFamily="18" charset="0"/>
                          <a:cs typeface="Times New Roman" panose="02020603050405020304" pitchFamily="18" charset="0"/>
                        </a:rPr>
                        <a:t> Higher computational cost</a:t>
                      </a:r>
                    </a:p>
                  </a:txBody>
                  <a:tcPr anchor="ctr"/>
                </a:tc>
                <a:extLst>
                  <a:ext uri="{0D108BD9-81ED-4DB2-BD59-A6C34878D82A}">
                    <a16:rowId xmlns:a16="http://schemas.microsoft.com/office/drawing/2014/main" val="4284939842"/>
                  </a:ext>
                </a:extLst>
              </a:tr>
            </a:tbl>
          </a:graphicData>
        </a:graphic>
      </p:graphicFrame>
      <p:sp>
        <p:nvSpPr>
          <p:cNvPr id="3" name="TextBox 2">
            <a:extLst>
              <a:ext uri="{FF2B5EF4-FFF2-40B4-BE49-F238E27FC236}">
                <a16:creationId xmlns:a16="http://schemas.microsoft.com/office/drawing/2014/main" id="{1CB4B2C6-D0B5-809B-E318-56ECFD54C6FB}"/>
              </a:ext>
            </a:extLst>
          </p:cNvPr>
          <p:cNvSpPr txBox="1"/>
          <p:nvPr/>
        </p:nvSpPr>
        <p:spPr>
          <a:xfrm>
            <a:off x="139870" y="1086887"/>
            <a:ext cx="5506593"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200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89E69-DF93-2AB2-67FA-E9A85778A68E}"/>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97AFA611-F7AB-9C1C-2C53-B558BC820D47}"/>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DED0C8AC-0539-6193-2484-55143702802F}"/>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47D0AB9C-4ECC-FBF2-D2E1-2A4A82996342}"/>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8DE308BC-C758-E268-4AB9-9E5184F509D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F082874E-DBDA-B38B-CA28-BA7A8CEE21B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E790FA27-6F64-4908-8145-F66CCB63E3E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2F9518C9-7E25-B58D-1686-BE07D7CAE22E}"/>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FD343CA-FE00-06A9-30F5-ED8559BC6482}"/>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31" name="Picture 30">
            <a:extLst>
              <a:ext uri="{FF2B5EF4-FFF2-40B4-BE49-F238E27FC236}">
                <a16:creationId xmlns:a16="http://schemas.microsoft.com/office/drawing/2014/main" id="{03042F54-AABB-A632-0DAC-E3D11AB39004}"/>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1" name="Title 1">
            <a:extLst>
              <a:ext uri="{FF2B5EF4-FFF2-40B4-BE49-F238E27FC236}">
                <a16:creationId xmlns:a16="http://schemas.microsoft.com/office/drawing/2014/main" id="{D8497940-0C99-5C23-74E8-0C55DF1B6D80}"/>
              </a:ext>
            </a:extLst>
          </p:cNvPr>
          <p:cNvSpPr txBox="1">
            <a:spLocks/>
          </p:cNvSpPr>
          <p:nvPr/>
        </p:nvSpPr>
        <p:spPr>
          <a:xfrm>
            <a:off x="139870" y="957417"/>
            <a:ext cx="10131425" cy="5429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7AA58B9-1DCD-BA60-50D3-E6B6A679B2DB}"/>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graphicFrame>
        <p:nvGraphicFramePr>
          <p:cNvPr id="2" name="Table 1">
            <a:extLst>
              <a:ext uri="{FF2B5EF4-FFF2-40B4-BE49-F238E27FC236}">
                <a16:creationId xmlns:a16="http://schemas.microsoft.com/office/drawing/2014/main" id="{156CFBDC-91D3-E641-AA79-6042AD4EC125}"/>
              </a:ext>
            </a:extLst>
          </p:cNvPr>
          <p:cNvGraphicFramePr>
            <a:graphicFrameLocks noGrp="1"/>
          </p:cNvGraphicFramePr>
          <p:nvPr>
            <p:extLst>
              <p:ext uri="{D42A27DB-BD31-4B8C-83A1-F6EECF244321}">
                <p14:modId xmlns:p14="http://schemas.microsoft.com/office/powerpoint/2010/main" val="1507235828"/>
              </p:ext>
            </p:extLst>
          </p:nvPr>
        </p:nvGraphicFramePr>
        <p:xfrm>
          <a:off x="69935" y="1228880"/>
          <a:ext cx="12052130" cy="4726829"/>
        </p:xfrm>
        <a:graphic>
          <a:graphicData uri="http://schemas.openxmlformats.org/drawingml/2006/table">
            <a:tbl>
              <a:tblPr firstRow="1">
                <a:tableStyleId>{5C22544A-7EE6-4342-B048-85BDC9FD1C3A}</a:tableStyleId>
              </a:tblPr>
              <a:tblGrid>
                <a:gridCol w="1539239">
                  <a:extLst>
                    <a:ext uri="{9D8B030D-6E8A-4147-A177-3AD203B41FA5}">
                      <a16:colId xmlns:a16="http://schemas.microsoft.com/office/drawing/2014/main" val="475901788"/>
                    </a:ext>
                  </a:extLst>
                </a:gridCol>
                <a:gridCol w="1874520">
                  <a:extLst>
                    <a:ext uri="{9D8B030D-6E8A-4147-A177-3AD203B41FA5}">
                      <a16:colId xmlns:a16="http://schemas.microsoft.com/office/drawing/2014/main" val="883542278"/>
                    </a:ext>
                  </a:extLst>
                </a:gridCol>
                <a:gridCol w="2164080">
                  <a:extLst>
                    <a:ext uri="{9D8B030D-6E8A-4147-A177-3AD203B41FA5}">
                      <a16:colId xmlns:a16="http://schemas.microsoft.com/office/drawing/2014/main" val="3945173128"/>
                    </a:ext>
                  </a:extLst>
                </a:gridCol>
                <a:gridCol w="2590800">
                  <a:extLst>
                    <a:ext uri="{9D8B030D-6E8A-4147-A177-3AD203B41FA5}">
                      <a16:colId xmlns:a16="http://schemas.microsoft.com/office/drawing/2014/main" val="3393095432"/>
                    </a:ext>
                  </a:extLst>
                </a:gridCol>
                <a:gridCol w="3883491">
                  <a:extLst>
                    <a:ext uri="{9D8B030D-6E8A-4147-A177-3AD203B41FA5}">
                      <a16:colId xmlns:a16="http://schemas.microsoft.com/office/drawing/2014/main" val="1537464143"/>
                    </a:ext>
                  </a:extLst>
                </a:gridCol>
              </a:tblGrid>
              <a:tr h="417794">
                <a:tc>
                  <a:txBody>
                    <a:bodyPr/>
                    <a:lstStyle/>
                    <a:p>
                      <a:pPr algn="ctr" rtl="0" fontAlgn="b"/>
                      <a:r>
                        <a:rPr lang="en-IN" sz="1100" b="1" dirty="0">
                          <a:effectLst/>
                          <a:latin typeface="Times New Roman" panose="02020603050405020304" pitchFamily="18" charset="0"/>
                          <a:cs typeface="Times New Roman" panose="02020603050405020304" pitchFamily="18" charset="0"/>
                        </a:rPr>
                        <a:t>Author(s)</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Paper Title</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Objective</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Methodology</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Pros &amp; Cons</a:t>
                      </a:r>
                    </a:p>
                  </a:txBody>
                  <a:tcPr marL="1046" marR="1046" marT="697" marB="697" anchor="ctr"/>
                </a:tc>
                <a:extLst>
                  <a:ext uri="{0D108BD9-81ED-4DB2-BD59-A6C34878D82A}">
                    <a16:rowId xmlns:a16="http://schemas.microsoft.com/office/drawing/2014/main" val="2316914238"/>
                  </a:ext>
                </a:extLst>
              </a:tr>
              <a:tr h="942748">
                <a:tc>
                  <a:txBody>
                    <a:bodyPr/>
                    <a:lstStyle/>
                    <a:p>
                      <a:pPr>
                        <a:buNone/>
                      </a:pPr>
                      <a:r>
                        <a:rPr lang="en-IN" sz="1100" dirty="0">
                          <a:latin typeface="Times New Roman" panose="02020603050405020304" pitchFamily="18" charset="0"/>
                          <a:cs typeface="Times New Roman" panose="02020603050405020304" pitchFamily="18" charset="0"/>
                        </a:rPr>
                        <a:t>Otsu, N. </a:t>
                      </a:r>
                      <a:r>
                        <a:rPr lang="en-IN" sz="1100" b="1" dirty="0">
                          <a:latin typeface="Times New Roman" panose="02020603050405020304" pitchFamily="18" charset="0"/>
                          <a:cs typeface="Times New Roman" panose="02020603050405020304" pitchFamily="18" charset="0"/>
                        </a:rPr>
                        <a:t>[6]</a:t>
                      </a:r>
                      <a:endParaRPr lang="en-IN" sz="1100" dirty="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US" sz="1100">
                          <a:latin typeface="Times New Roman" panose="02020603050405020304" pitchFamily="18" charset="0"/>
                          <a:cs typeface="Times New Roman" panose="02020603050405020304" pitchFamily="18" charset="0"/>
                        </a:rPr>
                        <a:t>A Threshold Selection Method from Gray-Level Histograms</a:t>
                      </a:r>
                    </a:p>
                  </a:txBody>
                  <a:tcPr marL="20622" marR="20622" marT="10311" marB="10311" anchor="ctr"/>
                </a:tc>
                <a:tc>
                  <a:txBody>
                    <a:bodyPr/>
                    <a:lstStyle/>
                    <a:p>
                      <a:pPr>
                        <a:buNone/>
                      </a:pPr>
                      <a:r>
                        <a:rPr lang="en-US" sz="1100">
                          <a:latin typeface="Times New Roman" panose="02020603050405020304" pitchFamily="18" charset="0"/>
                          <a:cs typeface="Times New Roman" panose="02020603050405020304" pitchFamily="18" charset="0"/>
                        </a:rPr>
                        <a:t>Convert grayscale images to binary</a:t>
                      </a:r>
                    </a:p>
                  </a:txBody>
                  <a:tcPr marL="20622" marR="20622" marT="10311" marB="10311" anchor="ctr"/>
                </a:tc>
                <a:tc>
                  <a:txBody>
                    <a:bodyPr/>
                    <a:lstStyle/>
                    <a:p>
                      <a:pPr>
                        <a:buNone/>
                      </a:pPr>
                      <a:r>
                        <a:rPr lang="en-US" sz="1100">
                          <a:latin typeface="Times New Roman" panose="02020603050405020304" pitchFamily="18" charset="0"/>
                          <a:cs typeface="Times New Roman" panose="02020603050405020304" pitchFamily="18" charset="0"/>
                        </a:rPr>
                        <a:t>Automatic thresholding in multi-stage enhancement pipeline</a:t>
                      </a:r>
                    </a:p>
                  </a:txBody>
                  <a:tcPr marL="20622" marR="20622" marT="10311" marB="10311" anchor="ctr"/>
                </a:tc>
                <a:tc>
                  <a:txBody>
                    <a:bodyPr/>
                    <a:lstStyle/>
                    <a:p>
                      <a:pPr>
                        <a:buNone/>
                      </a:pPr>
                      <a:r>
                        <a:rPr lang="en-US" sz="1100" b="1" dirty="0"/>
                        <a:t>Pros:</a:t>
                      </a:r>
                      <a:r>
                        <a:rPr lang="en-US" sz="1100" dirty="0"/>
                        <a:t> No manual tuning </a:t>
                      </a:r>
                      <a:br>
                        <a:rPr lang="en-US" sz="1100" dirty="0"/>
                      </a:br>
                      <a:r>
                        <a:rPr lang="en-US" sz="1100" b="1" dirty="0"/>
                        <a:t>Cons:</a:t>
                      </a:r>
                      <a:r>
                        <a:rPr lang="en-US" sz="1100" dirty="0"/>
                        <a:t> Uneven lighting issues</a:t>
                      </a:r>
                      <a:endParaRPr lang="en-IN" sz="1100" dirty="0">
                        <a:latin typeface="Times New Roman" panose="02020603050405020304" pitchFamily="18" charset="0"/>
                        <a:cs typeface="Times New Roman" panose="02020603050405020304" pitchFamily="18" charset="0"/>
                      </a:endParaRPr>
                    </a:p>
                  </a:txBody>
                  <a:tcPr marL="20622" marR="20622" marT="10311" marB="10311" anchor="ctr"/>
                </a:tc>
                <a:extLst>
                  <a:ext uri="{0D108BD9-81ED-4DB2-BD59-A6C34878D82A}">
                    <a16:rowId xmlns:a16="http://schemas.microsoft.com/office/drawing/2014/main" val="3965525164"/>
                  </a:ext>
                </a:extLst>
              </a:tr>
              <a:tr h="688124">
                <a:tc>
                  <a:txBody>
                    <a:bodyPr/>
                    <a:lstStyle/>
                    <a:p>
                      <a:pPr>
                        <a:buNone/>
                      </a:pPr>
                      <a:r>
                        <a:rPr lang="da-DK" sz="1100">
                          <a:latin typeface="Times New Roman" panose="02020603050405020304" pitchFamily="18" charset="0"/>
                          <a:cs typeface="Times New Roman" panose="02020603050405020304" pitchFamily="18" charset="0"/>
                        </a:rPr>
                        <a:t>Venkatesh, S. et al. </a:t>
                      </a:r>
                      <a:r>
                        <a:rPr lang="da-DK" sz="1100" b="1">
                          <a:latin typeface="Times New Roman" panose="02020603050405020304" pitchFamily="18" charset="0"/>
                          <a:cs typeface="Times New Roman" panose="02020603050405020304" pitchFamily="18" charset="0"/>
                        </a:rPr>
                        <a:t>[7]</a:t>
                      </a:r>
                      <a:endParaRPr lang="da-DK" sz="110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US" sz="1100">
                          <a:latin typeface="Times New Roman" panose="02020603050405020304" pitchFamily="18" charset="0"/>
                          <a:cs typeface="Times New Roman" panose="02020603050405020304" pitchFamily="18" charset="0"/>
                        </a:rPr>
                        <a:t>Image Enhancement using CLAHE Algorithm</a:t>
                      </a:r>
                    </a:p>
                  </a:txBody>
                  <a:tcPr marL="20622" marR="20622" marT="10311" marB="10311" anchor="ctr"/>
                </a:tc>
                <a:tc>
                  <a:txBody>
                    <a:bodyPr/>
                    <a:lstStyle/>
                    <a:p>
                      <a:pPr>
                        <a:buNone/>
                      </a:pPr>
                      <a:r>
                        <a:rPr lang="fr-FR" sz="1100">
                          <a:latin typeface="Times New Roman" panose="02020603050405020304" pitchFamily="18" charset="0"/>
                          <a:cs typeface="Times New Roman" panose="02020603050405020304" pitchFamily="18" charset="0"/>
                        </a:rPr>
                        <a:t>Enhance document contrast for OCR</a:t>
                      </a:r>
                    </a:p>
                  </a:txBody>
                  <a:tcPr marL="20622" marR="20622" marT="10311" marB="10311" anchor="ctr"/>
                </a:tc>
                <a:tc>
                  <a:txBody>
                    <a:bodyPr/>
                    <a:lstStyle/>
                    <a:p>
                      <a:pPr>
                        <a:buNone/>
                      </a:pPr>
                      <a:r>
                        <a:rPr lang="en-IN" sz="1100">
                          <a:latin typeface="Times New Roman" panose="02020603050405020304" pitchFamily="18" charset="0"/>
                          <a:cs typeface="Times New Roman" panose="02020603050405020304" pitchFamily="18" charset="0"/>
                        </a:rPr>
                        <a:t>Histogram equalization during preprocessing</a:t>
                      </a:r>
                    </a:p>
                  </a:txBody>
                  <a:tcPr marL="20622" marR="20622" marT="10311" marB="10311" anchor="ctr"/>
                </a:tc>
                <a:tc>
                  <a:txBody>
                    <a:bodyPr/>
                    <a:lstStyle/>
                    <a:p>
                      <a:pPr>
                        <a:buNone/>
                      </a:pPr>
                      <a:r>
                        <a:rPr lang="en-US" sz="1100" b="1" dirty="0"/>
                        <a:t>Pros:</a:t>
                      </a:r>
                      <a:r>
                        <a:rPr lang="en-US" sz="1100" dirty="0"/>
                        <a:t> Improves faded text </a:t>
                      </a:r>
                      <a:br>
                        <a:rPr lang="en-US" sz="1100" dirty="0"/>
                      </a:br>
                      <a:r>
                        <a:rPr lang="en-US" sz="1100" b="1" dirty="0"/>
                        <a:t>Cons:</a:t>
                      </a:r>
                      <a:r>
                        <a:rPr lang="en-US" sz="1100" dirty="0"/>
                        <a:t> May cause artifacts</a:t>
                      </a:r>
                      <a:endParaRPr lang="da-DK" sz="1100" dirty="0">
                        <a:latin typeface="Times New Roman" panose="02020603050405020304" pitchFamily="18" charset="0"/>
                        <a:cs typeface="Times New Roman" panose="02020603050405020304" pitchFamily="18" charset="0"/>
                      </a:endParaRPr>
                    </a:p>
                  </a:txBody>
                  <a:tcPr marL="20622" marR="20622" marT="10311" marB="10311" anchor="ctr"/>
                </a:tc>
                <a:extLst>
                  <a:ext uri="{0D108BD9-81ED-4DB2-BD59-A6C34878D82A}">
                    <a16:rowId xmlns:a16="http://schemas.microsoft.com/office/drawing/2014/main" val="454473730"/>
                  </a:ext>
                </a:extLst>
              </a:tr>
              <a:tr h="844434">
                <a:tc>
                  <a:txBody>
                    <a:bodyPr/>
                    <a:lstStyle/>
                    <a:p>
                      <a:pPr>
                        <a:buNone/>
                      </a:pPr>
                      <a:r>
                        <a:rPr lang="en-IN" sz="1100">
                          <a:latin typeface="Times New Roman" panose="02020603050405020304" pitchFamily="18" charset="0"/>
                          <a:cs typeface="Times New Roman" panose="02020603050405020304" pitchFamily="18" charset="0"/>
                        </a:rPr>
                        <a:t>Zaharescu, M. et al. </a:t>
                      </a:r>
                      <a:r>
                        <a:rPr lang="en-IN" sz="1100" b="1">
                          <a:latin typeface="Times New Roman" panose="02020603050405020304" pitchFamily="18" charset="0"/>
                          <a:cs typeface="Times New Roman" panose="02020603050405020304" pitchFamily="18" charset="0"/>
                        </a:rPr>
                        <a:t>[8]</a:t>
                      </a:r>
                      <a:endParaRPr lang="en-IN" sz="110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IN" sz="1100">
                          <a:latin typeface="Times New Roman" panose="02020603050405020304" pitchFamily="18" charset="0"/>
                          <a:cs typeface="Times New Roman" panose="02020603050405020304" pitchFamily="18" charset="0"/>
                        </a:rPr>
                        <a:t>Survey on Document Image Skew Detection</a:t>
                      </a:r>
                    </a:p>
                  </a:txBody>
                  <a:tcPr marL="20622" marR="20622" marT="10311" marB="10311" anchor="ctr"/>
                </a:tc>
                <a:tc>
                  <a:txBody>
                    <a:bodyPr/>
                    <a:lstStyle/>
                    <a:p>
                      <a:pPr>
                        <a:buNone/>
                      </a:pPr>
                      <a:r>
                        <a:rPr lang="en-US" sz="1100" dirty="0">
                          <a:latin typeface="Times New Roman" panose="02020603050405020304" pitchFamily="18" charset="0"/>
                          <a:cs typeface="Times New Roman" panose="02020603050405020304" pitchFamily="18" charset="0"/>
                        </a:rPr>
                        <a:t>Detect and correct skewed documents</a:t>
                      </a:r>
                    </a:p>
                  </a:txBody>
                  <a:tcPr marL="20622" marR="20622" marT="10311" marB="10311" anchor="ctr"/>
                </a:tc>
                <a:tc>
                  <a:txBody>
                    <a:bodyPr/>
                    <a:lstStyle/>
                    <a:p>
                      <a:pPr>
                        <a:buNone/>
                      </a:pPr>
                      <a:r>
                        <a:rPr lang="en-US" sz="1100">
                          <a:latin typeface="Times New Roman" panose="02020603050405020304" pitchFamily="18" charset="0"/>
                          <a:cs typeface="Times New Roman" panose="02020603050405020304" pitchFamily="18" charset="0"/>
                        </a:rPr>
                        <a:t>Perspective transform with contour-based detection</a:t>
                      </a:r>
                    </a:p>
                  </a:txBody>
                  <a:tcPr marL="20622" marR="20622" marT="10311" marB="10311" anchor="ctr"/>
                </a:tc>
                <a:tc>
                  <a:txBody>
                    <a:bodyPr/>
                    <a:lstStyle/>
                    <a:p>
                      <a:pPr>
                        <a:buNone/>
                      </a:pPr>
                      <a:r>
                        <a:rPr lang="en-US" sz="1100" b="1" dirty="0"/>
                        <a:t>Pros:</a:t>
                      </a:r>
                      <a:r>
                        <a:rPr lang="en-US" sz="1100" dirty="0"/>
                        <a:t> Improves OCR accuracy </a:t>
                      </a:r>
                      <a:br>
                        <a:rPr lang="en-US" sz="1100" dirty="0"/>
                      </a:br>
                      <a:r>
                        <a:rPr lang="en-US" sz="1100" b="1" dirty="0"/>
                        <a:t>Cons:</a:t>
                      </a:r>
                      <a:r>
                        <a:rPr lang="en-US" sz="1100" dirty="0"/>
                        <a:t> Fails without clear edges</a:t>
                      </a:r>
                      <a:endParaRPr lang="en-IN" sz="1100" dirty="0">
                        <a:latin typeface="Times New Roman" panose="02020603050405020304" pitchFamily="18" charset="0"/>
                        <a:cs typeface="Times New Roman" panose="02020603050405020304" pitchFamily="18" charset="0"/>
                      </a:endParaRPr>
                    </a:p>
                  </a:txBody>
                  <a:tcPr marL="20622" marR="20622" marT="10311" marB="10311" anchor="ctr"/>
                </a:tc>
                <a:extLst>
                  <a:ext uri="{0D108BD9-81ED-4DB2-BD59-A6C34878D82A}">
                    <a16:rowId xmlns:a16="http://schemas.microsoft.com/office/drawing/2014/main" val="3302807426"/>
                  </a:ext>
                </a:extLst>
              </a:tr>
              <a:tr h="688124">
                <a:tc>
                  <a:txBody>
                    <a:bodyPr/>
                    <a:lstStyle/>
                    <a:p>
                      <a:pPr>
                        <a:buNone/>
                      </a:pPr>
                      <a:r>
                        <a:rPr lang="en-IN" sz="1100">
                          <a:latin typeface="Times New Roman" panose="02020603050405020304" pitchFamily="18" charset="0"/>
                          <a:cs typeface="Times New Roman" panose="02020603050405020304" pitchFamily="18" charset="0"/>
                        </a:rPr>
                        <a:t>Frei et al. </a:t>
                      </a:r>
                      <a:r>
                        <a:rPr lang="en-IN" sz="1100" b="1">
                          <a:latin typeface="Times New Roman" panose="02020603050405020304" pitchFamily="18" charset="0"/>
                          <a:cs typeface="Times New Roman" panose="02020603050405020304" pitchFamily="18" charset="0"/>
                        </a:rPr>
                        <a:t>[9]</a:t>
                      </a:r>
                      <a:endParaRPr lang="en-IN" sz="110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IN" sz="1100" dirty="0">
                          <a:latin typeface="Times New Roman" panose="02020603050405020304" pitchFamily="18" charset="0"/>
                          <a:cs typeface="Times New Roman" panose="02020603050405020304" pitchFamily="18" charset="0"/>
                        </a:rPr>
                        <a:t>Fast Boundary Detection Algorithm</a:t>
                      </a:r>
                    </a:p>
                  </a:txBody>
                  <a:tcPr marL="20622" marR="20622" marT="10311" marB="10311" anchor="ctr"/>
                </a:tc>
                <a:tc>
                  <a:txBody>
                    <a:bodyPr/>
                    <a:lstStyle/>
                    <a:p>
                      <a:pPr>
                        <a:buNone/>
                      </a:pPr>
                      <a:r>
                        <a:rPr lang="en-IN" sz="1100">
                          <a:latin typeface="Times New Roman" panose="02020603050405020304" pitchFamily="18" charset="0"/>
                          <a:cs typeface="Times New Roman" panose="02020603050405020304" pitchFamily="18" charset="0"/>
                        </a:rPr>
                        <a:t>Detect document boundaries</a:t>
                      </a:r>
                    </a:p>
                  </a:txBody>
                  <a:tcPr marL="20622" marR="20622" marT="10311" marB="10311" anchor="ctr"/>
                </a:tc>
                <a:tc>
                  <a:txBody>
                    <a:bodyPr/>
                    <a:lstStyle/>
                    <a:p>
                      <a:pPr>
                        <a:buNone/>
                      </a:pPr>
                      <a:r>
                        <a:rPr lang="en-US" sz="1100">
                          <a:latin typeface="Times New Roman" panose="02020603050405020304" pitchFamily="18" charset="0"/>
                          <a:cs typeface="Times New Roman" panose="02020603050405020304" pitchFamily="18" charset="0"/>
                        </a:rPr>
                        <a:t>OpenCV contour detection with polygon approximation</a:t>
                      </a:r>
                    </a:p>
                  </a:txBody>
                  <a:tcPr marL="20622" marR="20622" marT="10311" marB="10311" anchor="ctr"/>
                </a:tc>
                <a:tc>
                  <a:txBody>
                    <a:bodyPr/>
                    <a:lstStyle/>
                    <a:p>
                      <a:pPr>
                        <a:buNone/>
                      </a:pPr>
                      <a:r>
                        <a:rPr lang="en-US" sz="1100" b="1" dirty="0"/>
                        <a:t>Pros:</a:t>
                      </a:r>
                      <a:r>
                        <a:rPr lang="en-US" sz="1100" dirty="0"/>
                        <a:t> Fast and robust </a:t>
                      </a:r>
                      <a:br>
                        <a:rPr lang="en-US" sz="1100" dirty="0"/>
                      </a:br>
                      <a:r>
                        <a:rPr lang="en-US" sz="1100" b="1" dirty="0"/>
                        <a:t>Cons:</a:t>
                      </a:r>
                      <a:r>
                        <a:rPr lang="en-US" sz="1100" dirty="0"/>
                        <a:t> Needs good contrast</a:t>
                      </a:r>
                      <a:endParaRPr lang="en-IN" sz="1100" dirty="0">
                        <a:latin typeface="Times New Roman" panose="02020603050405020304" pitchFamily="18" charset="0"/>
                        <a:cs typeface="Times New Roman" panose="02020603050405020304" pitchFamily="18" charset="0"/>
                      </a:endParaRPr>
                    </a:p>
                  </a:txBody>
                  <a:tcPr marL="20622" marR="20622" marT="10311" marB="10311" anchor="ctr"/>
                </a:tc>
                <a:extLst>
                  <a:ext uri="{0D108BD9-81ED-4DB2-BD59-A6C34878D82A}">
                    <a16:rowId xmlns:a16="http://schemas.microsoft.com/office/drawing/2014/main" val="113686390"/>
                  </a:ext>
                </a:extLst>
              </a:tr>
              <a:tr h="1145605">
                <a:tc>
                  <a:txBody>
                    <a:bodyPr/>
                    <a:lstStyle/>
                    <a:p>
                      <a:pPr>
                        <a:buNone/>
                      </a:pPr>
                      <a:r>
                        <a:rPr lang="da-DK" sz="1100">
                          <a:latin typeface="Times New Roman" panose="02020603050405020304" pitchFamily="18" charset="0"/>
                          <a:cs typeface="Times New Roman" panose="02020603050405020304" pitchFamily="18" charset="0"/>
                        </a:rPr>
                        <a:t>Zhao, L. et al. </a:t>
                      </a:r>
                      <a:r>
                        <a:rPr lang="da-DK" sz="1100" b="1">
                          <a:latin typeface="Times New Roman" panose="02020603050405020304" pitchFamily="18" charset="0"/>
                          <a:cs typeface="Times New Roman" panose="02020603050405020304" pitchFamily="18" charset="0"/>
                        </a:rPr>
                        <a:t>[10]</a:t>
                      </a:r>
                      <a:endParaRPr lang="da-DK" sz="110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IN" sz="1100">
                          <a:latin typeface="Times New Roman" panose="02020603050405020304" pitchFamily="18" charset="0"/>
                          <a:cs typeface="Times New Roman" panose="02020603050405020304" pitchFamily="18" charset="0"/>
                        </a:rPr>
                        <a:t>NLP for Requirements Engineering</a:t>
                      </a:r>
                    </a:p>
                  </a:txBody>
                  <a:tcPr marL="20622" marR="20622" marT="10311" marB="10311" anchor="ctr"/>
                </a:tc>
                <a:tc>
                  <a:txBody>
                    <a:bodyPr/>
                    <a:lstStyle/>
                    <a:p>
                      <a:pPr>
                        <a:buNone/>
                      </a:pPr>
                      <a:r>
                        <a:rPr lang="en-IN" sz="1100">
                          <a:latin typeface="Times New Roman" panose="02020603050405020304" pitchFamily="18" charset="0"/>
                          <a:cs typeface="Times New Roman" panose="02020603050405020304" pitchFamily="18" charset="0"/>
                        </a:rPr>
                        <a:t>Interpret voice commands for print/scan</a:t>
                      </a:r>
                    </a:p>
                  </a:txBody>
                  <a:tcPr marL="20622" marR="20622" marT="10311" marB="10311" anchor="ctr"/>
                </a:tc>
                <a:tc>
                  <a:txBody>
                    <a:bodyPr/>
                    <a:lstStyle/>
                    <a:p>
                      <a:pPr>
                        <a:buNone/>
                      </a:pPr>
                      <a:r>
                        <a:rPr lang="en-US" sz="1100">
                          <a:latin typeface="Times New Roman" panose="02020603050405020304" pitchFamily="18" charset="0"/>
                          <a:cs typeface="Times New Roman" panose="02020603050405020304" pitchFamily="18" charset="0"/>
                        </a:rPr>
                        <a:t>Regex-based intent parsing with Ollama LLM fallback</a:t>
                      </a:r>
                    </a:p>
                  </a:txBody>
                  <a:tcPr marL="20622" marR="20622" marT="10311" marB="10311" anchor="ctr"/>
                </a:tc>
                <a:tc>
                  <a:txBody>
                    <a:bodyPr/>
                    <a:lstStyle/>
                    <a:p>
                      <a:pPr>
                        <a:buNone/>
                      </a:pPr>
                      <a:r>
                        <a:rPr lang="fr-FR" sz="1100" b="1" dirty="0"/>
                        <a:t>Pros:</a:t>
                      </a:r>
                      <a:r>
                        <a:rPr lang="fr-FR" sz="1100" dirty="0"/>
                        <a:t> Flexible </a:t>
                      </a:r>
                      <a:r>
                        <a:rPr lang="fr-FR" sz="1100" dirty="0" err="1"/>
                        <a:t>interpretation</a:t>
                      </a:r>
                      <a:r>
                        <a:rPr lang="fr-FR" sz="1100" dirty="0"/>
                        <a:t> </a:t>
                      </a:r>
                      <a:br>
                        <a:rPr lang="fr-FR" sz="1100" dirty="0"/>
                      </a:br>
                      <a:r>
                        <a:rPr lang="fr-FR" sz="1100" b="1" dirty="0"/>
                        <a:t>Cons:</a:t>
                      </a:r>
                      <a:r>
                        <a:rPr lang="fr-FR" sz="1100" dirty="0"/>
                        <a:t> </a:t>
                      </a:r>
                      <a:r>
                        <a:rPr lang="fr-FR" sz="1100" dirty="0" err="1"/>
                        <a:t>Complex</a:t>
                      </a:r>
                      <a:r>
                        <a:rPr lang="fr-FR" sz="1100" dirty="0"/>
                        <a:t> </a:t>
                      </a:r>
                      <a:r>
                        <a:rPr lang="fr-FR" sz="1100" dirty="0" err="1"/>
                        <a:t>commands</a:t>
                      </a:r>
                      <a:r>
                        <a:rPr lang="fr-FR" sz="1100" dirty="0"/>
                        <a:t> </a:t>
                      </a:r>
                      <a:r>
                        <a:rPr lang="fr-FR" sz="1100" dirty="0" err="1"/>
                        <a:t>need</a:t>
                      </a:r>
                      <a:r>
                        <a:rPr lang="fr-FR" sz="1100" dirty="0"/>
                        <a:t> LLM</a:t>
                      </a:r>
                      <a:endParaRPr lang="da-DK" sz="1100" dirty="0">
                        <a:latin typeface="Times New Roman" panose="02020603050405020304" pitchFamily="18" charset="0"/>
                        <a:cs typeface="Times New Roman" panose="02020603050405020304" pitchFamily="18" charset="0"/>
                      </a:endParaRPr>
                    </a:p>
                  </a:txBody>
                  <a:tcPr marL="20622" marR="20622" marT="10311" marB="10311" anchor="ctr"/>
                </a:tc>
                <a:extLst>
                  <a:ext uri="{0D108BD9-81ED-4DB2-BD59-A6C34878D82A}">
                    <a16:rowId xmlns:a16="http://schemas.microsoft.com/office/drawing/2014/main" val="3797687813"/>
                  </a:ext>
                </a:extLst>
              </a:tr>
            </a:tbl>
          </a:graphicData>
        </a:graphic>
      </p:graphicFrame>
    </p:spTree>
    <p:extLst>
      <p:ext uri="{BB962C8B-B14F-4D97-AF65-F5344CB8AC3E}">
        <p14:creationId xmlns:p14="http://schemas.microsoft.com/office/powerpoint/2010/main" val="1878955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B5B06-7F48-4EAF-78E8-7B4B16893687}"/>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FD01086A-11B1-9000-9999-1C3B5F3B4B4A}"/>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CB96CFFF-08A3-E1FA-CBCA-601F8F46004D}"/>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8D5FE0E7-5163-ED35-5482-0398C0BA352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E6063843-FC75-063D-559A-2A71B2E143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50ED6ED5-9EFB-15C2-6D67-4528AB899BE6}"/>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192571B5-C36B-EAFA-3568-D4BE5B41FEFD}"/>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74179F19-65C4-EC09-EA27-1309FECBC3CA}"/>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83E76CEB-4C57-2302-8A73-92FEC28D1995}"/>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31" name="Picture 30">
            <a:extLst>
              <a:ext uri="{FF2B5EF4-FFF2-40B4-BE49-F238E27FC236}">
                <a16:creationId xmlns:a16="http://schemas.microsoft.com/office/drawing/2014/main" id="{15B4015F-8BDE-B505-1158-5FB58B82CBCA}"/>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1" name="Title 1">
            <a:extLst>
              <a:ext uri="{FF2B5EF4-FFF2-40B4-BE49-F238E27FC236}">
                <a16:creationId xmlns:a16="http://schemas.microsoft.com/office/drawing/2014/main" id="{C27B8FF3-4612-C17B-D70A-300852DE2E97}"/>
              </a:ext>
            </a:extLst>
          </p:cNvPr>
          <p:cNvSpPr txBox="1">
            <a:spLocks/>
          </p:cNvSpPr>
          <p:nvPr/>
        </p:nvSpPr>
        <p:spPr>
          <a:xfrm>
            <a:off x="139870" y="957417"/>
            <a:ext cx="10131425" cy="5429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FCBB0B9-FD54-881F-8842-C98681CF59D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graphicFrame>
        <p:nvGraphicFramePr>
          <p:cNvPr id="2" name="Table 1">
            <a:extLst>
              <a:ext uri="{FF2B5EF4-FFF2-40B4-BE49-F238E27FC236}">
                <a16:creationId xmlns:a16="http://schemas.microsoft.com/office/drawing/2014/main" id="{570EAC3E-6C6A-6791-B3AC-401B380CC973}"/>
              </a:ext>
            </a:extLst>
          </p:cNvPr>
          <p:cNvGraphicFramePr>
            <a:graphicFrameLocks noGrp="1"/>
          </p:cNvGraphicFramePr>
          <p:nvPr>
            <p:extLst>
              <p:ext uri="{D42A27DB-BD31-4B8C-83A1-F6EECF244321}">
                <p14:modId xmlns:p14="http://schemas.microsoft.com/office/powerpoint/2010/main" val="1249475286"/>
              </p:ext>
            </p:extLst>
          </p:nvPr>
        </p:nvGraphicFramePr>
        <p:xfrm>
          <a:off x="69935" y="1228881"/>
          <a:ext cx="11982194" cy="4919316"/>
        </p:xfrm>
        <a:graphic>
          <a:graphicData uri="http://schemas.openxmlformats.org/drawingml/2006/table">
            <a:tbl>
              <a:tblPr firstRow="1">
                <a:tableStyleId>{5C22544A-7EE6-4342-B048-85BDC9FD1C3A}</a:tableStyleId>
              </a:tblPr>
              <a:tblGrid>
                <a:gridCol w="1530307">
                  <a:extLst>
                    <a:ext uri="{9D8B030D-6E8A-4147-A177-3AD203B41FA5}">
                      <a16:colId xmlns:a16="http://schemas.microsoft.com/office/drawing/2014/main" val="475901788"/>
                    </a:ext>
                  </a:extLst>
                </a:gridCol>
                <a:gridCol w="1863643">
                  <a:extLst>
                    <a:ext uri="{9D8B030D-6E8A-4147-A177-3AD203B41FA5}">
                      <a16:colId xmlns:a16="http://schemas.microsoft.com/office/drawing/2014/main" val="883542278"/>
                    </a:ext>
                  </a:extLst>
                </a:gridCol>
                <a:gridCol w="2151522">
                  <a:extLst>
                    <a:ext uri="{9D8B030D-6E8A-4147-A177-3AD203B41FA5}">
                      <a16:colId xmlns:a16="http://schemas.microsoft.com/office/drawing/2014/main" val="3945173128"/>
                    </a:ext>
                  </a:extLst>
                </a:gridCol>
                <a:gridCol w="2575766">
                  <a:extLst>
                    <a:ext uri="{9D8B030D-6E8A-4147-A177-3AD203B41FA5}">
                      <a16:colId xmlns:a16="http://schemas.microsoft.com/office/drawing/2014/main" val="3393095432"/>
                    </a:ext>
                  </a:extLst>
                </a:gridCol>
                <a:gridCol w="3860956">
                  <a:extLst>
                    <a:ext uri="{9D8B030D-6E8A-4147-A177-3AD203B41FA5}">
                      <a16:colId xmlns:a16="http://schemas.microsoft.com/office/drawing/2014/main" val="1537464143"/>
                    </a:ext>
                  </a:extLst>
                </a:gridCol>
              </a:tblGrid>
              <a:tr h="334416">
                <a:tc>
                  <a:txBody>
                    <a:bodyPr/>
                    <a:lstStyle/>
                    <a:p>
                      <a:pPr algn="ctr" rtl="0" fontAlgn="b"/>
                      <a:r>
                        <a:rPr lang="en-IN" sz="1100" b="1" dirty="0">
                          <a:effectLst/>
                          <a:latin typeface="Times New Roman" panose="02020603050405020304" pitchFamily="18" charset="0"/>
                          <a:cs typeface="Times New Roman" panose="02020603050405020304" pitchFamily="18" charset="0"/>
                        </a:rPr>
                        <a:t>Author(s)</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Paper Title</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Objective</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Methodology</a:t>
                      </a:r>
                    </a:p>
                  </a:txBody>
                  <a:tcPr marL="1046" marR="1046" marT="697" marB="697" anchor="ctr"/>
                </a:tc>
                <a:tc>
                  <a:txBody>
                    <a:bodyPr/>
                    <a:lstStyle/>
                    <a:p>
                      <a:pPr algn="ctr" rtl="0" fontAlgn="b"/>
                      <a:r>
                        <a:rPr lang="en-IN" sz="1100" b="1" dirty="0">
                          <a:effectLst/>
                          <a:latin typeface="Times New Roman" panose="02020603050405020304" pitchFamily="18" charset="0"/>
                          <a:cs typeface="Times New Roman" panose="02020603050405020304" pitchFamily="18" charset="0"/>
                        </a:rPr>
                        <a:t>Pros &amp; Cons</a:t>
                      </a:r>
                    </a:p>
                  </a:txBody>
                  <a:tcPr marL="1046" marR="1046" marT="697" marB="697" anchor="ctr"/>
                </a:tc>
                <a:extLst>
                  <a:ext uri="{0D108BD9-81ED-4DB2-BD59-A6C34878D82A}">
                    <a16:rowId xmlns:a16="http://schemas.microsoft.com/office/drawing/2014/main" val="2316914238"/>
                  </a:ext>
                </a:extLst>
              </a:tr>
              <a:tr h="916980">
                <a:tc>
                  <a:txBody>
                    <a:bodyPr/>
                    <a:lstStyle/>
                    <a:p>
                      <a:pPr>
                        <a:buNone/>
                      </a:pPr>
                      <a:r>
                        <a:rPr lang="fi-FI" sz="1100">
                          <a:latin typeface="Times New Roman" panose="02020603050405020304" pitchFamily="18" charset="0"/>
                          <a:cs typeface="Times New Roman" panose="02020603050405020304" pitchFamily="18" charset="0"/>
                        </a:rPr>
                        <a:t>Pudasaini, S. et al. </a:t>
                      </a:r>
                      <a:r>
                        <a:rPr lang="fi-FI" sz="1100" b="1">
                          <a:latin typeface="Times New Roman" panose="02020603050405020304" pitchFamily="18" charset="0"/>
                          <a:cs typeface="Times New Roman" panose="02020603050405020304" pitchFamily="18" charset="0"/>
                        </a:rPr>
                        <a:t>[11]</a:t>
                      </a:r>
                      <a:endParaRPr lang="fi-FI"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dirty="0">
                          <a:latin typeface="Times New Roman" panose="02020603050405020304" pitchFamily="18" charset="0"/>
                          <a:cs typeface="Times New Roman" panose="02020603050405020304" pitchFamily="18" charset="0"/>
                        </a:rPr>
                        <a:t>NLP for Information Extraction</a:t>
                      </a:r>
                    </a:p>
                  </a:txBody>
                  <a:tcPr anchor="ctr"/>
                </a:tc>
                <a:tc>
                  <a:txBody>
                    <a:bodyPr/>
                    <a:lstStyle/>
                    <a:p>
                      <a:pPr>
                        <a:buNone/>
                      </a:pPr>
                      <a:r>
                        <a:rPr lang="en-IN" sz="1100">
                          <a:latin typeface="Times New Roman" panose="02020603050405020304" pitchFamily="18" charset="0"/>
                          <a:cs typeface="Times New Roman" panose="02020603050405020304" pitchFamily="18" charset="0"/>
                        </a:rPr>
                        <a:t>Extract print parameters from voice commands</a:t>
                      </a:r>
                    </a:p>
                  </a:txBody>
                  <a:tcPr anchor="ctr"/>
                </a:tc>
                <a:tc>
                  <a:txBody>
                    <a:bodyPr/>
                    <a:lstStyle/>
                    <a:p>
                      <a:pPr>
                        <a:buNone/>
                      </a:pPr>
                      <a:r>
                        <a:rPr lang="en-IN" sz="1100">
                          <a:latin typeface="Times New Roman" panose="02020603050405020304" pitchFamily="18" charset="0"/>
                          <a:cs typeface="Times New Roman" panose="02020603050405020304" pitchFamily="18" charset="0"/>
                        </a:rPr>
                        <a:t>Regex-based structured parameter extraction</a:t>
                      </a:r>
                    </a:p>
                  </a:txBody>
                  <a:tcPr anchor="ctr"/>
                </a:tc>
                <a:tc>
                  <a:txBody>
                    <a:bodyPr/>
                    <a:lstStyle/>
                    <a:p>
                      <a:pPr>
                        <a:buNone/>
                      </a:pPr>
                      <a:r>
                        <a:rPr lang="en-US" sz="1100" b="1" dirty="0">
                          <a:latin typeface="Times New Roman" panose="02020603050405020304" pitchFamily="18" charset="0"/>
                          <a:cs typeface="Times New Roman" panose="02020603050405020304" pitchFamily="18" charset="0"/>
                        </a:rPr>
                        <a:t>Pros:</a:t>
                      </a:r>
                      <a:r>
                        <a:rPr lang="en-US" sz="1100" dirty="0">
                          <a:latin typeface="Times New Roman" panose="02020603050405020304" pitchFamily="18" charset="0"/>
                          <a:cs typeface="Times New Roman" panose="02020603050405020304" pitchFamily="18" charset="0"/>
                        </a:rPr>
                        <a:t> High accuracy for known patterns </a:t>
                      </a:r>
                      <a:r>
                        <a:rPr lang="en-US" sz="1100" b="1" dirty="0">
                          <a:latin typeface="Times New Roman" panose="02020603050405020304" pitchFamily="18" charset="0"/>
                          <a:cs typeface="Times New Roman" panose="02020603050405020304" pitchFamily="18" charset="0"/>
                        </a:rPr>
                        <a:t>Cons:</a:t>
                      </a:r>
                      <a:r>
                        <a:rPr lang="en-US" sz="1100" dirty="0">
                          <a:latin typeface="Times New Roman" panose="02020603050405020304" pitchFamily="18" charset="0"/>
                          <a:cs typeface="Times New Roman" panose="02020603050405020304" pitchFamily="18" charset="0"/>
                        </a:rPr>
                        <a:t> Limited patterns</a:t>
                      </a:r>
                    </a:p>
                  </a:txBody>
                  <a:tcPr anchor="ctr"/>
                </a:tc>
                <a:extLst>
                  <a:ext uri="{0D108BD9-81ED-4DB2-BD59-A6C34878D82A}">
                    <a16:rowId xmlns:a16="http://schemas.microsoft.com/office/drawing/2014/main" val="3060647782"/>
                  </a:ext>
                </a:extLst>
              </a:tr>
              <a:tr h="916980">
                <a:tc>
                  <a:txBody>
                    <a:bodyPr/>
                    <a:lstStyle/>
                    <a:p>
                      <a:pPr>
                        <a:buNone/>
                      </a:pPr>
                      <a:r>
                        <a:rPr lang="en-IN" sz="1100" dirty="0">
                          <a:latin typeface="Times New Roman" panose="02020603050405020304" pitchFamily="18" charset="0"/>
                          <a:cs typeface="Times New Roman" panose="02020603050405020304" pitchFamily="18" charset="0"/>
                        </a:rPr>
                        <a:t>Mubeen, S. et al. </a:t>
                      </a:r>
                      <a:r>
                        <a:rPr lang="en-IN" sz="1100" b="1" dirty="0">
                          <a:latin typeface="Times New Roman" panose="02020603050405020304" pitchFamily="18" charset="0"/>
                          <a:cs typeface="Times New Roman" panose="02020603050405020304" pitchFamily="18" charset="0"/>
                        </a:rPr>
                        <a:t>[12]</a:t>
                      </a:r>
                      <a:endParaRPr lang="en-IN" sz="11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OCR Using Tesseract</a:t>
                      </a:r>
                    </a:p>
                  </a:txBody>
                  <a:tcPr anchor="ctr"/>
                </a:tc>
                <a:tc>
                  <a:txBody>
                    <a:bodyPr/>
                    <a:lstStyle/>
                    <a:p>
                      <a:pPr>
                        <a:buNone/>
                      </a:pPr>
                      <a:r>
                        <a:rPr lang="en-IN" sz="1100">
                          <a:latin typeface="Times New Roman" panose="02020603050405020304" pitchFamily="18" charset="0"/>
                          <a:cs typeface="Times New Roman" panose="02020603050405020304" pitchFamily="18" charset="0"/>
                        </a:rPr>
                        <a:t>Provide alternative OCR engine</a:t>
                      </a:r>
                    </a:p>
                  </a:txBody>
                  <a:tcPr anchor="ctr"/>
                </a:tc>
                <a:tc>
                  <a:txBody>
                    <a:bodyPr/>
                    <a:lstStyle/>
                    <a:p>
                      <a:pPr>
                        <a:buNone/>
                      </a:pPr>
                      <a:r>
                        <a:rPr lang="en-US" sz="1100">
                          <a:latin typeface="Times New Roman" panose="02020603050405020304" pitchFamily="18" charset="0"/>
                          <a:cs typeface="Times New Roman" panose="02020603050405020304" pitchFamily="18" charset="0"/>
                        </a:rPr>
                        <a:t>Used as fallback; PaddleOCR is primary</a:t>
                      </a:r>
                    </a:p>
                  </a:txBody>
                  <a:tcPr anchor="ctr"/>
                </a:tc>
                <a:tc>
                  <a:txBody>
                    <a:bodyPr/>
                    <a:lstStyle/>
                    <a:p>
                      <a:pPr>
                        <a:buNone/>
                      </a:pPr>
                      <a:r>
                        <a:rPr lang="en-US" sz="1100" b="1">
                          <a:latin typeface="Times New Roman" panose="02020603050405020304" pitchFamily="18" charset="0"/>
                          <a:cs typeface="Times New Roman" panose="02020603050405020304" pitchFamily="18" charset="0"/>
                        </a:rPr>
                        <a:t>Pros:</a:t>
                      </a:r>
                      <a:r>
                        <a:rPr lang="en-US" sz="1100">
                          <a:latin typeface="Times New Roman" panose="02020603050405020304" pitchFamily="18" charset="0"/>
                          <a:cs typeface="Times New Roman" panose="02020603050405020304" pitchFamily="18" charset="0"/>
                        </a:rPr>
                        <a:t> Open-source, multi-language </a:t>
                      </a:r>
                      <a:r>
                        <a:rPr lang="en-US" sz="1100" b="1">
                          <a:latin typeface="Times New Roman" panose="02020603050405020304" pitchFamily="18" charset="0"/>
                          <a:cs typeface="Times New Roman" panose="02020603050405020304" pitchFamily="18" charset="0"/>
                        </a:rPr>
                        <a:t>Cons:</a:t>
                      </a:r>
                      <a:r>
                        <a:rPr lang="en-US" sz="1100">
                          <a:latin typeface="Times New Roman" panose="02020603050405020304" pitchFamily="18" charset="0"/>
                          <a:cs typeface="Times New Roman" panose="02020603050405020304" pitchFamily="18" charset="0"/>
                        </a:rPr>
                        <a:t> Lower accuracy</a:t>
                      </a:r>
                    </a:p>
                  </a:txBody>
                  <a:tcPr anchor="ctr"/>
                </a:tc>
                <a:extLst>
                  <a:ext uri="{0D108BD9-81ED-4DB2-BD59-A6C34878D82A}">
                    <a16:rowId xmlns:a16="http://schemas.microsoft.com/office/drawing/2014/main" val="2745409991"/>
                  </a:ext>
                </a:extLst>
              </a:tr>
              <a:tr h="916980">
                <a:tc>
                  <a:txBody>
                    <a:bodyPr/>
                    <a:lstStyle/>
                    <a:p>
                      <a:pPr>
                        <a:buNone/>
                      </a:pPr>
                      <a:r>
                        <a:rPr lang="en-IN" sz="1100">
                          <a:latin typeface="Times New Roman" panose="02020603050405020304" pitchFamily="18" charset="0"/>
                          <a:cs typeface="Times New Roman" panose="02020603050405020304" pitchFamily="18" charset="0"/>
                        </a:rPr>
                        <a:t>Lynn, N.D. et al. </a:t>
                      </a:r>
                      <a:r>
                        <a:rPr lang="en-IN" sz="1100" b="1">
                          <a:latin typeface="Times New Roman" panose="02020603050405020304" pitchFamily="18" charset="0"/>
                          <a:cs typeface="Times New Roman" panose="02020603050405020304" pitchFamily="18" charset="0"/>
                        </a:rPr>
                        <a:t>[13]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US" sz="1100">
                          <a:latin typeface="Times New Roman" panose="02020603050405020304" pitchFamily="18" charset="0"/>
                          <a:cs typeface="Times New Roman" panose="02020603050405020304" pitchFamily="18" charset="0"/>
                        </a:rPr>
                        <a:t>Real-Time Edge Detection using Canny and Sobel</a:t>
                      </a:r>
                    </a:p>
                  </a:txBody>
                  <a:tcPr anchor="ctr"/>
                </a:tc>
                <a:tc>
                  <a:txBody>
                    <a:bodyPr/>
                    <a:lstStyle/>
                    <a:p>
                      <a:pPr>
                        <a:buNone/>
                      </a:pPr>
                      <a:r>
                        <a:rPr lang="en-IN" sz="1100" dirty="0">
                          <a:latin typeface="Times New Roman" panose="02020603050405020304" pitchFamily="18" charset="0"/>
                          <a:cs typeface="Times New Roman" panose="02020603050405020304" pitchFamily="18" charset="0"/>
                        </a:rPr>
                        <a:t>Document edge detection</a:t>
                      </a:r>
                    </a:p>
                  </a:txBody>
                  <a:tcPr anchor="ctr"/>
                </a:tc>
                <a:tc>
                  <a:txBody>
                    <a:bodyPr/>
                    <a:lstStyle/>
                    <a:p>
                      <a:pPr>
                        <a:buNone/>
                      </a:pPr>
                      <a:r>
                        <a:rPr lang="en-US" sz="1100">
                          <a:latin typeface="Times New Roman" panose="02020603050405020304" pitchFamily="18" charset="0"/>
                          <a:cs typeface="Times New Roman" panose="02020603050405020304" pitchFamily="18" charset="0"/>
                        </a:rPr>
                        <a:t>Contour-based detection preferred; Canny optional</a:t>
                      </a:r>
                    </a:p>
                  </a:txBody>
                  <a:tcPr anchor="ctr"/>
                </a:tc>
                <a:tc>
                  <a:txBody>
                    <a:bodyPr/>
                    <a:lstStyle/>
                    <a:p>
                      <a:pPr>
                        <a:buNone/>
                      </a:pPr>
                      <a:r>
                        <a:rPr lang="en-US" sz="1100" b="1">
                          <a:latin typeface="Times New Roman" panose="02020603050405020304" pitchFamily="18" charset="0"/>
                          <a:cs typeface="Times New Roman" panose="02020603050405020304" pitchFamily="18" charset="0"/>
                        </a:rPr>
                        <a:t>Pros:</a:t>
                      </a:r>
                      <a:r>
                        <a:rPr lang="en-US" sz="1100">
                          <a:latin typeface="Times New Roman" panose="02020603050405020304" pitchFamily="18" charset="0"/>
                          <a:cs typeface="Times New Roman" panose="02020603050405020304" pitchFamily="18" charset="0"/>
                        </a:rPr>
                        <a:t> Clean edges </a:t>
                      </a:r>
                      <a:r>
                        <a:rPr lang="en-US" sz="1100" b="1">
                          <a:latin typeface="Times New Roman" panose="02020603050405020304" pitchFamily="18" charset="0"/>
                          <a:cs typeface="Times New Roman" panose="02020603050405020304" pitchFamily="18" charset="0"/>
                        </a:rPr>
                        <a:t>Cons:</a:t>
                      </a:r>
                      <a:r>
                        <a:rPr lang="en-US" sz="1100">
                          <a:latin typeface="Times New Roman" panose="02020603050405020304" pitchFamily="18" charset="0"/>
                          <a:cs typeface="Times New Roman" panose="02020603050405020304" pitchFamily="18" charset="0"/>
                        </a:rPr>
                        <a:t> Extra processing</a:t>
                      </a:r>
                    </a:p>
                  </a:txBody>
                  <a:tcPr anchor="ctr"/>
                </a:tc>
                <a:extLst>
                  <a:ext uri="{0D108BD9-81ED-4DB2-BD59-A6C34878D82A}">
                    <a16:rowId xmlns:a16="http://schemas.microsoft.com/office/drawing/2014/main" val="899122007"/>
                  </a:ext>
                </a:extLst>
              </a:tr>
              <a:tr h="916980">
                <a:tc>
                  <a:txBody>
                    <a:bodyPr/>
                    <a:lstStyle/>
                    <a:p>
                      <a:pPr>
                        <a:buNone/>
                      </a:pPr>
                      <a:r>
                        <a:rPr lang="en-US" sz="1100">
                          <a:latin typeface="Times New Roman" panose="02020603050405020304" pitchFamily="18" charset="0"/>
                          <a:cs typeface="Times New Roman" panose="02020603050405020304" pitchFamily="18" charset="0"/>
                        </a:rPr>
                        <a:t>Pandey, A. and Jain, A. </a:t>
                      </a:r>
                      <a:r>
                        <a:rPr lang="en-US" sz="1100" b="1">
                          <a:latin typeface="Times New Roman" panose="02020603050405020304" pitchFamily="18" charset="0"/>
                          <a:cs typeface="Times New Roman" panose="02020603050405020304" pitchFamily="18" charset="0"/>
                        </a:rPr>
                        <a:t>[14]</a:t>
                      </a:r>
                      <a:endParaRPr lang="en-US" sz="1100">
                        <a:latin typeface="Times New Roman" panose="02020603050405020304" pitchFamily="18" charset="0"/>
                        <a:cs typeface="Times New Roman" panose="02020603050405020304" pitchFamily="18" charset="0"/>
                      </a:endParaRPr>
                    </a:p>
                  </a:txBody>
                  <a:tcPr anchor="ctr"/>
                </a:tc>
                <a:tc>
                  <a:txBody>
                    <a:bodyPr/>
                    <a:lstStyle/>
                    <a:p>
                      <a:pPr>
                        <a:buNone/>
                      </a:pPr>
                      <a:r>
                        <a:rPr lang="en-US" sz="1100">
                          <a:latin typeface="Times New Roman" panose="02020603050405020304" pitchFamily="18" charset="0"/>
                          <a:cs typeface="Times New Roman" panose="02020603050405020304" pitchFamily="18" charset="0"/>
                        </a:rPr>
                        <a:t>Comparative Analysis of KNN Algorithm</a:t>
                      </a:r>
                    </a:p>
                  </a:txBody>
                  <a:tcPr anchor="ctr"/>
                </a:tc>
                <a:tc>
                  <a:txBody>
                    <a:bodyPr/>
                    <a:lstStyle/>
                    <a:p>
                      <a:pPr>
                        <a:buNone/>
                      </a:pPr>
                      <a:r>
                        <a:rPr lang="fr-FR" sz="1100" dirty="0">
                          <a:latin typeface="Times New Roman" panose="02020603050405020304" pitchFamily="18" charset="0"/>
                          <a:cs typeface="Times New Roman" panose="02020603050405020304" pitchFamily="18" charset="0"/>
                        </a:rPr>
                        <a:t>Document classification for </a:t>
                      </a:r>
                      <a:r>
                        <a:rPr lang="fr-FR" sz="1100" dirty="0" err="1">
                          <a:latin typeface="Times New Roman" panose="02020603050405020304" pitchFamily="18" charset="0"/>
                          <a:cs typeface="Times New Roman" panose="02020603050405020304" pitchFamily="18" charset="0"/>
                        </a:rPr>
                        <a:t>print</a:t>
                      </a:r>
                      <a:r>
                        <a:rPr lang="fr-FR" sz="1100" dirty="0">
                          <a:latin typeface="Times New Roman" panose="02020603050405020304" pitchFamily="18" charset="0"/>
                          <a:cs typeface="Times New Roman" panose="02020603050405020304" pitchFamily="18" charset="0"/>
                        </a:rPr>
                        <a:t> </a:t>
                      </a:r>
                      <a:r>
                        <a:rPr lang="fr-FR" sz="1100" dirty="0" err="1">
                          <a:latin typeface="Times New Roman" panose="02020603050405020304" pitchFamily="18" charset="0"/>
                          <a:cs typeface="Times New Roman" panose="02020603050405020304" pitchFamily="18" charset="0"/>
                        </a:rPr>
                        <a:t>presets</a:t>
                      </a:r>
                      <a:endParaRPr lang="fr-FR" sz="11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100">
                          <a:latin typeface="Times New Roman" panose="02020603050405020304" pitchFamily="18" charset="0"/>
                          <a:cs typeface="Times New Roman" panose="02020603050405020304" pitchFamily="18" charset="0"/>
                        </a:rPr>
                        <a:t>Not implemented; rule-based logic used</a:t>
                      </a:r>
                    </a:p>
                  </a:txBody>
                  <a:tcPr anchor="ctr"/>
                </a:tc>
                <a:tc>
                  <a:txBody>
                    <a:bodyPr/>
                    <a:lstStyle/>
                    <a:p>
                      <a:pPr>
                        <a:buNone/>
                      </a:pPr>
                      <a:r>
                        <a:rPr lang="en-US" sz="1100" b="1" dirty="0">
                          <a:latin typeface="Times New Roman" panose="02020603050405020304" pitchFamily="18" charset="0"/>
                          <a:cs typeface="Times New Roman" panose="02020603050405020304" pitchFamily="18" charset="0"/>
                        </a:rPr>
                        <a:t>Pros:</a:t>
                      </a:r>
                      <a:r>
                        <a:rPr lang="en-US" sz="1100" dirty="0">
                          <a:latin typeface="Times New Roman" panose="02020603050405020304" pitchFamily="18" charset="0"/>
                          <a:cs typeface="Times New Roman" panose="02020603050405020304" pitchFamily="18" charset="0"/>
                        </a:rPr>
                        <a:t> Enables smart classification </a:t>
                      </a:r>
                      <a:r>
                        <a:rPr lang="en-US" sz="1100" b="1" dirty="0">
                          <a:latin typeface="Times New Roman" panose="02020603050405020304" pitchFamily="18" charset="0"/>
                          <a:cs typeface="Times New Roman" panose="02020603050405020304" pitchFamily="18" charset="0"/>
                        </a:rPr>
                        <a:t>Cons:</a:t>
                      </a:r>
                      <a:r>
                        <a:rPr lang="en-US" sz="1100" dirty="0">
                          <a:latin typeface="Times New Roman" panose="02020603050405020304" pitchFamily="18" charset="0"/>
                          <a:cs typeface="Times New Roman" panose="02020603050405020304" pitchFamily="18" charset="0"/>
                        </a:rPr>
                        <a:t> Needs training data</a:t>
                      </a:r>
                    </a:p>
                  </a:txBody>
                  <a:tcPr anchor="ctr"/>
                </a:tc>
                <a:extLst>
                  <a:ext uri="{0D108BD9-81ED-4DB2-BD59-A6C34878D82A}">
                    <a16:rowId xmlns:a16="http://schemas.microsoft.com/office/drawing/2014/main" val="3566396530"/>
                  </a:ext>
                </a:extLst>
              </a:tr>
              <a:tr h="916980">
                <a:tc>
                  <a:txBody>
                    <a:bodyPr/>
                    <a:lstStyle/>
                    <a:p>
                      <a:pPr>
                        <a:buNone/>
                      </a:pPr>
                      <a:r>
                        <a:rPr lang="da-DK" sz="1100" dirty="0">
                          <a:latin typeface="Times New Roman" panose="02020603050405020304" pitchFamily="18" charset="0"/>
                          <a:cs typeface="Times New Roman" panose="02020603050405020304" pitchFamily="18" charset="0"/>
                        </a:rPr>
                        <a:t>Abadi, M. et al. </a:t>
                      </a:r>
                      <a:r>
                        <a:rPr lang="da-DK" sz="1100" b="1" dirty="0">
                          <a:latin typeface="Times New Roman" panose="02020603050405020304" pitchFamily="18" charset="0"/>
                          <a:cs typeface="Times New Roman" panose="02020603050405020304" pitchFamily="18" charset="0"/>
                        </a:rPr>
                        <a:t>[15]</a:t>
                      </a:r>
                      <a:endParaRPr lang="da-DK" sz="1100" dirty="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US" sz="1100" dirty="0">
                          <a:latin typeface="Times New Roman" panose="02020603050405020304" pitchFamily="18" charset="0"/>
                          <a:cs typeface="Times New Roman" panose="02020603050405020304" pitchFamily="18" charset="0"/>
                        </a:rPr>
                        <a:t>TensorFlow: A System for Large-Scale ML</a:t>
                      </a:r>
                      <a:endParaRPr lang="en-IN" sz="1100" dirty="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IN" sz="1100" dirty="0">
                          <a:latin typeface="Times New Roman" panose="02020603050405020304" pitchFamily="18" charset="0"/>
                          <a:cs typeface="Times New Roman" panose="02020603050405020304" pitchFamily="18" charset="0"/>
                        </a:rPr>
                        <a:t>ML framework for deployment</a:t>
                      </a:r>
                    </a:p>
                  </a:txBody>
                  <a:tcPr marL="20622" marR="20622" marT="10311" marB="10311" anchor="ctr"/>
                </a:tc>
                <a:tc>
                  <a:txBody>
                    <a:bodyPr/>
                    <a:lstStyle/>
                    <a:p>
                      <a:pPr>
                        <a:buNone/>
                      </a:pPr>
                      <a:r>
                        <a:rPr lang="en-IN" sz="1100" dirty="0" err="1">
                          <a:latin typeface="Times New Roman" panose="02020603050405020304" pitchFamily="18" charset="0"/>
                          <a:cs typeface="Times New Roman" panose="02020603050405020304" pitchFamily="18" charset="0"/>
                        </a:rPr>
                        <a:t>PyTorch</a:t>
                      </a:r>
                      <a:r>
                        <a:rPr lang="en-IN" sz="1100" dirty="0">
                          <a:latin typeface="Times New Roman" panose="02020603050405020304" pitchFamily="18" charset="0"/>
                          <a:cs typeface="Times New Roman" panose="02020603050405020304" pitchFamily="18" charset="0"/>
                        </a:rPr>
                        <a:t>-based models used instead</a:t>
                      </a:r>
                      <a:endParaRPr lang="en-US" sz="1100" dirty="0">
                        <a:latin typeface="Times New Roman" panose="02020603050405020304" pitchFamily="18" charset="0"/>
                        <a:cs typeface="Times New Roman" panose="02020603050405020304" pitchFamily="18" charset="0"/>
                      </a:endParaRPr>
                    </a:p>
                  </a:txBody>
                  <a:tcPr marL="20622" marR="20622" marT="10311" marB="10311" anchor="ctr"/>
                </a:tc>
                <a:tc>
                  <a:txBody>
                    <a:bodyPr/>
                    <a:lstStyle/>
                    <a:p>
                      <a:pPr>
                        <a:buNone/>
                      </a:pPr>
                      <a:r>
                        <a:rPr lang="en-US" sz="1100" b="1" dirty="0">
                          <a:latin typeface="Times New Roman" panose="02020603050405020304" pitchFamily="18" charset="0"/>
                          <a:cs typeface="Times New Roman" panose="02020603050405020304" pitchFamily="18" charset="0"/>
                        </a:rPr>
                        <a:t>Pros:</a:t>
                      </a:r>
                      <a:r>
                        <a:rPr lang="en-US" sz="1100" dirty="0">
                          <a:latin typeface="Times New Roman" panose="02020603050405020304" pitchFamily="18" charset="0"/>
                          <a:cs typeface="Times New Roman" panose="02020603050405020304" pitchFamily="18" charset="0"/>
                        </a:rPr>
                        <a:t> Industry standard </a:t>
                      </a:r>
                      <a:br>
                        <a:rPr lang="en-US" sz="1100" dirty="0">
                          <a:latin typeface="Times New Roman" panose="02020603050405020304" pitchFamily="18" charset="0"/>
                          <a:cs typeface="Times New Roman" panose="02020603050405020304" pitchFamily="18" charset="0"/>
                        </a:rPr>
                      </a:br>
                      <a:r>
                        <a:rPr lang="en-US" sz="1100" b="1" dirty="0">
                          <a:latin typeface="Times New Roman" panose="02020603050405020304" pitchFamily="18" charset="0"/>
                          <a:cs typeface="Times New Roman" panose="02020603050405020304" pitchFamily="18" charset="0"/>
                        </a:rPr>
                        <a:t>Cons:</a:t>
                      </a:r>
                      <a:r>
                        <a:rPr lang="en-US" sz="1100" dirty="0">
                          <a:latin typeface="Times New Roman" panose="02020603050405020304" pitchFamily="18" charset="0"/>
                          <a:cs typeface="Times New Roman" panose="02020603050405020304" pitchFamily="18" charset="0"/>
                        </a:rPr>
                        <a:t> Heavy dependency</a:t>
                      </a:r>
                      <a:endParaRPr lang="da-DK" sz="1100" dirty="0">
                        <a:latin typeface="Times New Roman" panose="02020603050405020304" pitchFamily="18" charset="0"/>
                        <a:cs typeface="Times New Roman" panose="02020603050405020304" pitchFamily="18" charset="0"/>
                      </a:endParaRPr>
                    </a:p>
                  </a:txBody>
                  <a:tcPr marL="20622" marR="20622" marT="10311" marB="10311" anchor="ctr"/>
                </a:tc>
                <a:extLst>
                  <a:ext uri="{0D108BD9-81ED-4DB2-BD59-A6C34878D82A}">
                    <a16:rowId xmlns:a16="http://schemas.microsoft.com/office/drawing/2014/main" val="1751403828"/>
                  </a:ext>
                </a:extLst>
              </a:tr>
            </a:tbl>
          </a:graphicData>
        </a:graphic>
      </p:graphicFrame>
    </p:spTree>
    <p:extLst>
      <p:ext uri="{BB962C8B-B14F-4D97-AF65-F5344CB8AC3E}">
        <p14:creationId xmlns:p14="http://schemas.microsoft.com/office/powerpoint/2010/main" val="4098618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4" name="Content Placeholder 3">
            <a:extLst>
              <a:ext uri="{FF2B5EF4-FFF2-40B4-BE49-F238E27FC236}">
                <a16:creationId xmlns:a16="http://schemas.microsoft.com/office/drawing/2014/main" id="{60360352-8E76-E4C8-46BE-2F99AF88A637}"/>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IN" sz="2800" b="1" dirty="0">
                <a:latin typeface="Times New Roman" panose="02020603050405020304" pitchFamily="18" charset="0"/>
                <a:cs typeface="Times New Roman" panose="02020603050405020304" pitchFamily="18" charset="0"/>
              </a:rPr>
              <a:t>GAPS IDENTIFIED</a:t>
            </a:r>
          </a:p>
          <a:p>
            <a:pPr marL="0" indent="0" algn="just">
              <a:buFont typeface="Arial" panose="020B0604020202020204" pitchFamily="34" charset="0"/>
              <a:buNone/>
            </a:pPr>
            <a:endParaRPr lang="en-US" b="1"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A7A8822-82B9-55D4-8B4C-4F03C3DA2137}"/>
              </a:ext>
            </a:extLst>
          </p:cNvPr>
          <p:cNvSpPr txBox="1"/>
          <p:nvPr/>
        </p:nvSpPr>
        <p:spPr>
          <a:xfrm>
            <a:off x="132408" y="1622391"/>
            <a:ext cx="11375062" cy="4124206"/>
          </a:xfrm>
          <a:prstGeom prst="rect">
            <a:avLst/>
          </a:prstGeom>
          <a:noFill/>
        </p:spPr>
        <p:txBody>
          <a:bodyPr wrap="square">
            <a:spAutoFit/>
          </a:bodyPr>
          <a:lstStyle/>
          <a:p>
            <a:pPr marL="0" marR="0" lvl="0" indent="0" algn="just" defTabSz="914400" rtl="0" eaLnBrk="0" fontAlgn="base" latinLnBrk="0" hangingPunct="0">
              <a:spcBef>
                <a:spcPts val="140"/>
              </a:spcBef>
              <a:spcAft>
                <a:spcPts val="140"/>
              </a:spcAft>
              <a:buClrTx/>
              <a:buSzTx/>
              <a:buFontTx/>
              <a:buChar char="•"/>
              <a:tabLst/>
            </a:pPr>
            <a:r>
              <a:rPr lang="en-US" b="1" dirty="0">
                <a:latin typeface="Times New Roman" panose="02020603050405020304" pitchFamily="18" charset="0"/>
                <a:cs typeface="Times New Roman" panose="02020603050405020304" pitchFamily="18" charset="0"/>
              </a:rPr>
              <a:t>Data Integration: </a:t>
            </a:r>
            <a:r>
              <a:rPr lang="en-US" dirty="0">
                <a:latin typeface="Times New Roman" panose="02020603050405020304" pitchFamily="18" charset="0"/>
                <a:cs typeface="Times New Roman" panose="02020603050405020304" pitchFamily="18" charset="0"/>
              </a:rPr>
              <a:t>Lack of smooth integration between mobile devices, PCs, and printers for document capture and processing, especially without internet connectivity.</a:t>
            </a:r>
          </a:p>
          <a:p>
            <a:pPr marL="0" marR="0" lvl="0" indent="0" algn="just" defTabSz="914400" rtl="0" eaLnBrk="0" fontAlgn="base" latinLnBrk="0" hangingPunct="0">
              <a:spcBef>
                <a:spcPts val="140"/>
              </a:spcBef>
              <a:spcAft>
                <a:spcPts val="140"/>
              </a:spcAft>
              <a:buClrTx/>
              <a:buSzTx/>
              <a:buFontTx/>
              <a:buChar char="•"/>
              <a:tabLst/>
            </a:pPr>
            <a:r>
              <a:rPr lang="en-US" b="1" dirty="0">
                <a:latin typeface="Times New Roman" panose="02020603050405020304" pitchFamily="18" charset="0"/>
                <a:cs typeface="Times New Roman" panose="02020603050405020304" pitchFamily="18" charset="0"/>
              </a:rPr>
              <a:t>Standardization: </a:t>
            </a:r>
            <a:r>
              <a:rPr lang="en-US" dirty="0">
                <a:latin typeface="Times New Roman" panose="02020603050405020304" pitchFamily="18" charset="0"/>
                <a:cs typeface="Times New Roman" panose="02020603050405020304" pitchFamily="18" charset="0"/>
              </a:rPr>
              <a:t>No common protocols for AI-based document detection, OCR processing, and offline synchronization across different platforms and devices.</a:t>
            </a:r>
          </a:p>
          <a:p>
            <a:pPr marL="0" marR="0" lvl="0" indent="0" algn="just" defTabSz="914400" rtl="0" eaLnBrk="0" fontAlgn="base" latinLnBrk="0" hangingPunct="0">
              <a:spcBef>
                <a:spcPts val="140"/>
              </a:spcBef>
              <a:spcAft>
                <a:spcPts val="140"/>
              </a:spcAft>
              <a:buClrTx/>
              <a:buSzTx/>
              <a:buFontTx/>
              <a:buChar char="•"/>
              <a:tabLst/>
            </a:pPr>
            <a:r>
              <a:rPr lang="en-US" b="1" dirty="0">
                <a:latin typeface="Times New Roman" panose="02020603050405020304" pitchFamily="18" charset="0"/>
                <a:cs typeface="Times New Roman" panose="02020603050405020304" pitchFamily="18" charset="0"/>
              </a:rPr>
              <a:t>Scalability: </a:t>
            </a:r>
            <a:r>
              <a:rPr lang="en-US" dirty="0">
                <a:latin typeface="Times New Roman" panose="02020603050405020304" pitchFamily="18" charset="0"/>
                <a:cs typeface="Times New Roman" panose="02020603050405020304" pitchFamily="18" charset="0"/>
              </a:rPr>
              <a:t>Challenges in expanding the system to handle large document volumes in educational, institutional, or corporate environments.</a:t>
            </a:r>
          </a:p>
          <a:p>
            <a:pPr marL="0" marR="0" lvl="0" indent="0" algn="just" defTabSz="914400" rtl="0" eaLnBrk="0" fontAlgn="base" latinLnBrk="0" hangingPunct="0">
              <a:spcBef>
                <a:spcPts val="140"/>
              </a:spcBef>
              <a:spcAft>
                <a:spcPts val="140"/>
              </a:spcAft>
              <a:buClrTx/>
              <a:buSzTx/>
              <a:buFontTx/>
              <a:buChar char="•"/>
              <a:tabLst/>
            </a:pPr>
            <a:r>
              <a:rPr lang="en-US" b="1" dirty="0">
                <a:latin typeface="Times New Roman" panose="02020603050405020304" pitchFamily="18" charset="0"/>
                <a:cs typeface="Times New Roman" panose="02020603050405020304" pitchFamily="18" charset="0"/>
              </a:rPr>
              <a:t>Affordability: </a:t>
            </a:r>
            <a:r>
              <a:rPr lang="en-US" dirty="0">
                <a:latin typeface="Times New Roman" panose="02020603050405020304" pitchFamily="18" charset="0"/>
                <a:cs typeface="Times New Roman" panose="02020603050405020304" pitchFamily="18" charset="0"/>
              </a:rPr>
              <a:t>High cost and hardware limitations restrict access to smart document management solutions for small organizations and schools.</a:t>
            </a:r>
          </a:p>
          <a:p>
            <a:pPr marL="0" marR="0" lvl="0" indent="0" algn="just" defTabSz="914400" rtl="0" eaLnBrk="0" fontAlgn="base" latinLnBrk="0" hangingPunct="0">
              <a:spcBef>
                <a:spcPts val="140"/>
              </a:spcBef>
              <a:spcAft>
                <a:spcPts val="140"/>
              </a:spcAft>
              <a:buClrTx/>
              <a:buSzTx/>
              <a:buFontTx/>
              <a:buChar char="•"/>
              <a:tabLst/>
            </a:pPr>
            <a:r>
              <a:rPr lang="en-US" b="1" dirty="0">
                <a:latin typeface="Times New Roman" panose="02020603050405020304" pitchFamily="18" charset="0"/>
                <a:cs typeface="Times New Roman" panose="02020603050405020304" pitchFamily="18" charset="0"/>
              </a:rPr>
              <a:t>Offline Synchronization: </a:t>
            </a:r>
            <a:r>
              <a:rPr lang="en-US" dirty="0">
                <a:latin typeface="Times New Roman" panose="02020603050405020304" pitchFamily="18" charset="0"/>
                <a:cs typeface="Times New Roman" panose="02020603050405020304" pitchFamily="18" charset="0"/>
              </a:rPr>
              <a:t>Limited solutions for real-time communication and data sync between mobile, PC, and printer devices without relying on internet connections.</a:t>
            </a:r>
          </a:p>
          <a:p>
            <a:pPr marL="0" marR="0" lvl="0" indent="0" algn="just" defTabSz="914400" rtl="0" eaLnBrk="0" fontAlgn="base" latinLnBrk="0" hangingPunct="0">
              <a:spcBef>
                <a:spcPts val="140"/>
              </a:spcBef>
              <a:spcAft>
                <a:spcPts val="140"/>
              </a:spcAft>
              <a:buClrTx/>
              <a:buSzTx/>
              <a:buFontTx/>
              <a:buChar char="•"/>
              <a:tabLst/>
            </a:pPr>
            <a:r>
              <a:rPr lang="en-US" b="1" dirty="0">
                <a:latin typeface="Times New Roman" panose="02020603050405020304" pitchFamily="18" charset="0"/>
                <a:cs typeface="Times New Roman" panose="02020603050405020304" pitchFamily="18" charset="0"/>
              </a:rPr>
              <a:t>User Adoption: </a:t>
            </a:r>
            <a:r>
              <a:rPr lang="en-US" dirty="0">
                <a:latin typeface="Times New Roman" panose="02020603050405020304" pitchFamily="18" charset="0"/>
                <a:cs typeface="Times New Roman" panose="02020603050405020304" pitchFamily="18" charset="0"/>
              </a:rPr>
              <a:t>Hesitation to switch from manual workflows to automated systems due to trust issues and lack of familiarity with AI-driven tools.</a:t>
            </a:r>
          </a:p>
          <a:p>
            <a:pPr marL="0" marR="0" lvl="0" indent="0" algn="just" defTabSz="914400" rtl="0" eaLnBrk="0" fontAlgn="base" latinLnBrk="0" hangingPunct="0">
              <a:spcBef>
                <a:spcPts val="140"/>
              </a:spcBef>
              <a:spcAft>
                <a:spcPts val="140"/>
              </a:spcAft>
              <a:buClrTx/>
              <a:buSzTx/>
              <a:buFontTx/>
              <a:buChar char="•"/>
              <a:tabLst/>
            </a:pPr>
            <a:r>
              <a:rPr lang="en-US" b="1" dirty="0">
                <a:latin typeface="Times New Roman" panose="02020603050405020304" pitchFamily="18" charset="0"/>
                <a:cs typeface="Times New Roman" panose="02020603050405020304" pitchFamily="18" charset="0"/>
              </a:rPr>
              <a:t>Data Security &amp; Privacy: </a:t>
            </a:r>
            <a:r>
              <a:rPr lang="en-US" dirty="0">
                <a:latin typeface="Times New Roman" panose="02020603050405020304" pitchFamily="18" charset="0"/>
                <a:cs typeface="Times New Roman" panose="02020603050405020304" pitchFamily="18" charset="0"/>
              </a:rPr>
              <a:t>Concerns about protecting sensitive document data during offline synchronization and storage without robust encryption.</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0B9A3A04-681F-08BF-6B31-8595D34351A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4" name="Rectangle 3">
            <a:extLst>
              <a:ext uri="{FF2B5EF4-FFF2-40B4-BE49-F238E27FC236}">
                <a16:creationId xmlns:a16="http://schemas.microsoft.com/office/drawing/2014/main" id="{93BD5571-B822-670B-C4DC-924F8BEB478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5527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3" name="Title 1">
            <a:extLst>
              <a:ext uri="{FF2B5EF4-FFF2-40B4-BE49-F238E27FC236}">
                <a16:creationId xmlns:a16="http://schemas.microsoft.com/office/drawing/2014/main" id="{787A2C97-B3E2-4F8C-45E5-BD2272CB744F}"/>
              </a:ext>
            </a:extLst>
          </p:cNvPr>
          <p:cNvSpPr txBox="1">
            <a:spLocks/>
          </p:cNvSpPr>
          <p:nvPr/>
        </p:nvSpPr>
        <p:spPr>
          <a:xfrm>
            <a:off x="76201" y="987661"/>
            <a:ext cx="10131425" cy="44980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BLOCK DIAGRAM</a:t>
            </a:r>
            <a:endParaRPr lang="en-IN" sz="28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5D1BC90-E9DE-B719-98EE-51368B7A1C85}"/>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pic>
        <p:nvPicPr>
          <p:cNvPr id="5" name="Picture 4">
            <a:extLst>
              <a:ext uri="{FF2B5EF4-FFF2-40B4-BE49-F238E27FC236}">
                <a16:creationId xmlns:a16="http://schemas.microsoft.com/office/drawing/2014/main" id="{7D1E4CA1-2F49-0426-CB93-56EBBC64A875}"/>
              </a:ext>
            </a:extLst>
          </p:cNvPr>
          <p:cNvPicPr>
            <a:picLocks noChangeAspect="1"/>
          </p:cNvPicPr>
          <p:nvPr/>
        </p:nvPicPr>
        <p:blipFill>
          <a:blip r:embed="rId12">
            <a:extLst>
              <a:ext uri="{28A0092B-C50C-407E-A947-70E740481C1C}">
                <a14:useLocalDpi xmlns:a14="http://schemas.microsoft.com/office/drawing/2010/main" val="0"/>
              </a:ext>
            </a:extLst>
          </a:blip>
          <a:srcRect l="1795" t="1651" r="1288" b="1399"/>
          <a:stretch>
            <a:fillRect/>
          </a:stretch>
        </p:blipFill>
        <p:spPr>
          <a:xfrm>
            <a:off x="187020" y="1437466"/>
            <a:ext cx="7594006" cy="47819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F8DCCE63-21EB-3D58-E8B6-96E933638CEC}"/>
              </a:ext>
            </a:extLst>
          </p:cNvPr>
          <p:cNvPicPr>
            <a:picLocks noChangeAspect="1"/>
          </p:cNvPicPr>
          <p:nvPr/>
        </p:nvPicPr>
        <p:blipFill>
          <a:blip r:embed="rId13"/>
          <a:stretch>
            <a:fillRect/>
          </a:stretch>
        </p:blipFill>
        <p:spPr>
          <a:xfrm>
            <a:off x="3864639" y="3647444"/>
            <a:ext cx="611908" cy="264950"/>
          </a:xfrm>
          <a:prstGeom prst="rect">
            <a:avLst/>
          </a:prstGeom>
        </p:spPr>
      </p:pic>
      <p:sp>
        <p:nvSpPr>
          <p:cNvPr id="7" name="TextBox 6">
            <a:extLst>
              <a:ext uri="{FF2B5EF4-FFF2-40B4-BE49-F238E27FC236}">
                <a16:creationId xmlns:a16="http://schemas.microsoft.com/office/drawing/2014/main" id="{EDD442DB-C1FC-1B4D-B074-05271844950B}"/>
              </a:ext>
            </a:extLst>
          </p:cNvPr>
          <p:cNvSpPr txBox="1"/>
          <p:nvPr/>
        </p:nvSpPr>
        <p:spPr>
          <a:xfrm>
            <a:off x="3866244" y="3697063"/>
            <a:ext cx="1442244" cy="307777"/>
          </a:xfrm>
          <a:prstGeom prst="rect">
            <a:avLst/>
          </a:prstGeom>
          <a:noFill/>
        </p:spPr>
        <p:txBody>
          <a:bodyPr wrap="square" rtlCol="0">
            <a:spAutoFit/>
          </a:bodyPr>
          <a:lstStyle/>
          <a:p>
            <a:r>
              <a:rPr lang="en-US" sz="700" dirty="0"/>
              <a:t>Proceeds</a:t>
            </a:r>
            <a:endParaRPr lang="en-IN" sz="700" dirty="0"/>
          </a:p>
          <a:p>
            <a:endParaRPr lang="en-IN" sz="700" dirty="0"/>
          </a:p>
        </p:txBody>
      </p:sp>
      <p:pic>
        <p:nvPicPr>
          <p:cNvPr id="12" name="Picture 11">
            <a:extLst>
              <a:ext uri="{FF2B5EF4-FFF2-40B4-BE49-F238E27FC236}">
                <a16:creationId xmlns:a16="http://schemas.microsoft.com/office/drawing/2014/main" id="{E5C0D2F1-5D15-B2DE-3FB2-B60CC252705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03498" y="1290181"/>
            <a:ext cx="4277637" cy="4277637"/>
          </a:xfrm>
          <a:prstGeom prst="rect">
            <a:avLst/>
          </a:prstGeom>
        </p:spPr>
      </p:pic>
    </p:spTree>
    <p:extLst>
      <p:ext uri="{BB962C8B-B14F-4D97-AF65-F5344CB8AC3E}">
        <p14:creationId xmlns:p14="http://schemas.microsoft.com/office/powerpoint/2010/main" val="4169337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5" name="TextBox 14">
            <a:extLst>
              <a:ext uri="{FF2B5EF4-FFF2-40B4-BE49-F238E27FC236}">
                <a16:creationId xmlns:a16="http://schemas.microsoft.com/office/drawing/2014/main" id="{95D1BC90-E9DE-B719-98EE-51368B7A1C85}"/>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8" name="TextBox 7">
            <a:extLst>
              <a:ext uri="{FF2B5EF4-FFF2-40B4-BE49-F238E27FC236}">
                <a16:creationId xmlns:a16="http://schemas.microsoft.com/office/drawing/2014/main" id="{6F76E2D6-0DC3-4BD1-A032-E5BF0FC1818D}"/>
              </a:ext>
            </a:extLst>
          </p:cNvPr>
          <p:cNvSpPr txBox="1"/>
          <p:nvPr/>
        </p:nvSpPr>
        <p:spPr>
          <a:xfrm>
            <a:off x="169995" y="2780894"/>
            <a:ext cx="11365354" cy="369332"/>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4CFCF30A-DFFB-46C7-BBC1-00897F26C09B}"/>
              </a:ext>
            </a:extLst>
          </p:cNvPr>
          <p:cNvSpPr txBox="1"/>
          <p:nvPr/>
        </p:nvSpPr>
        <p:spPr>
          <a:xfrm>
            <a:off x="78434" y="1440311"/>
            <a:ext cx="654978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 Core Technologies</a:t>
            </a:r>
            <a:endParaRPr lang="en-US" b="1" dirty="0">
              <a:latin typeface="Times New Roman" panose="02020603050405020304" pitchFamily="18" charset="0"/>
              <a:cs typeface="Times New Roman" panose="02020603050405020304" pitchFamily="18" charset="0"/>
            </a:endParaRPr>
          </a:p>
        </p:txBody>
      </p:sp>
      <p:sp>
        <p:nvSpPr>
          <p:cNvPr id="22" name="Title 1">
            <a:extLst>
              <a:ext uri="{FF2B5EF4-FFF2-40B4-BE49-F238E27FC236}">
                <a16:creationId xmlns:a16="http://schemas.microsoft.com/office/drawing/2014/main" id="{34D959A0-23D7-4FA7-B323-B44993CB3114}"/>
              </a:ext>
            </a:extLst>
          </p:cNvPr>
          <p:cNvSpPr txBox="1">
            <a:spLocks/>
          </p:cNvSpPr>
          <p:nvPr/>
        </p:nvSpPr>
        <p:spPr>
          <a:xfrm>
            <a:off x="0" y="941835"/>
            <a:ext cx="10131425" cy="44980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Technology Stack</a:t>
            </a:r>
            <a:endParaRPr lang="en-IN" sz="28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D6029895-8C37-1237-8248-9947B9541883}"/>
              </a:ext>
            </a:extLst>
          </p:cNvPr>
          <p:cNvGraphicFramePr>
            <a:graphicFrameLocks noGrp="1"/>
          </p:cNvGraphicFramePr>
          <p:nvPr>
            <p:extLst>
              <p:ext uri="{D42A27DB-BD31-4B8C-83A1-F6EECF244321}">
                <p14:modId xmlns:p14="http://schemas.microsoft.com/office/powerpoint/2010/main" val="2510219061"/>
              </p:ext>
            </p:extLst>
          </p:nvPr>
        </p:nvGraphicFramePr>
        <p:xfrm>
          <a:off x="78434" y="1900420"/>
          <a:ext cx="10515600" cy="1828800"/>
        </p:xfrm>
        <a:graphic>
          <a:graphicData uri="http://schemas.openxmlformats.org/drawingml/2006/table">
            <a:tbl>
              <a:tblPr/>
              <a:tblGrid>
                <a:gridCol w="3505200">
                  <a:extLst>
                    <a:ext uri="{9D8B030D-6E8A-4147-A177-3AD203B41FA5}">
                      <a16:colId xmlns:a16="http://schemas.microsoft.com/office/drawing/2014/main" val="2207489704"/>
                    </a:ext>
                  </a:extLst>
                </a:gridCol>
                <a:gridCol w="2636011">
                  <a:extLst>
                    <a:ext uri="{9D8B030D-6E8A-4147-A177-3AD203B41FA5}">
                      <a16:colId xmlns:a16="http://schemas.microsoft.com/office/drawing/2014/main" val="594039873"/>
                    </a:ext>
                  </a:extLst>
                </a:gridCol>
                <a:gridCol w="4374389">
                  <a:extLst>
                    <a:ext uri="{9D8B030D-6E8A-4147-A177-3AD203B41FA5}">
                      <a16:colId xmlns:a16="http://schemas.microsoft.com/office/drawing/2014/main" val="849297444"/>
                    </a:ext>
                  </a:extLst>
                </a:gridCol>
              </a:tblGrid>
              <a:tr h="0">
                <a:tc>
                  <a:txBody>
                    <a:bodyPr/>
                    <a:lstStyle/>
                    <a:p>
                      <a:pPr>
                        <a:buNone/>
                      </a:pPr>
                      <a:r>
                        <a:rPr lang="en-IN" sz="1800" b="1"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1048806"/>
                  </a:ext>
                </a:extLst>
              </a:tr>
              <a:tr h="0">
                <a:tc>
                  <a:txBody>
                    <a:bodyPr/>
                    <a:lstStyle/>
                    <a:p>
                      <a:pPr>
                        <a:buNone/>
                      </a:pPr>
                      <a:r>
                        <a:rPr lang="en-IN" sz="1800"/>
                        <a:t>Flask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Backend HTTP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3829283"/>
                  </a:ext>
                </a:extLst>
              </a:tr>
              <a:tr h="0">
                <a:tc>
                  <a:txBody>
                    <a:bodyPr/>
                    <a:lstStyle/>
                    <a:p>
                      <a:pPr>
                        <a:buNone/>
                      </a:pPr>
                      <a:r>
                        <a:rPr lang="en-IN" sz="1800" dirty="0"/>
                        <a:t>Flask-</a:t>
                      </a:r>
                      <a:r>
                        <a:rPr lang="en-IN" sz="1800" dirty="0" err="1"/>
                        <a:t>SocketIO</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5.3.5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Real-time phone ↔ desktop 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3012736"/>
                  </a:ext>
                </a:extLst>
              </a:tr>
              <a:tr h="0">
                <a:tc>
                  <a:txBody>
                    <a:bodyPr/>
                    <a:lstStyle/>
                    <a:p>
                      <a:pPr>
                        <a:buNone/>
                      </a:pPr>
                      <a:r>
                        <a:rPr lang="en-IN" sz="1800"/>
                        <a:t>React + TypeScript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18.0/ 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Frontend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1660351"/>
                  </a:ext>
                </a:extLst>
              </a:tr>
              <a:tr h="0">
                <a:tc>
                  <a:txBody>
                    <a:bodyPr/>
                    <a:lstStyle/>
                    <a:p>
                      <a:pPr>
                        <a:buNone/>
                      </a:pPr>
                      <a:r>
                        <a:rPr lang="en-IN" sz="1800"/>
                        <a:t>Chakra UI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3</a:t>
                      </a:r>
                      <a:r>
                        <a:rPr lang="en-IN" sz="1800"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UI component library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0481844"/>
                  </a:ext>
                </a:extLst>
              </a:tr>
            </a:tbl>
          </a:graphicData>
        </a:graphic>
      </p:graphicFrame>
      <p:graphicFrame>
        <p:nvGraphicFramePr>
          <p:cNvPr id="5" name="Table 4">
            <a:extLst>
              <a:ext uri="{FF2B5EF4-FFF2-40B4-BE49-F238E27FC236}">
                <a16:creationId xmlns:a16="http://schemas.microsoft.com/office/drawing/2014/main" id="{FE886DFD-80C5-B3D8-26E6-EDC2522A54AF}"/>
              </a:ext>
            </a:extLst>
          </p:cNvPr>
          <p:cNvGraphicFramePr>
            <a:graphicFrameLocks noGrp="1"/>
          </p:cNvGraphicFramePr>
          <p:nvPr>
            <p:extLst>
              <p:ext uri="{D42A27DB-BD31-4B8C-83A1-F6EECF244321}">
                <p14:modId xmlns:p14="http://schemas.microsoft.com/office/powerpoint/2010/main" val="1270342151"/>
              </p:ext>
            </p:extLst>
          </p:nvPr>
        </p:nvGraphicFramePr>
        <p:xfrm>
          <a:off x="78434" y="4397020"/>
          <a:ext cx="10515600" cy="1463040"/>
        </p:xfrm>
        <a:graphic>
          <a:graphicData uri="http://schemas.openxmlformats.org/drawingml/2006/table">
            <a:tbl>
              <a:tblPr/>
              <a:tblGrid>
                <a:gridCol w="3505200">
                  <a:extLst>
                    <a:ext uri="{9D8B030D-6E8A-4147-A177-3AD203B41FA5}">
                      <a16:colId xmlns:a16="http://schemas.microsoft.com/office/drawing/2014/main" val="181906402"/>
                    </a:ext>
                  </a:extLst>
                </a:gridCol>
                <a:gridCol w="2636011">
                  <a:extLst>
                    <a:ext uri="{9D8B030D-6E8A-4147-A177-3AD203B41FA5}">
                      <a16:colId xmlns:a16="http://schemas.microsoft.com/office/drawing/2014/main" val="1752213276"/>
                    </a:ext>
                  </a:extLst>
                </a:gridCol>
                <a:gridCol w="4374389">
                  <a:extLst>
                    <a:ext uri="{9D8B030D-6E8A-4147-A177-3AD203B41FA5}">
                      <a16:colId xmlns:a16="http://schemas.microsoft.com/office/drawing/2014/main" val="2781525680"/>
                    </a:ext>
                  </a:extLst>
                </a:gridCol>
              </a:tblGrid>
              <a:tr h="0">
                <a:tc>
                  <a:txBody>
                    <a:bodyPr/>
                    <a:lstStyle/>
                    <a:p>
                      <a:pPr>
                        <a:buNone/>
                      </a:pPr>
                      <a:r>
                        <a:rPr lang="en-IN" b="1"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0761399"/>
                  </a:ext>
                </a:extLst>
              </a:tr>
              <a:tr h="0">
                <a:tc>
                  <a:txBody>
                    <a:bodyPr/>
                    <a:lstStyle/>
                    <a:p>
                      <a:pPr>
                        <a:buNone/>
                      </a:pPr>
                      <a:r>
                        <a:rPr lang="en-IN" dirty="0"/>
                        <a:t>PyWin32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307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Printer APIs and device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855839"/>
                  </a:ext>
                </a:extLst>
              </a:tr>
              <a:tr h="0">
                <a:tc>
                  <a:txBody>
                    <a:bodyPr/>
                    <a:lstStyle/>
                    <a:p>
                      <a:pPr>
                        <a:buNone/>
                      </a:pPr>
                      <a:r>
                        <a:rPr lang="en-IN" dirty="0"/>
                        <a:t>PyPiWin32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223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Print job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0972360"/>
                  </a:ext>
                </a:extLst>
              </a:tr>
              <a:tr h="0">
                <a:tc>
                  <a:txBody>
                    <a:bodyPr/>
                    <a:lstStyle/>
                    <a:p>
                      <a:pPr>
                        <a:buNone/>
                      </a:pPr>
                      <a:r>
                        <a:rPr lang="en-IN"/>
                        <a:t>comtypes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COM-based Windows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4997323"/>
                  </a:ext>
                </a:extLst>
              </a:tr>
            </a:tbl>
          </a:graphicData>
        </a:graphic>
      </p:graphicFrame>
      <p:sp>
        <p:nvSpPr>
          <p:cNvPr id="6" name="TextBox 5">
            <a:extLst>
              <a:ext uri="{FF2B5EF4-FFF2-40B4-BE49-F238E27FC236}">
                <a16:creationId xmlns:a16="http://schemas.microsoft.com/office/drawing/2014/main" id="{1B837D7C-BF72-61F0-D5D7-B0C541580497}"/>
              </a:ext>
            </a:extLst>
          </p:cNvPr>
          <p:cNvSpPr txBox="1"/>
          <p:nvPr/>
        </p:nvSpPr>
        <p:spPr>
          <a:xfrm>
            <a:off x="78434" y="3942054"/>
            <a:ext cx="6372184"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[2] Windows Integration</a:t>
            </a:r>
          </a:p>
        </p:txBody>
      </p:sp>
    </p:spTree>
    <p:extLst>
      <p:ext uri="{BB962C8B-B14F-4D97-AF65-F5344CB8AC3E}">
        <p14:creationId xmlns:p14="http://schemas.microsoft.com/office/powerpoint/2010/main" val="574784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5" name="TextBox 14">
            <a:extLst>
              <a:ext uri="{FF2B5EF4-FFF2-40B4-BE49-F238E27FC236}">
                <a16:creationId xmlns:a16="http://schemas.microsoft.com/office/drawing/2014/main" id="{95D1BC90-E9DE-B719-98EE-51368B7A1C85}"/>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17" name="TextBox 16">
            <a:extLst>
              <a:ext uri="{FF2B5EF4-FFF2-40B4-BE49-F238E27FC236}">
                <a16:creationId xmlns:a16="http://schemas.microsoft.com/office/drawing/2014/main" id="{5AD0D759-A585-47DC-8480-34F81ABE631E}"/>
              </a:ext>
            </a:extLst>
          </p:cNvPr>
          <p:cNvSpPr txBox="1"/>
          <p:nvPr/>
        </p:nvSpPr>
        <p:spPr>
          <a:xfrm>
            <a:off x="126022" y="976498"/>
            <a:ext cx="4104168"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[3]Image &amp; Document Processing</a:t>
            </a:r>
            <a:endParaRPr lang="en-US"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0CC969C-DB2C-8145-DB4A-72AA6698DC44}"/>
              </a:ext>
            </a:extLst>
          </p:cNvPr>
          <p:cNvGraphicFramePr>
            <a:graphicFrameLocks noGrp="1"/>
          </p:cNvGraphicFramePr>
          <p:nvPr>
            <p:extLst>
              <p:ext uri="{D42A27DB-BD31-4B8C-83A1-F6EECF244321}">
                <p14:modId xmlns:p14="http://schemas.microsoft.com/office/powerpoint/2010/main" val="580687010"/>
              </p:ext>
            </p:extLst>
          </p:nvPr>
        </p:nvGraphicFramePr>
        <p:xfrm>
          <a:off x="126022" y="1476480"/>
          <a:ext cx="11189676" cy="4023360"/>
        </p:xfrm>
        <a:graphic>
          <a:graphicData uri="http://schemas.openxmlformats.org/drawingml/2006/table">
            <a:tbl>
              <a:tblPr/>
              <a:tblGrid>
                <a:gridCol w="3729892">
                  <a:extLst>
                    <a:ext uri="{9D8B030D-6E8A-4147-A177-3AD203B41FA5}">
                      <a16:colId xmlns:a16="http://schemas.microsoft.com/office/drawing/2014/main" val="1520850740"/>
                    </a:ext>
                  </a:extLst>
                </a:gridCol>
                <a:gridCol w="3002086">
                  <a:extLst>
                    <a:ext uri="{9D8B030D-6E8A-4147-A177-3AD203B41FA5}">
                      <a16:colId xmlns:a16="http://schemas.microsoft.com/office/drawing/2014/main" val="2333054590"/>
                    </a:ext>
                  </a:extLst>
                </a:gridCol>
                <a:gridCol w="4457698">
                  <a:extLst>
                    <a:ext uri="{9D8B030D-6E8A-4147-A177-3AD203B41FA5}">
                      <a16:colId xmlns:a16="http://schemas.microsoft.com/office/drawing/2014/main" val="3404673763"/>
                    </a:ext>
                  </a:extLst>
                </a:gridCol>
              </a:tblGrid>
              <a:tr h="0">
                <a:tc>
                  <a:txBody>
                    <a:bodyPr/>
                    <a:lstStyle/>
                    <a:p>
                      <a:pPr>
                        <a:buNone/>
                      </a:pPr>
                      <a:r>
                        <a:rPr lang="en-IN" b="1">
                          <a:latin typeface="Times New Roman" panose="02020603050405020304" pitchFamily="18" charset="0"/>
                          <a:cs typeface="Times New Roman" panose="02020603050405020304" pitchFamily="18" charset="0"/>
                        </a:rPr>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latin typeface="Times New Roman" panose="02020603050405020304" pitchFamily="18" charset="0"/>
                          <a:cs typeface="Times New Roman" panose="02020603050405020304" pitchFamily="18" charset="0"/>
                        </a:rPr>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7216366"/>
                  </a:ext>
                </a:extLst>
              </a:tr>
              <a:tr h="0">
                <a:tc>
                  <a:txBody>
                    <a:bodyPr/>
                    <a:lstStyle/>
                    <a:p>
                      <a:pPr>
                        <a:buNone/>
                      </a:pPr>
                      <a:r>
                        <a:rPr lang="en-IN" dirty="0">
                          <a:latin typeface="Times New Roman" panose="02020603050405020304" pitchFamily="18" charset="0"/>
                          <a:cs typeface="Times New Roman" panose="02020603050405020304" pitchFamily="18" charset="0"/>
                        </a:rPr>
                        <a:t>OpenCV (cv2)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4.10.0.84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Image capture, enhancement, edge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6023705"/>
                  </a:ext>
                </a:extLst>
              </a:tr>
              <a:tr h="0">
                <a:tc>
                  <a:txBody>
                    <a:bodyPr/>
                    <a:lstStyle/>
                    <a:p>
                      <a:pPr>
                        <a:buNone/>
                      </a:pPr>
                      <a:r>
                        <a:rPr lang="en-IN" dirty="0">
                          <a:latin typeface="Times New Roman" panose="02020603050405020304" pitchFamily="18" charset="0"/>
                          <a:cs typeface="Times New Roman" panose="02020603050405020304" pitchFamily="18" charset="0"/>
                        </a:rPr>
                        <a:t>Pillow (PIL)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11.0.0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Image manipulation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74581"/>
                  </a:ext>
                </a:extLst>
              </a:tr>
              <a:tr h="0">
                <a:tc>
                  <a:txBody>
                    <a:bodyPr/>
                    <a:lstStyle/>
                    <a:p>
                      <a:pPr>
                        <a:buNone/>
                      </a:pPr>
                      <a:r>
                        <a:rPr lang="en-IN">
                          <a:latin typeface="Times New Roman" panose="02020603050405020304" pitchFamily="18" charset="0"/>
                          <a:cs typeface="Times New Roman" panose="02020603050405020304" pitchFamily="18" charset="0"/>
                        </a:rPr>
                        <a:t>NumPy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1.24.0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Matrix and array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29805"/>
                  </a:ext>
                </a:extLst>
              </a:tr>
              <a:tr h="0">
                <a:tc>
                  <a:txBody>
                    <a:bodyPr/>
                    <a:lstStyle/>
                    <a:p>
                      <a:pPr>
                        <a:buNone/>
                      </a:pPr>
                      <a:r>
                        <a:rPr lang="en-IN">
                          <a:latin typeface="Times New Roman" panose="02020603050405020304" pitchFamily="18" charset="0"/>
                          <a:cs typeface="Times New Roman" panose="02020603050405020304" pitchFamily="18" charset="0"/>
                        </a:rPr>
                        <a:t>fpdf2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Print-ready PDF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881099"/>
                  </a:ext>
                </a:extLst>
              </a:tr>
              <a:tr h="0">
                <a:tc>
                  <a:txBody>
                    <a:bodyPr/>
                    <a:lstStyle/>
                    <a:p>
                      <a:pPr>
                        <a:buNone/>
                      </a:pPr>
                      <a:r>
                        <a:rPr lang="en-IN" dirty="0" err="1">
                          <a:latin typeface="Times New Roman" panose="02020603050405020304" pitchFamily="18" charset="0"/>
                          <a:cs typeface="Times New Roman" panose="02020603050405020304" pitchFamily="18" charset="0"/>
                        </a:rPr>
                        <a:t>PyMuPDF</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fitz</a:t>
                      </a:r>
                      <a:r>
                        <a:rPr lang="en-IN"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1.23.0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PDF reading and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7544830"/>
                  </a:ext>
                </a:extLst>
              </a:tr>
              <a:tr h="0">
                <a:tc>
                  <a:txBody>
                    <a:bodyPr/>
                    <a:lstStyle/>
                    <a:p>
                      <a:pPr>
                        <a:buNone/>
                      </a:pPr>
                      <a:r>
                        <a:rPr lang="en-IN" dirty="0">
                          <a:latin typeface="Times New Roman" panose="02020603050405020304" pitchFamily="18" charset="0"/>
                          <a:cs typeface="Times New Roman" panose="02020603050405020304" pitchFamily="18" charset="0"/>
                        </a:rPr>
                        <a:t>pdf2image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1.16.3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Convert PDF to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247603"/>
                  </a:ext>
                </a:extLst>
              </a:tr>
              <a:tr h="0">
                <a:tc>
                  <a:txBody>
                    <a:bodyPr/>
                    <a:lstStyle/>
                    <a:p>
                      <a:pPr>
                        <a:buNone/>
                      </a:pPr>
                      <a:r>
                        <a:rPr lang="en-IN">
                          <a:latin typeface="Times New Roman" panose="02020603050405020304" pitchFamily="18" charset="0"/>
                          <a:cs typeface="Times New Roman" panose="02020603050405020304" pitchFamily="18" charset="0"/>
                        </a:rPr>
                        <a:t>img2pdf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0.5.1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Convert images to PDF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7556783"/>
                  </a:ext>
                </a:extLst>
              </a:tr>
              <a:tr h="0">
                <a:tc>
                  <a:txBody>
                    <a:bodyPr/>
                    <a:lstStyle/>
                    <a:p>
                      <a:pPr>
                        <a:buNone/>
                      </a:pPr>
                      <a:r>
                        <a:rPr lang="en-IN">
                          <a:latin typeface="Times New Roman" panose="02020603050405020304" pitchFamily="18" charset="0"/>
                          <a:cs typeface="Times New Roman" panose="02020603050405020304" pitchFamily="18" charset="0"/>
                        </a:rPr>
                        <a:t>python-docx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Word document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346272"/>
                  </a:ext>
                </a:extLst>
              </a:tr>
              <a:tr h="0">
                <a:tc>
                  <a:txBody>
                    <a:bodyPr/>
                    <a:lstStyle/>
                    <a:p>
                      <a:pPr>
                        <a:buNone/>
                      </a:pPr>
                      <a:r>
                        <a:rPr lang="en-IN">
                          <a:latin typeface="Times New Roman" panose="02020603050405020304" pitchFamily="18" charset="0"/>
                          <a:cs typeface="Times New Roman" panose="02020603050405020304" pitchFamily="18" charset="0"/>
                        </a:rPr>
                        <a:t>ReportLab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PDF layout and formatting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1491048"/>
                  </a:ext>
                </a:extLst>
              </a:tr>
              <a:tr h="0">
                <a:tc>
                  <a:txBody>
                    <a:bodyPr/>
                    <a:lstStyle/>
                    <a:p>
                      <a:pPr>
                        <a:buNone/>
                      </a:pPr>
                      <a:r>
                        <a:rPr lang="en-IN">
                          <a:latin typeface="Times New Roman" panose="02020603050405020304" pitchFamily="18" charset="0"/>
                          <a:cs typeface="Times New Roman" panose="02020603050405020304" pitchFamily="18" charset="0"/>
                        </a:rPr>
                        <a:t>Poppler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24.08.0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PDF rendering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0323353"/>
                  </a:ext>
                </a:extLst>
              </a:tr>
            </a:tbl>
          </a:graphicData>
        </a:graphic>
      </p:graphicFrame>
    </p:spTree>
    <p:extLst>
      <p:ext uri="{BB962C8B-B14F-4D97-AF65-F5344CB8AC3E}">
        <p14:creationId xmlns:p14="http://schemas.microsoft.com/office/powerpoint/2010/main" val="1033379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5" name="TextBox 14">
            <a:extLst>
              <a:ext uri="{FF2B5EF4-FFF2-40B4-BE49-F238E27FC236}">
                <a16:creationId xmlns:a16="http://schemas.microsoft.com/office/drawing/2014/main" id="{95D1BC90-E9DE-B719-98EE-51368B7A1C85}"/>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21" name="TextBox 20">
            <a:extLst>
              <a:ext uri="{FF2B5EF4-FFF2-40B4-BE49-F238E27FC236}">
                <a16:creationId xmlns:a16="http://schemas.microsoft.com/office/drawing/2014/main" id="{15D4E7A8-DF14-4275-B5EB-05F40E4066D4}"/>
              </a:ext>
            </a:extLst>
          </p:cNvPr>
          <p:cNvSpPr txBox="1"/>
          <p:nvPr/>
        </p:nvSpPr>
        <p:spPr>
          <a:xfrm>
            <a:off x="88254" y="1012018"/>
            <a:ext cx="6492465"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[4] OCR &amp; AI Recognition</a:t>
            </a:r>
            <a:endParaRPr lang="en-US"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2715B42-AAD5-4EED-94C4-417DD34A88FF}"/>
              </a:ext>
            </a:extLst>
          </p:cNvPr>
          <p:cNvSpPr txBox="1"/>
          <p:nvPr/>
        </p:nvSpPr>
        <p:spPr>
          <a:xfrm>
            <a:off x="88254" y="3752985"/>
            <a:ext cx="618283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[5] Voice &amp; Audio</a:t>
            </a:r>
            <a:endParaRPr lang="en-US"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2E8D773-8B50-2B5C-3482-C1478C974380}"/>
              </a:ext>
            </a:extLst>
          </p:cNvPr>
          <p:cNvGraphicFramePr>
            <a:graphicFrameLocks noGrp="1"/>
          </p:cNvGraphicFramePr>
          <p:nvPr>
            <p:extLst>
              <p:ext uri="{D42A27DB-BD31-4B8C-83A1-F6EECF244321}">
                <p14:modId xmlns:p14="http://schemas.microsoft.com/office/powerpoint/2010/main" val="1576530591"/>
              </p:ext>
            </p:extLst>
          </p:nvPr>
        </p:nvGraphicFramePr>
        <p:xfrm>
          <a:off x="152400" y="1430760"/>
          <a:ext cx="10515600" cy="2194560"/>
        </p:xfrm>
        <a:graphic>
          <a:graphicData uri="http://schemas.openxmlformats.org/drawingml/2006/table">
            <a:tbl>
              <a:tblPr/>
              <a:tblGrid>
                <a:gridCol w="3505200">
                  <a:extLst>
                    <a:ext uri="{9D8B030D-6E8A-4147-A177-3AD203B41FA5}">
                      <a16:colId xmlns:a16="http://schemas.microsoft.com/office/drawing/2014/main" val="186002707"/>
                    </a:ext>
                  </a:extLst>
                </a:gridCol>
                <a:gridCol w="2691442">
                  <a:extLst>
                    <a:ext uri="{9D8B030D-6E8A-4147-A177-3AD203B41FA5}">
                      <a16:colId xmlns:a16="http://schemas.microsoft.com/office/drawing/2014/main" val="2202294468"/>
                    </a:ext>
                  </a:extLst>
                </a:gridCol>
                <a:gridCol w="4318958">
                  <a:extLst>
                    <a:ext uri="{9D8B030D-6E8A-4147-A177-3AD203B41FA5}">
                      <a16:colId xmlns:a16="http://schemas.microsoft.com/office/drawing/2014/main" val="4175581075"/>
                    </a:ext>
                  </a:extLst>
                </a:gridCol>
              </a:tblGrid>
              <a:tr h="0">
                <a:tc>
                  <a:txBody>
                    <a:bodyPr/>
                    <a:lstStyle/>
                    <a:p>
                      <a:pPr>
                        <a:buNone/>
                      </a:pPr>
                      <a:r>
                        <a:rPr lang="en-IN" sz="1800" b="1"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0762819"/>
                  </a:ext>
                </a:extLst>
              </a:tr>
              <a:tr h="0">
                <a:tc>
                  <a:txBody>
                    <a:bodyPr/>
                    <a:lstStyle/>
                    <a:p>
                      <a:pPr>
                        <a:buNone/>
                      </a:pPr>
                      <a:r>
                        <a:rPr lang="en-IN" sz="1800" dirty="0" err="1"/>
                        <a:t>PaddleOCR</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2.7.0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Primary OCR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4553800"/>
                  </a:ext>
                </a:extLst>
              </a:tr>
              <a:tr h="0">
                <a:tc>
                  <a:txBody>
                    <a:bodyPr/>
                    <a:lstStyle/>
                    <a:p>
                      <a:pPr>
                        <a:buNone/>
                      </a:pPr>
                      <a:r>
                        <a:rPr lang="en-IN" sz="1800" dirty="0" err="1"/>
                        <a:t>PaddlePaddle</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2.6.0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Deep learning backend for OCR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3968318"/>
                  </a:ext>
                </a:extLst>
              </a:tr>
              <a:tr h="0">
                <a:tc>
                  <a:txBody>
                    <a:bodyPr/>
                    <a:lstStyle/>
                    <a:p>
                      <a:pPr>
                        <a:buNone/>
                      </a:pPr>
                      <a:r>
                        <a:rPr lang="en-IN" sz="1800" dirty="0"/>
                        <a:t>Tesseract OCR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5.3.0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Fallback OCR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5211120"/>
                  </a:ext>
                </a:extLst>
              </a:tr>
              <a:tr h="0">
                <a:tc>
                  <a:txBody>
                    <a:bodyPr/>
                    <a:lstStyle/>
                    <a:p>
                      <a:pPr>
                        <a:buNone/>
                      </a:pPr>
                      <a:r>
                        <a:rPr lang="en-IN" sz="1800" dirty="0" err="1"/>
                        <a:t>Ollama</a:t>
                      </a:r>
                      <a:r>
                        <a:rPr lang="en-IN" sz="1800" dirty="0"/>
                        <a:t> (smollm2)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2:135m</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Text structuring and post-processing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3627617"/>
                  </a:ext>
                </a:extLst>
              </a:tr>
              <a:tr h="0">
                <a:tc>
                  <a:txBody>
                    <a:bodyPr/>
                    <a:lstStyle/>
                    <a:p>
                      <a:pPr>
                        <a:buNone/>
                      </a:pPr>
                      <a:r>
                        <a:rPr lang="en-IN" sz="1800"/>
                        <a:t>scikit-learn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1.3.0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Document classification (KNN)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9155010"/>
                  </a:ext>
                </a:extLst>
              </a:tr>
            </a:tbl>
          </a:graphicData>
        </a:graphic>
      </p:graphicFrame>
      <p:graphicFrame>
        <p:nvGraphicFramePr>
          <p:cNvPr id="3" name="Table 2">
            <a:extLst>
              <a:ext uri="{FF2B5EF4-FFF2-40B4-BE49-F238E27FC236}">
                <a16:creationId xmlns:a16="http://schemas.microsoft.com/office/drawing/2014/main" id="{096B1558-AAE4-6150-2934-33031E7BC027}"/>
              </a:ext>
            </a:extLst>
          </p:cNvPr>
          <p:cNvGraphicFramePr>
            <a:graphicFrameLocks noGrp="1"/>
          </p:cNvGraphicFramePr>
          <p:nvPr>
            <p:extLst>
              <p:ext uri="{D42A27DB-BD31-4B8C-83A1-F6EECF244321}">
                <p14:modId xmlns:p14="http://schemas.microsoft.com/office/powerpoint/2010/main" val="2754763498"/>
              </p:ext>
            </p:extLst>
          </p:nvPr>
        </p:nvGraphicFramePr>
        <p:xfrm>
          <a:off x="152400" y="4195066"/>
          <a:ext cx="10515600" cy="1828800"/>
        </p:xfrm>
        <a:graphic>
          <a:graphicData uri="http://schemas.openxmlformats.org/drawingml/2006/table">
            <a:tbl>
              <a:tblPr/>
              <a:tblGrid>
                <a:gridCol w="3505200">
                  <a:extLst>
                    <a:ext uri="{9D8B030D-6E8A-4147-A177-3AD203B41FA5}">
                      <a16:colId xmlns:a16="http://schemas.microsoft.com/office/drawing/2014/main" val="1066578379"/>
                    </a:ext>
                  </a:extLst>
                </a:gridCol>
                <a:gridCol w="2717321">
                  <a:extLst>
                    <a:ext uri="{9D8B030D-6E8A-4147-A177-3AD203B41FA5}">
                      <a16:colId xmlns:a16="http://schemas.microsoft.com/office/drawing/2014/main" val="2004134606"/>
                    </a:ext>
                  </a:extLst>
                </a:gridCol>
                <a:gridCol w="4293079">
                  <a:extLst>
                    <a:ext uri="{9D8B030D-6E8A-4147-A177-3AD203B41FA5}">
                      <a16:colId xmlns:a16="http://schemas.microsoft.com/office/drawing/2014/main" val="1866981730"/>
                    </a:ext>
                  </a:extLst>
                </a:gridCol>
              </a:tblGrid>
              <a:tr h="0">
                <a:tc>
                  <a:txBody>
                    <a:bodyPr/>
                    <a:lstStyle/>
                    <a:p>
                      <a:pPr>
                        <a:buNone/>
                      </a:pPr>
                      <a:r>
                        <a:rPr lang="en-IN" sz="1800" b="1" dirty="0">
                          <a:latin typeface="Times New Roman" panose="02020603050405020304" pitchFamily="18" charset="0"/>
                          <a:cs typeface="Times New Roman" panose="02020603050405020304" pitchFamily="18" charset="0"/>
                        </a:rPr>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7487543"/>
                  </a:ext>
                </a:extLst>
              </a:tr>
              <a:tr h="0">
                <a:tc>
                  <a:txBody>
                    <a:bodyPr/>
                    <a:lstStyle/>
                    <a:p>
                      <a:pPr>
                        <a:buNone/>
                      </a:pPr>
                      <a:r>
                        <a:rPr lang="en-IN" sz="1800" dirty="0">
                          <a:latin typeface="Times New Roman" panose="02020603050405020304" pitchFamily="18" charset="0"/>
                          <a:cs typeface="Times New Roman" panose="02020603050405020304" pitchFamily="18" charset="0"/>
                        </a:rPr>
                        <a:t>OpenAI Whisper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Speech-to-text (Large-v3 Turbo)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9201790"/>
                  </a:ext>
                </a:extLst>
              </a:tr>
              <a:tr h="0">
                <a:tc>
                  <a:txBody>
                    <a:bodyPr/>
                    <a:lstStyle/>
                    <a:p>
                      <a:pPr>
                        <a:buNone/>
                      </a:pPr>
                      <a:r>
                        <a:rPr lang="en-IN" sz="1800" dirty="0" err="1">
                          <a:latin typeface="Times New Roman" panose="02020603050405020304" pitchFamily="18" charset="0"/>
                          <a:cs typeface="Times New Roman" panose="02020603050405020304" pitchFamily="18" charset="0"/>
                        </a:rPr>
                        <a:t>PyTorch</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GPU acceleration for Whisper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3624220"/>
                  </a:ext>
                </a:extLst>
              </a:tr>
              <a:tr h="0">
                <a:tc>
                  <a:txBody>
                    <a:bodyPr/>
                    <a:lstStyle/>
                    <a:p>
                      <a:pPr>
                        <a:buNone/>
                      </a:pPr>
                      <a:r>
                        <a:rPr lang="en-IN" sz="1800" dirty="0" err="1">
                          <a:latin typeface="Times New Roman" panose="02020603050405020304" pitchFamily="18" charset="0"/>
                          <a:cs typeface="Times New Roman" panose="02020603050405020304" pitchFamily="18" charset="0"/>
                        </a:rPr>
                        <a:t>TorchAudio</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Audio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2978551"/>
                  </a:ext>
                </a:extLst>
              </a:tr>
              <a:tr h="0">
                <a:tc>
                  <a:txBody>
                    <a:bodyPr/>
                    <a:lstStyle/>
                    <a:p>
                      <a:pPr>
                        <a:buNone/>
                      </a:pPr>
                      <a:r>
                        <a:rPr lang="en-IN" sz="1800" dirty="0">
                          <a:latin typeface="Times New Roman" panose="02020603050405020304" pitchFamily="18" charset="0"/>
                          <a:cs typeface="Times New Roman" panose="02020603050405020304" pitchFamily="18" charset="0"/>
                        </a:rPr>
                        <a:t>Pyttsx3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Text-to-speech (Windows SAPI5)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294373"/>
                  </a:ext>
                </a:extLst>
              </a:tr>
            </a:tbl>
          </a:graphicData>
        </a:graphic>
      </p:graphicFrame>
    </p:spTree>
    <p:extLst>
      <p:ext uri="{BB962C8B-B14F-4D97-AF65-F5344CB8AC3E}">
        <p14:creationId xmlns:p14="http://schemas.microsoft.com/office/powerpoint/2010/main" val="2084791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A2C10-7914-119E-C958-9330DEBA2E53}"/>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69137603-3AC9-CC15-EE2B-EE1B8D2AFF2D}"/>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CAA4FA8B-20AF-1A8D-F6DE-7E1F978044D6}"/>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8190669F-47AE-950C-6369-ACC935CA81B6}"/>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7DACD17-093D-2FE5-C436-653F9C79F13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9FDEE8B-07D9-30B8-E6B7-BC17447A321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254F9B7D-C0E5-431B-B8C5-4B7C20729038}"/>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FE4FF6E2-0825-3606-8A1C-80D9310C4815}"/>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5FA788C9-EE11-55C1-99CD-7373FC3A270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EEB61629-9D98-88E4-49D4-8EC65EBA14D6}"/>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5" name="TextBox 14">
            <a:extLst>
              <a:ext uri="{FF2B5EF4-FFF2-40B4-BE49-F238E27FC236}">
                <a16:creationId xmlns:a16="http://schemas.microsoft.com/office/drawing/2014/main" id="{57BC3516-55AD-A554-13A1-FB55BB78202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3" name="TextBox 2">
            <a:extLst>
              <a:ext uri="{FF2B5EF4-FFF2-40B4-BE49-F238E27FC236}">
                <a16:creationId xmlns:a16="http://schemas.microsoft.com/office/drawing/2014/main" id="{FC1C77B3-0FE5-E169-03F5-1B86D25DB074}"/>
              </a:ext>
            </a:extLst>
          </p:cNvPr>
          <p:cNvSpPr txBox="1"/>
          <p:nvPr/>
        </p:nvSpPr>
        <p:spPr>
          <a:xfrm>
            <a:off x="115152" y="1076325"/>
            <a:ext cx="6142006" cy="369332"/>
          </a:xfrm>
          <a:prstGeom prst="rect">
            <a:avLst/>
          </a:prstGeom>
          <a:noFill/>
        </p:spPr>
        <p:txBody>
          <a:bodyPr wrap="square">
            <a:spAutoFit/>
          </a:bodyPr>
          <a:lstStyle>
            <a:defPPr>
              <a:defRPr lang="en-US"/>
            </a:defPPr>
            <a:lvl1pPr>
              <a:defRPr sz="2400" b="1">
                <a:latin typeface="Times New Roman" panose="02020603050405020304" pitchFamily="18" charset="0"/>
                <a:cs typeface="Times New Roman" panose="02020603050405020304" pitchFamily="18" charset="0"/>
              </a:defRPr>
            </a:lvl1pPr>
          </a:lstStyle>
          <a:p>
            <a:r>
              <a:rPr lang="en-IN" sz="1800" dirty="0"/>
              <a:t>[6] Pre-trained Models (Neural Networks)</a:t>
            </a:r>
          </a:p>
        </p:txBody>
      </p:sp>
      <p:graphicFrame>
        <p:nvGraphicFramePr>
          <p:cNvPr id="2" name="Table 1">
            <a:extLst>
              <a:ext uri="{FF2B5EF4-FFF2-40B4-BE49-F238E27FC236}">
                <a16:creationId xmlns:a16="http://schemas.microsoft.com/office/drawing/2014/main" id="{3F0E19CD-C44D-5B4F-751F-A757D88619AB}"/>
              </a:ext>
            </a:extLst>
          </p:cNvPr>
          <p:cNvGraphicFramePr>
            <a:graphicFrameLocks noGrp="1"/>
          </p:cNvGraphicFramePr>
          <p:nvPr>
            <p:extLst>
              <p:ext uri="{D42A27DB-BD31-4B8C-83A1-F6EECF244321}">
                <p14:modId xmlns:p14="http://schemas.microsoft.com/office/powerpoint/2010/main" val="2051941756"/>
              </p:ext>
            </p:extLst>
          </p:nvPr>
        </p:nvGraphicFramePr>
        <p:xfrm>
          <a:off x="115152" y="1652736"/>
          <a:ext cx="10515600" cy="1828800"/>
        </p:xfrm>
        <a:graphic>
          <a:graphicData uri="http://schemas.openxmlformats.org/drawingml/2006/table">
            <a:tbl>
              <a:tblPr/>
              <a:tblGrid>
                <a:gridCol w="2628900">
                  <a:extLst>
                    <a:ext uri="{9D8B030D-6E8A-4147-A177-3AD203B41FA5}">
                      <a16:colId xmlns:a16="http://schemas.microsoft.com/office/drawing/2014/main" val="1481964207"/>
                    </a:ext>
                  </a:extLst>
                </a:gridCol>
                <a:gridCol w="2628900">
                  <a:extLst>
                    <a:ext uri="{9D8B030D-6E8A-4147-A177-3AD203B41FA5}">
                      <a16:colId xmlns:a16="http://schemas.microsoft.com/office/drawing/2014/main" val="1383569903"/>
                    </a:ext>
                  </a:extLst>
                </a:gridCol>
                <a:gridCol w="3460497">
                  <a:extLst>
                    <a:ext uri="{9D8B030D-6E8A-4147-A177-3AD203B41FA5}">
                      <a16:colId xmlns:a16="http://schemas.microsoft.com/office/drawing/2014/main" val="2482180280"/>
                    </a:ext>
                  </a:extLst>
                </a:gridCol>
                <a:gridCol w="1797303">
                  <a:extLst>
                    <a:ext uri="{9D8B030D-6E8A-4147-A177-3AD203B41FA5}">
                      <a16:colId xmlns:a16="http://schemas.microsoft.com/office/drawing/2014/main" val="2775689951"/>
                    </a:ext>
                  </a:extLst>
                </a:gridCol>
              </a:tblGrid>
              <a:tr h="0">
                <a:tc>
                  <a:txBody>
                    <a:bodyPr/>
                    <a:lstStyle/>
                    <a:p>
                      <a:pPr>
                        <a:buNone/>
                      </a:pPr>
                      <a:r>
                        <a:rPr lang="en-IN" b="1"/>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Provider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3097080"/>
                  </a:ext>
                </a:extLst>
              </a:tr>
              <a:tr h="0">
                <a:tc>
                  <a:txBody>
                    <a:bodyPr/>
                    <a:lstStyle/>
                    <a:p>
                      <a:pPr>
                        <a:buNone/>
                      </a:pPr>
                      <a:r>
                        <a:rPr lang="en-IN" dirty="0"/>
                        <a:t>Whisper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Transformer ASR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Speech-to-text conversion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OpenAI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6595108"/>
                  </a:ext>
                </a:extLst>
              </a:tr>
              <a:tr h="0">
                <a:tc>
                  <a:txBody>
                    <a:bodyPr/>
                    <a:lstStyle/>
                    <a:p>
                      <a:pPr>
                        <a:buNone/>
                      </a:pPr>
                      <a:r>
                        <a:rPr lang="en-IN"/>
                        <a:t>PaddleOCR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CNN + RNN Ensemble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Text detection and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Baidu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0473757"/>
                  </a:ext>
                </a:extLst>
              </a:tr>
              <a:tr h="0">
                <a:tc>
                  <a:txBody>
                    <a:bodyPr/>
                    <a:lstStyle/>
                    <a:p>
                      <a:pPr>
                        <a:buNone/>
                      </a:pPr>
                      <a:r>
                        <a:rPr lang="en-IN" dirty="0" err="1"/>
                        <a:t>Ollama</a:t>
                      </a:r>
                      <a:r>
                        <a:rPr lang="en-IN" dirty="0"/>
                        <a:t> (Smollm2:135m)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Large Language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Intent classification and reasoning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Meta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722661"/>
                  </a:ext>
                </a:extLst>
              </a:tr>
              <a:tr h="0">
                <a:tc>
                  <a:txBody>
                    <a:bodyPr/>
                    <a:lstStyle/>
                    <a:p>
                      <a:pPr>
                        <a:buNone/>
                      </a:pPr>
                      <a:r>
                        <a:rPr lang="en-IN"/>
                        <a:t>pyttsx3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Text-to-Speech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Voice output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Built-in 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9550119"/>
                  </a:ext>
                </a:extLst>
              </a:tr>
            </a:tbl>
          </a:graphicData>
        </a:graphic>
      </p:graphicFrame>
      <p:graphicFrame>
        <p:nvGraphicFramePr>
          <p:cNvPr id="4" name="Table 3">
            <a:extLst>
              <a:ext uri="{FF2B5EF4-FFF2-40B4-BE49-F238E27FC236}">
                <a16:creationId xmlns:a16="http://schemas.microsoft.com/office/drawing/2014/main" id="{5495480D-A9DB-C1D1-F64D-2FB0FB00030A}"/>
              </a:ext>
            </a:extLst>
          </p:cNvPr>
          <p:cNvGraphicFramePr>
            <a:graphicFrameLocks noGrp="1"/>
          </p:cNvGraphicFramePr>
          <p:nvPr>
            <p:extLst>
              <p:ext uri="{D42A27DB-BD31-4B8C-83A1-F6EECF244321}">
                <p14:modId xmlns:p14="http://schemas.microsoft.com/office/powerpoint/2010/main" val="3613124005"/>
              </p:ext>
            </p:extLst>
          </p:nvPr>
        </p:nvGraphicFramePr>
        <p:xfrm>
          <a:off x="192789" y="4338757"/>
          <a:ext cx="10992813" cy="1463040"/>
        </p:xfrm>
        <a:graphic>
          <a:graphicData uri="http://schemas.openxmlformats.org/drawingml/2006/table">
            <a:tbl>
              <a:tblPr/>
              <a:tblGrid>
                <a:gridCol w="2728707">
                  <a:extLst>
                    <a:ext uri="{9D8B030D-6E8A-4147-A177-3AD203B41FA5}">
                      <a16:colId xmlns:a16="http://schemas.microsoft.com/office/drawing/2014/main" val="3124341488"/>
                    </a:ext>
                  </a:extLst>
                </a:gridCol>
                <a:gridCol w="2536167">
                  <a:extLst>
                    <a:ext uri="{9D8B030D-6E8A-4147-A177-3AD203B41FA5}">
                      <a16:colId xmlns:a16="http://schemas.microsoft.com/office/drawing/2014/main" val="2828403576"/>
                    </a:ext>
                  </a:extLst>
                </a:gridCol>
                <a:gridCol w="5727939">
                  <a:extLst>
                    <a:ext uri="{9D8B030D-6E8A-4147-A177-3AD203B41FA5}">
                      <a16:colId xmlns:a16="http://schemas.microsoft.com/office/drawing/2014/main" val="2049627099"/>
                    </a:ext>
                  </a:extLst>
                </a:gridCol>
              </a:tblGrid>
              <a:tr h="0">
                <a:tc>
                  <a:txBody>
                    <a:bodyPr/>
                    <a:lstStyle/>
                    <a:p>
                      <a:pPr>
                        <a:buNone/>
                      </a:pPr>
                      <a:r>
                        <a:rPr lang="en-IN" b="1" dirty="0"/>
                        <a:t>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0432883"/>
                  </a:ext>
                </a:extLst>
              </a:tr>
              <a:tr h="0">
                <a:tc>
                  <a:txBody>
                    <a:bodyPr/>
                    <a:lstStyle/>
                    <a:p>
                      <a:pPr>
                        <a:buNone/>
                      </a:pPr>
                      <a:r>
                        <a:rPr lang="en-IN" dirty="0"/>
                        <a:t>State Machine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Workflow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Multi-state flow (Dashboard → Scan/Print → Execution)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921579"/>
                  </a:ext>
                </a:extLst>
              </a:tr>
              <a:tr h="0">
                <a:tc>
                  <a:txBody>
                    <a:bodyPr/>
                    <a:lstStyle/>
                    <a:p>
                      <a:pPr>
                        <a:buNone/>
                      </a:pPr>
                      <a:r>
                        <a:rPr lang="en-IN"/>
                        <a:t>Voice-to-Intent Mapping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Command interpretation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Regex matching with LLM fallback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5253918"/>
                  </a:ext>
                </a:extLst>
              </a:tr>
              <a:tr h="0">
                <a:tc>
                  <a:txBody>
                    <a:bodyPr/>
                    <a:lstStyle/>
                    <a:p>
                      <a:pPr>
                        <a:buNone/>
                      </a:pPr>
                      <a:r>
                        <a:rPr lang="en-IN"/>
                        <a:t>Confidence Scoring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Command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Threshold-based acceptance of parsed commands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4689256"/>
                  </a:ext>
                </a:extLst>
              </a:tr>
            </a:tbl>
          </a:graphicData>
        </a:graphic>
      </p:graphicFrame>
      <p:sp>
        <p:nvSpPr>
          <p:cNvPr id="6" name="TextBox 5">
            <a:extLst>
              <a:ext uri="{FF2B5EF4-FFF2-40B4-BE49-F238E27FC236}">
                <a16:creationId xmlns:a16="http://schemas.microsoft.com/office/drawing/2014/main" id="{C7078065-5C10-8936-3DD5-22796D21822D}"/>
              </a:ext>
            </a:extLst>
          </p:cNvPr>
          <p:cNvSpPr txBox="1"/>
          <p:nvPr/>
        </p:nvSpPr>
        <p:spPr>
          <a:xfrm>
            <a:off x="192789" y="3832900"/>
            <a:ext cx="6189452" cy="369332"/>
          </a:xfrm>
          <a:prstGeom prst="rect">
            <a:avLst/>
          </a:prstGeom>
          <a:noFill/>
        </p:spPr>
        <p:txBody>
          <a:bodyPr wrap="square">
            <a:spAutoFit/>
          </a:bodyPr>
          <a:lstStyle>
            <a:defPPr>
              <a:defRPr lang="en-US"/>
            </a:defPPr>
            <a:lvl1pPr>
              <a:defRPr sz="2400" b="1">
                <a:latin typeface="Times New Roman" panose="02020603050405020304" pitchFamily="18" charset="0"/>
                <a:cs typeface="Times New Roman" panose="02020603050405020304" pitchFamily="18" charset="0"/>
              </a:defRPr>
            </a:lvl1pPr>
          </a:lstStyle>
          <a:p>
            <a:r>
              <a:rPr lang="en-IN" sz="1800" dirty="0"/>
              <a:t>[7] Techniques </a:t>
            </a:r>
          </a:p>
        </p:txBody>
      </p:sp>
    </p:spTree>
    <p:extLst>
      <p:ext uri="{BB962C8B-B14F-4D97-AF65-F5344CB8AC3E}">
        <p14:creationId xmlns:p14="http://schemas.microsoft.com/office/powerpoint/2010/main" val="2729184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15632-CCF0-DF7B-D6E0-64DD02A4D989}"/>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CE631C27-1340-6A47-1ED8-BC2F0DCC8215}"/>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D47FDD86-E1AA-D2D4-BB97-2E6234D3733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DE940313-95E5-EC43-1CF8-ED0D0B62BB92}"/>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120F7C16-E49D-AA15-9C96-856D0EB75EB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A93F2842-7D57-AA13-F7EF-A5881842F5B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82BAE212-97F0-59AD-5BBB-364563098850}"/>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FBFC3787-02E3-E5B0-E7C6-3443FF30B422}"/>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24E70A08-B698-C8A1-010C-9BAD393A258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43B9431-934D-DEA5-E5E4-F601705AD601}"/>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5" name="TextBox 14">
            <a:extLst>
              <a:ext uri="{FF2B5EF4-FFF2-40B4-BE49-F238E27FC236}">
                <a16:creationId xmlns:a16="http://schemas.microsoft.com/office/drawing/2014/main" id="{5C15224F-1516-1AF1-0FA2-A875E6A53B8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3" name="TextBox 2">
            <a:extLst>
              <a:ext uri="{FF2B5EF4-FFF2-40B4-BE49-F238E27FC236}">
                <a16:creationId xmlns:a16="http://schemas.microsoft.com/office/drawing/2014/main" id="{6A5D4170-9187-2417-F020-71DB83664BA8}"/>
              </a:ext>
            </a:extLst>
          </p:cNvPr>
          <p:cNvSpPr txBox="1"/>
          <p:nvPr/>
        </p:nvSpPr>
        <p:spPr>
          <a:xfrm>
            <a:off x="0" y="953750"/>
            <a:ext cx="614200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Algorithms:</a:t>
            </a:r>
            <a:endParaRPr lang="en-IN" sz="2400"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15CD42A-40BA-D5EA-F56B-B158B3699B93}"/>
              </a:ext>
            </a:extLst>
          </p:cNvPr>
          <p:cNvGraphicFramePr>
            <a:graphicFrameLocks noGrp="1"/>
          </p:cNvGraphicFramePr>
          <p:nvPr>
            <p:extLst>
              <p:ext uri="{D42A27DB-BD31-4B8C-83A1-F6EECF244321}">
                <p14:modId xmlns:p14="http://schemas.microsoft.com/office/powerpoint/2010/main" val="1769213747"/>
              </p:ext>
            </p:extLst>
          </p:nvPr>
        </p:nvGraphicFramePr>
        <p:xfrm>
          <a:off x="68457" y="1444906"/>
          <a:ext cx="11801492" cy="4206538"/>
        </p:xfrm>
        <a:graphic>
          <a:graphicData uri="http://schemas.openxmlformats.org/drawingml/2006/table">
            <a:tbl>
              <a:tblPr/>
              <a:tblGrid>
                <a:gridCol w="2950373">
                  <a:extLst>
                    <a:ext uri="{9D8B030D-6E8A-4147-A177-3AD203B41FA5}">
                      <a16:colId xmlns:a16="http://schemas.microsoft.com/office/drawing/2014/main" val="2156705871"/>
                    </a:ext>
                  </a:extLst>
                </a:gridCol>
                <a:gridCol w="2260536">
                  <a:extLst>
                    <a:ext uri="{9D8B030D-6E8A-4147-A177-3AD203B41FA5}">
                      <a16:colId xmlns:a16="http://schemas.microsoft.com/office/drawing/2014/main" val="3695221927"/>
                    </a:ext>
                  </a:extLst>
                </a:gridCol>
                <a:gridCol w="2993366">
                  <a:extLst>
                    <a:ext uri="{9D8B030D-6E8A-4147-A177-3AD203B41FA5}">
                      <a16:colId xmlns:a16="http://schemas.microsoft.com/office/drawing/2014/main" val="2646744570"/>
                    </a:ext>
                  </a:extLst>
                </a:gridCol>
                <a:gridCol w="3597217">
                  <a:extLst>
                    <a:ext uri="{9D8B030D-6E8A-4147-A177-3AD203B41FA5}">
                      <a16:colId xmlns:a16="http://schemas.microsoft.com/office/drawing/2014/main" val="3446879052"/>
                    </a:ext>
                  </a:extLst>
                </a:gridCol>
              </a:tblGrid>
              <a:tr h="295006">
                <a:tc>
                  <a:txBody>
                    <a:bodyPr/>
                    <a:lstStyle/>
                    <a:p>
                      <a:pPr>
                        <a:buNone/>
                      </a:pPr>
                      <a:r>
                        <a:rPr lang="en-IN" sz="1800" b="1">
                          <a:latin typeface="Times New Roman" panose="02020603050405020304" pitchFamily="18" charset="0"/>
                          <a:cs typeface="Times New Roman" panose="02020603050405020304" pitchFamily="18" charset="0"/>
                        </a:rPr>
                        <a:t>Algorithm</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latin typeface="Times New Roman" panose="02020603050405020304" pitchFamily="18" charset="0"/>
                          <a:cs typeface="Times New Roman" panose="02020603050405020304" pitchFamily="18" charset="0"/>
                        </a:rPr>
                        <a:t>Category</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latin typeface="Times New Roman" panose="02020603050405020304" pitchFamily="18" charset="0"/>
                          <a:cs typeface="Times New Roman" panose="02020603050405020304" pitchFamily="18" charset="0"/>
                        </a:rPr>
                        <a:t>Purpose</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How it Works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6743658"/>
                  </a:ext>
                </a:extLst>
              </a:tr>
              <a:tr h="737515">
                <a:tc>
                  <a:txBody>
                    <a:bodyPr/>
                    <a:lstStyle/>
                    <a:p>
                      <a:pPr>
                        <a:buNone/>
                      </a:pPr>
                      <a:r>
                        <a:rPr lang="en-IN" sz="1800" dirty="0">
                          <a:latin typeface="Times New Roman" panose="02020603050405020304" pitchFamily="18" charset="0"/>
                          <a:cs typeface="Times New Roman" panose="02020603050405020304" pitchFamily="18" charset="0"/>
                        </a:rPr>
                        <a:t>RMS Energy</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Signal Processing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Voice activity detection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Computes root mean square of audio signal energy</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9535887"/>
                  </a:ext>
                </a:extLst>
              </a:tr>
              <a:tr h="516260">
                <a:tc>
                  <a:txBody>
                    <a:bodyPr/>
                    <a:lstStyle/>
                    <a:p>
                      <a:pPr>
                        <a:buNone/>
                      </a:pPr>
                      <a:r>
                        <a:rPr lang="en-IN" sz="1800">
                          <a:latin typeface="Times New Roman" panose="02020603050405020304" pitchFamily="18" charset="0"/>
                          <a:cs typeface="Times New Roman" panose="02020603050405020304" pitchFamily="18" charset="0"/>
                        </a:rPr>
                        <a:t>Contour Detection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Computer Vision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Document boundary detection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Extracts object edge s using contour analysis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0391802"/>
                  </a:ext>
                </a:extLst>
              </a:tr>
              <a:tr h="737515">
                <a:tc>
                  <a:txBody>
                    <a:bodyPr/>
                    <a:lstStyle/>
                    <a:p>
                      <a:pPr>
                        <a:buNone/>
                      </a:pPr>
                      <a:r>
                        <a:rPr lang="en-IN" sz="1800">
                          <a:latin typeface="Times New Roman" panose="02020603050405020304" pitchFamily="18" charset="0"/>
                          <a:cs typeface="Times New Roman" panose="02020603050405020304" pitchFamily="18" charset="0"/>
                        </a:rPr>
                        <a:t>Perspective Transform</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Geometry</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Skew correction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Applies </a:t>
                      </a:r>
                      <a:r>
                        <a:rPr lang="en-IN" sz="1800" dirty="0" err="1">
                          <a:latin typeface="Times New Roman" panose="02020603050405020304" pitchFamily="18" charset="0"/>
                          <a:cs typeface="Times New Roman" panose="02020603050405020304" pitchFamily="18" charset="0"/>
                        </a:rPr>
                        <a:t>homography</a:t>
                      </a:r>
                      <a:r>
                        <a:rPr lang="en-IN" sz="1800" dirty="0">
                          <a:latin typeface="Times New Roman" panose="02020603050405020304" pitchFamily="18" charset="0"/>
                          <a:cs typeface="Times New Roman" panose="02020603050405020304" pitchFamily="18" charset="0"/>
                        </a:rPr>
                        <a:t> matrix for image alignment</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4305517"/>
                  </a:ext>
                </a:extLst>
              </a:tr>
              <a:tr h="516260">
                <a:tc>
                  <a:txBody>
                    <a:bodyPr/>
                    <a:lstStyle/>
                    <a:p>
                      <a:pPr>
                        <a:buNone/>
                      </a:pPr>
                      <a:r>
                        <a:rPr lang="en-IN" sz="1800">
                          <a:latin typeface="Times New Roman" panose="02020603050405020304" pitchFamily="18" charset="0"/>
                          <a:cs typeface="Times New Roman" panose="02020603050405020304" pitchFamily="18" charset="0"/>
                        </a:rPr>
                        <a:t>Histogram Equalization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Image Processing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Contrast enhancement</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Redistributes pixel intensity values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9422874"/>
                  </a:ext>
                </a:extLst>
              </a:tr>
              <a:tr h="516260">
                <a:tc>
                  <a:txBody>
                    <a:bodyPr/>
                    <a:lstStyle/>
                    <a:p>
                      <a:pPr>
                        <a:buNone/>
                      </a:pPr>
                      <a:r>
                        <a:rPr lang="en-IN" sz="1800">
                          <a:latin typeface="Times New Roman" panose="02020603050405020304" pitchFamily="18" charset="0"/>
                          <a:cs typeface="Times New Roman" panose="02020603050405020304" pitchFamily="18" charset="0"/>
                        </a:rPr>
                        <a:t>Regular Expression Matching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String Processing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Parameter extraction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Uses pattern matching for command parsing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7049274"/>
                  </a:ext>
                </a:extLst>
              </a:tr>
              <a:tr h="516260">
                <a:tc>
                  <a:txBody>
                    <a:bodyPr/>
                    <a:lstStyle/>
                    <a:p>
                      <a:pPr>
                        <a:buNone/>
                      </a:pPr>
                      <a:r>
                        <a:rPr lang="en-IN" sz="1800">
                          <a:latin typeface="Times New Roman" panose="02020603050405020304" pitchFamily="18" charset="0"/>
                          <a:cs typeface="Times New Roman" panose="02020603050405020304" pitchFamily="18" charset="0"/>
                        </a:rPr>
                        <a:t>Thresholding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Image Binarization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Black–white conversion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Converts grayscale image to binary using threshold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6483048"/>
                  </a:ext>
                </a:extLst>
              </a:tr>
            </a:tbl>
          </a:graphicData>
        </a:graphic>
      </p:graphicFrame>
    </p:spTree>
    <p:extLst>
      <p:ext uri="{BB962C8B-B14F-4D97-AF65-F5344CB8AC3E}">
        <p14:creationId xmlns:p14="http://schemas.microsoft.com/office/powerpoint/2010/main" val="3654015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1BAF3-F03C-65F1-FB5B-F0F40AD5DFCB}"/>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B554BFE9-3776-7E5E-80C2-8C1EF4231B31}"/>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0A8C4B49-8549-044D-28B5-78907C028D9F}"/>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34EBC4B2-40C0-FD8A-BA48-34CC46DE559D}"/>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D967D650-C085-D46B-9F22-6C1C23FC830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5A37655B-9EA9-169C-ACFB-DE8927A570C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104283FB-6BD2-CB31-6A36-2B2B85B635B5}"/>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753D1F67-8826-4625-15CC-1CFBA23E8CBC}"/>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38A1DCC3-59D8-5715-26A3-F3A5EF5F8B47}"/>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DFFFFC96-21D0-44FD-5F82-713E6DACA8FE}"/>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3" name="Title 1">
            <a:extLst>
              <a:ext uri="{FF2B5EF4-FFF2-40B4-BE49-F238E27FC236}">
                <a16:creationId xmlns:a16="http://schemas.microsoft.com/office/drawing/2014/main" id="{4153A75C-F5AE-2858-06EE-417B3370B3A2}"/>
              </a:ext>
            </a:extLst>
          </p:cNvPr>
          <p:cNvSpPr txBox="1">
            <a:spLocks/>
          </p:cNvSpPr>
          <p:nvPr/>
        </p:nvSpPr>
        <p:spPr>
          <a:xfrm>
            <a:off x="76201" y="888770"/>
            <a:ext cx="10131425" cy="44980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Document Processing Pipeline – 12 Steps with OCR</a:t>
            </a:r>
            <a:endParaRPr lang="en-IN" sz="28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1004CBE-7F56-4DCB-881A-2102E1A9ADE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pic>
        <p:nvPicPr>
          <p:cNvPr id="3" name="Picture 2">
            <a:extLst>
              <a:ext uri="{FF2B5EF4-FFF2-40B4-BE49-F238E27FC236}">
                <a16:creationId xmlns:a16="http://schemas.microsoft.com/office/drawing/2014/main" id="{D71536FE-68A6-8069-5476-F49970B1559D}"/>
              </a:ext>
            </a:extLst>
          </p:cNvPr>
          <p:cNvPicPr>
            <a:picLocks noChangeAspect="1"/>
          </p:cNvPicPr>
          <p:nvPr/>
        </p:nvPicPr>
        <p:blipFill>
          <a:blip r:embed="rId11"/>
          <a:srcRect t="3140"/>
          <a:stretch>
            <a:fillRect/>
          </a:stretch>
        </p:blipFill>
        <p:spPr>
          <a:xfrm>
            <a:off x="162311" y="1389606"/>
            <a:ext cx="9880006" cy="4921235"/>
          </a:xfrm>
          <a:prstGeom prst="rect">
            <a:avLst/>
          </a:prstGeom>
        </p:spPr>
      </p:pic>
    </p:spTree>
    <p:extLst>
      <p:ext uri="{BB962C8B-B14F-4D97-AF65-F5344CB8AC3E}">
        <p14:creationId xmlns:p14="http://schemas.microsoft.com/office/powerpoint/2010/main" val="624352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07544"/>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32680"/>
            <a:ext cx="12192000" cy="955522"/>
          </a:xfrm>
          <a:prstGeom prst="rect">
            <a:avLst/>
          </a:prstGeom>
        </p:spPr>
      </p:pic>
      <p:sp>
        <p:nvSpPr>
          <p:cNvPr id="13" name="Title 1">
            <a:extLst>
              <a:ext uri="{FF2B5EF4-FFF2-40B4-BE49-F238E27FC236}">
                <a16:creationId xmlns:a16="http://schemas.microsoft.com/office/drawing/2014/main" id="{787A2C97-B3E2-4F8C-45E5-BD2272CB744F}"/>
              </a:ext>
            </a:extLst>
          </p:cNvPr>
          <p:cNvSpPr txBox="1">
            <a:spLocks/>
          </p:cNvSpPr>
          <p:nvPr/>
        </p:nvSpPr>
        <p:spPr>
          <a:xfrm>
            <a:off x="76201" y="907710"/>
            <a:ext cx="10131425" cy="44980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Hardware Alternatives </a:t>
            </a:r>
            <a:endParaRPr lang="en-IN" sz="28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5D1BC90-E9DE-B719-98EE-51368B7A1C85}"/>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graphicFrame>
        <p:nvGraphicFramePr>
          <p:cNvPr id="17" name="Table 16">
            <a:extLst>
              <a:ext uri="{FF2B5EF4-FFF2-40B4-BE49-F238E27FC236}">
                <a16:creationId xmlns:a16="http://schemas.microsoft.com/office/drawing/2014/main" id="{BED866CE-8D1A-4623-86AD-452A76201BC6}"/>
              </a:ext>
            </a:extLst>
          </p:cNvPr>
          <p:cNvGraphicFramePr>
            <a:graphicFrameLocks noGrp="1"/>
          </p:cNvGraphicFramePr>
          <p:nvPr>
            <p:extLst>
              <p:ext uri="{D42A27DB-BD31-4B8C-83A1-F6EECF244321}">
                <p14:modId xmlns:p14="http://schemas.microsoft.com/office/powerpoint/2010/main" val="1343211331"/>
              </p:ext>
            </p:extLst>
          </p:nvPr>
        </p:nvGraphicFramePr>
        <p:xfrm>
          <a:off x="76200" y="1698140"/>
          <a:ext cx="11853528" cy="2185440"/>
        </p:xfrm>
        <a:graphic>
          <a:graphicData uri="http://schemas.openxmlformats.org/drawingml/2006/table">
            <a:tbl>
              <a:tblPr firstRow="1" bandCol="1">
                <a:tableStyleId>{5940675A-B579-460E-94D1-54222C63F5DA}</a:tableStyleId>
              </a:tblPr>
              <a:tblGrid>
                <a:gridCol w="1975588">
                  <a:extLst>
                    <a:ext uri="{9D8B030D-6E8A-4147-A177-3AD203B41FA5}">
                      <a16:colId xmlns:a16="http://schemas.microsoft.com/office/drawing/2014/main" val="3959388339"/>
                    </a:ext>
                  </a:extLst>
                </a:gridCol>
                <a:gridCol w="1975588">
                  <a:extLst>
                    <a:ext uri="{9D8B030D-6E8A-4147-A177-3AD203B41FA5}">
                      <a16:colId xmlns:a16="http://schemas.microsoft.com/office/drawing/2014/main" val="3727475506"/>
                    </a:ext>
                  </a:extLst>
                </a:gridCol>
                <a:gridCol w="1975588">
                  <a:extLst>
                    <a:ext uri="{9D8B030D-6E8A-4147-A177-3AD203B41FA5}">
                      <a16:colId xmlns:a16="http://schemas.microsoft.com/office/drawing/2014/main" val="2641746067"/>
                    </a:ext>
                  </a:extLst>
                </a:gridCol>
                <a:gridCol w="1975588">
                  <a:extLst>
                    <a:ext uri="{9D8B030D-6E8A-4147-A177-3AD203B41FA5}">
                      <a16:colId xmlns:a16="http://schemas.microsoft.com/office/drawing/2014/main" val="3709275870"/>
                    </a:ext>
                  </a:extLst>
                </a:gridCol>
                <a:gridCol w="1975588">
                  <a:extLst>
                    <a:ext uri="{9D8B030D-6E8A-4147-A177-3AD203B41FA5}">
                      <a16:colId xmlns:a16="http://schemas.microsoft.com/office/drawing/2014/main" val="3261511508"/>
                    </a:ext>
                  </a:extLst>
                </a:gridCol>
                <a:gridCol w="1975588">
                  <a:extLst>
                    <a:ext uri="{9D8B030D-6E8A-4147-A177-3AD203B41FA5}">
                      <a16:colId xmlns:a16="http://schemas.microsoft.com/office/drawing/2014/main" val="2890113037"/>
                    </a:ext>
                  </a:extLst>
                </a:gridCol>
              </a:tblGrid>
              <a:tr h="272496">
                <a:tc>
                  <a:txBody>
                    <a:bodyPr/>
                    <a:lstStyle/>
                    <a:p>
                      <a:r>
                        <a:rPr lang="en-US" sz="1400" b="1" dirty="0"/>
                        <a:t>Hardware</a:t>
                      </a:r>
                    </a:p>
                  </a:txBody>
                  <a:tcPr anchor="ctr"/>
                </a:tc>
                <a:tc>
                  <a:txBody>
                    <a:bodyPr/>
                    <a:lstStyle/>
                    <a:p>
                      <a:r>
                        <a:rPr lang="en-US" sz="1400" b="1"/>
                        <a:t>Example</a:t>
                      </a:r>
                    </a:p>
                  </a:txBody>
                  <a:tcPr anchor="ctr"/>
                </a:tc>
                <a:tc>
                  <a:txBody>
                    <a:bodyPr/>
                    <a:lstStyle/>
                    <a:p>
                      <a:r>
                        <a:rPr lang="en-US" sz="1400" b="1"/>
                        <a:t>CPU Speed</a:t>
                      </a:r>
                    </a:p>
                  </a:txBody>
                  <a:tcPr anchor="ctr"/>
                </a:tc>
                <a:tc>
                  <a:txBody>
                    <a:bodyPr/>
                    <a:lstStyle/>
                    <a:p>
                      <a:r>
                        <a:rPr lang="en-US" sz="1400" b="1" dirty="0"/>
                        <a:t>RAM</a:t>
                      </a:r>
                    </a:p>
                  </a:txBody>
                  <a:tcPr anchor="ctr"/>
                </a:tc>
                <a:tc>
                  <a:txBody>
                    <a:bodyPr/>
                    <a:lstStyle/>
                    <a:p>
                      <a:r>
                        <a:rPr lang="en-US" sz="1400" b="1" dirty="0"/>
                        <a:t>Power Use</a:t>
                      </a:r>
                    </a:p>
                  </a:txBody>
                  <a:tcPr anchor="ctr"/>
                </a:tc>
                <a:tc>
                  <a:txBody>
                    <a:bodyPr/>
                    <a:lstStyle/>
                    <a:p>
                      <a:r>
                        <a:rPr lang="en-US" sz="1400" b="1" dirty="0"/>
                        <a:t>Suitability</a:t>
                      </a:r>
                    </a:p>
                  </a:txBody>
                  <a:tcPr anchor="ctr"/>
                </a:tc>
                <a:extLst>
                  <a:ext uri="{0D108BD9-81ED-4DB2-BD59-A6C34878D82A}">
                    <a16:rowId xmlns:a16="http://schemas.microsoft.com/office/drawing/2014/main" val="3843312839"/>
                  </a:ext>
                </a:extLst>
              </a:tr>
              <a:tr h="476868">
                <a:tc>
                  <a:txBody>
                    <a:bodyPr/>
                    <a:lstStyle/>
                    <a:p>
                      <a:r>
                        <a:rPr lang="en-US" sz="1400" dirty="0"/>
                        <a:t>Desktop PC</a:t>
                      </a:r>
                    </a:p>
                  </a:txBody>
                  <a:tcPr anchor="ctr"/>
                </a:tc>
                <a:tc>
                  <a:txBody>
                    <a:bodyPr/>
                    <a:lstStyle/>
                    <a:p>
                      <a:r>
                        <a:rPr lang="en-US" sz="1400" dirty="0"/>
                        <a:t>Intel i5/i7 Gen 10+</a:t>
                      </a:r>
                    </a:p>
                  </a:txBody>
                  <a:tcPr anchor="ctr"/>
                </a:tc>
                <a:tc>
                  <a:txBody>
                    <a:bodyPr/>
                    <a:lstStyle/>
                    <a:p>
                      <a:r>
                        <a:rPr lang="en-US" sz="1400"/>
                        <a:t>2.5–4.2 GHz</a:t>
                      </a:r>
                    </a:p>
                  </a:txBody>
                  <a:tcPr anchor="ctr"/>
                </a:tc>
                <a:tc>
                  <a:txBody>
                    <a:bodyPr/>
                    <a:lstStyle/>
                    <a:p>
                      <a:r>
                        <a:rPr lang="en-US" sz="1400"/>
                        <a:t>8–32 GB</a:t>
                      </a:r>
                    </a:p>
                  </a:txBody>
                  <a:tcPr anchor="ctr"/>
                </a:tc>
                <a:tc>
                  <a:txBody>
                    <a:bodyPr/>
                    <a:lstStyle/>
                    <a:p>
                      <a:r>
                        <a:rPr lang="en-US" sz="1400"/>
                        <a:t>150–300W</a:t>
                      </a:r>
                    </a:p>
                  </a:txBody>
                  <a:tcPr anchor="ctr"/>
                </a:tc>
                <a:tc>
                  <a:txBody>
                    <a:bodyPr/>
                    <a:lstStyle/>
                    <a:p>
                      <a:r>
                        <a:rPr lang="en-US" sz="1400" dirty="0"/>
                        <a:t>Best for full OCR + dashboard</a:t>
                      </a:r>
                    </a:p>
                  </a:txBody>
                  <a:tcPr anchor="ctr"/>
                </a:tc>
                <a:extLst>
                  <a:ext uri="{0D108BD9-81ED-4DB2-BD59-A6C34878D82A}">
                    <a16:rowId xmlns:a16="http://schemas.microsoft.com/office/drawing/2014/main" val="4022575334"/>
                  </a:ext>
                </a:extLst>
              </a:tr>
              <a:tr h="681240">
                <a:tc>
                  <a:txBody>
                    <a:bodyPr/>
                    <a:lstStyle/>
                    <a:p>
                      <a:r>
                        <a:rPr lang="en-US" sz="1400"/>
                        <a:t>Mini PC</a:t>
                      </a:r>
                    </a:p>
                  </a:txBody>
                  <a:tcPr anchor="ctr"/>
                </a:tc>
                <a:tc>
                  <a:txBody>
                    <a:bodyPr/>
                    <a:lstStyle/>
                    <a:p>
                      <a:r>
                        <a:rPr lang="en-US" sz="1400" dirty="0"/>
                        <a:t>Intel NUC / </a:t>
                      </a:r>
                      <a:r>
                        <a:rPr lang="en-US" sz="1400" dirty="0" err="1"/>
                        <a:t>Beelink</a:t>
                      </a:r>
                      <a:endParaRPr lang="en-US" sz="1400" dirty="0"/>
                    </a:p>
                  </a:txBody>
                  <a:tcPr anchor="ctr"/>
                </a:tc>
                <a:tc>
                  <a:txBody>
                    <a:bodyPr/>
                    <a:lstStyle/>
                    <a:p>
                      <a:r>
                        <a:rPr lang="en-US" sz="1400" dirty="0"/>
                        <a:t>1.8–3.5 GHz</a:t>
                      </a:r>
                    </a:p>
                  </a:txBody>
                  <a:tcPr anchor="ctr"/>
                </a:tc>
                <a:tc>
                  <a:txBody>
                    <a:bodyPr/>
                    <a:lstStyle/>
                    <a:p>
                      <a:r>
                        <a:rPr lang="en-US" sz="1400"/>
                        <a:t>4–16 GB</a:t>
                      </a:r>
                    </a:p>
                  </a:txBody>
                  <a:tcPr anchor="ctr"/>
                </a:tc>
                <a:tc>
                  <a:txBody>
                    <a:bodyPr/>
                    <a:lstStyle/>
                    <a:p>
                      <a:r>
                        <a:rPr lang="en-US" sz="1400"/>
                        <a:t>30–90W</a:t>
                      </a:r>
                    </a:p>
                  </a:txBody>
                  <a:tcPr anchor="ctr"/>
                </a:tc>
                <a:tc>
                  <a:txBody>
                    <a:bodyPr/>
                    <a:lstStyle/>
                    <a:p>
                      <a:r>
                        <a:rPr lang="en-US" sz="1400" dirty="0"/>
                        <a:t> Ideal for lightweight processing</a:t>
                      </a:r>
                    </a:p>
                  </a:txBody>
                  <a:tcPr anchor="ctr"/>
                </a:tc>
                <a:extLst>
                  <a:ext uri="{0D108BD9-81ED-4DB2-BD59-A6C34878D82A}">
                    <a16:rowId xmlns:a16="http://schemas.microsoft.com/office/drawing/2014/main" val="3374268604"/>
                  </a:ext>
                </a:extLst>
              </a:tr>
              <a:tr h="681240">
                <a:tc>
                  <a:txBody>
                    <a:bodyPr/>
                    <a:lstStyle/>
                    <a:p>
                      <a:r>
                        <a:rPr lang="en-US" sz="1400"/>
                        <a:t>Embedded SBC</a:t>
                      </a:r>
                    </a:p>
                  </a:txBody>
                  <a:tcPr anchor="ctr"/>
                </a:tc>
                <a:tc>
                  <a:txBody>
                    <a:bodyPr/>
                    <a:lstStyle/>
                    <a:p>
                      <a:r>
                        <a:rPr lang="en-US" sz="1400" dirty="0"/>
                        <a:t>Raspberry Pi 5</a:t>
                      </a:r>
                    </a:p>
                  </a:txBody>
                  <a:tcPr anchor="ctr"/>
                </a:tc>
                <a:tc>
                  <a:txBody>
                    <a:bodyPr/>
                    <a:lstStyle/>
                    <a:p>
                      <a:r>
                        <a:rPr lang="en-US" sz="1400"/>
                        <a:t>2.4 GHz (Quad)</a:t>
                      </a:r>
                    </a:p>
                  </a:txBody>
                  <a:tcPr anchor="ctr"/>
                </a:tc>
                <a:tc>
                  <a:txBody>
                    <a:bodyPr/>
                    <a:lstStyle/>
                    <a:p>
                      <a:r>
                        <a:rPr lang="en-US" sz="1400" dirty="0"/>
                        <a:t>8 GB</a:t>
                      </a:r>
                    </a:p>
                  </a:txBody>
                  <a:tcPr anchor="ctr"/>
                </a:tc>
                <a:tc>
                  <a:txBody>
                    <a:bodyPr/>
                    <a:lstStyle/>
                    <a:p>
                      <a:r>
                        <a:rPr lang="en-US" sz="1400" dirty="0"/>
                        <a:t>~10W</a:t>
                      </a:r>
                    </a:p>
                  </a:txBody>
                  <a:tcPr anchor="ctr"/>
                </a:tc>
                <a:tc>
                  <a:txBody>
                    <a:bodyPr/>
                    <a:lstStyle/>
                    <a:p>
                      <a:r>
                        <a:rPr lang="en-US" sz="1400" dirty="0"/>
                        <a:t> Slower OCR (~1.5–2× longer tasks)</a:t>
                      </a:r>
                    </a:p>
                  </a:txBody>
                  <a:tcPr anchor="ctr"/>
                </a:tc>
                <a:extLst>
                  <a:ext uri="{0D108BD9-81ED-4DB2-BD59-A6C34878D82A}">
                    <a16:rowId xmlns:a16="http://schemas.microsoft.com/office/drawing/2014/main" val="3115641571"/>
                  </a:ext>
                </a:extLst>
              </a:tr>
            </a:tbl>
          </a:graphicData>
        </a:graphic>
      </p:graphicFrame>
      <p:graphicFrame>
        <p:nvGraphicFramePr>
          <p:cNvPr id="23" name="Table 22">
            <a:extLst>
              <a:ext uri="{FF2B5EF4-FFF2-40B4-BE49-F238E27FC236}">
                <a16:creationId xmlns:a16="http://schemas.microsoft.com/office/drawing/2014/main" id="{2B7F1488-E69C-4056-9696-EBCDC945F038}"/>
              </a:ext>
            </a:extLst>
          </p:cNvPr>
          <p:cNvGraphicFramePr>
            <a:graphicFrameLocks noGrp="1"/>
          </p:cNvGraphicFramePr>
          <p:nvPr>
            <p:extLst>
              <p:ext uri="{D42A27DB-BD31-4B8C-83A1-F6EECF244321}">
                <p14:modId xmlns:p14="http://schemas.microsoft.com/office/powerpoint/2010/main" val="1122062827"/>
              </p:ext>
            </p:extLst>
          </p:nvPr>
        </p:nvGraphicFramePr>
        <p:xfrm>
          <a:off x="76200" y="4324766"/>
          <a:ext cx="11853528" cy="1645920"/>
        </p:xfrm>
        <a:graphic>
          <a:graphicData uri="http://schemas.openxmlformats.org/drawingml/2006/table">
            <a:tbl>
              <a:tblPr>
                <a:tableStyleId>{5940675A-B579-460E-94D1-54222C63F5DA}</a:tableStyleId>
              </a:tblPr>
              <a:tblGrid>
                <a:gridCol w="1975588">
                  <a:extLst>
                    <a:ext uri="{9D8B030D-6E8A-4147-A177-3AD203B41FA5}">
                      <a16:colId xmlns:a16="http://schemas.microsoft.com/office/drawing/2014/main" val="2697102025"/>
                    </a:ext>
                  </a:extLst>
                </a:gridCol>
                <a:gridCol w="1975588">
                  <a:extLst>
                    <a:ext uri="{9D8B030D-6E8A-4147-A177-3AD203B41FA5}">
                      <a16:colId xmlns:a16="http://schemas.microsoft.com/office/drawing/2014/main" val="2007913643"/>
                    </a:ext>
                  </a:extLst>
                </a:gridCol>
                <a:gridCol w="1975588">
                  <a:extLst>
                    <a:ext uri="{9D8B030D-6E8A-4147-A177-3AD203B41FA5}">
                      <a16:colId xmlns:a16="http://schemas.microsoft.com/office/drawing/2014/main" val="2150402822"/>
                    </a:ext>
                  </a:extLst>
                </a:gridCol>
                <a:gridCol w="1975588">
                  <a:extLst>
                    <a:ext uri="{9D8B030D-6E8A-4147-A177-3AD203B41FA5}">
                      <a16:colId xmlns:a16="http://schemas.microsoft.com/office/drawing/2014/main" val="26548083"/>
                    </a:ext>
                  </a:extLst>
                </a:gridCol>
                <a:gridCol w="1975588">
                  <a:extLst>
                    <a:ext uri="{9D8B030D-6E8A-4147-A177-3AD203B41FA5}">
                      <a16:colId xmlns:a16="http://schemas.microsoft.com/office/drawing/2014/main" val="522851249"/>
                    </a:ext>
                  </a:extLst>
                </a:gridCol>
                <a:gridCol w="1975588">
                  <a:extLst>
                    <a:ext uri="{9D8B030D-6E8A-4147-A177-3AD203B41FA5}">
                      <a16:colId xmlns:a16="http://schemas.microsoft.com/office/drawing/2014/main" val="687773621"/>
                    </a:ext>
                  </a:extLst>
                </a:gridCol>
              </a:tblGrid>
              <a:tr h="0">
                <a:tc>
                  <a:txBody>
                    <a:bodyPr/>
                    <a:lstStyle/>
                    <a:p>
                      <a:r>
                        <a:rPr lang="en-US" sz="1400" b="1"/>
                        <a:t>Device Type</a:t>
                      </a:r>
                    </a:p>
                  </a:txBody>
                  <a:tcPr anchor="ctr"/>
                </a:tc>
                <a:tc>
                  <a:txBody>
                    <a:bodyPr/>
                    <a:lstStyle/>
                    <a:p>
                      <a:r>
                        <a:rPr lang="en-US" sz="1400" b="1"/>
                        <a:t>CPU &amp; RAM Example</a:t>
                      </a:r>
                    </a:p>
                  </a:txBody>
                  <a:tcPr anchor="ctr"/>
                </a:tc>
                <a:tc>
                  <a:txBody>
                    <a:bodyPr/>
                    <a:lstStyle/>
                    <a:p>
                      <a:r>
                        <a:rPr lang="en-US" sz="1400" b="1"/>
                        <a:t>Capture Speed</a:t>
                      </a:r>
                    </a:p>
                  </a:txBody>
                  <a:tcPr anchor="ctr"/>
                </a:tc>
                <a:tc>
                  <a:txBody>
                    <a:bodyPr/>
                    <a:lstStyle/>
                    <a:p>
                      <a:r>
                        <a:rPr lang="en-US" sz="1400" b="1" dirty="0"/>
                        <a:t>Processing Time</a:t>
                      </a:r>
                    </a:p>
                  </a:txBody>
                  <a:tcPr anchor="ctr"/>
                </a:tc>
                <a:tc>
                  <a:txBody>
                    <a:bodyPr/>
                    <a:lstStyle/>
                    <a:p>
                      <a:r>
                        <a:rPr lang="en-US" sz="1400" b="1" dirty="0"/>
                        <a:t>Offline Sync</a:t>
                      </a:r>
                    </a:p>
                  </a:txBody>
                  <a:tcPr anchor="ctr"/>
                </a:tc>
                <a:tc>
                  <a:txBody>
                    <a:bodyPr/>
                    <a:lstStyle/>
                    <a:p>
                      <a:r>
                        <a:rPr lang="en-US" sz="1400" b="1" dirty="0"/>
                        <a:t>Suitability</a:t>
                      </a:r>
                    </a:p>
                  </a:txBody>
                  <a:tcPr anchor="ctr"/>
                </a:tc>
                <a:extLst>
                  <a:ext uri="{0D108BD9-81ED-4DB2-BD59-A6C34878D82A}">
                    <a16:rowId xmlns:a16="http://schemas.microsoft.com/office/drawing/2014/main" val="1549779028"/>
                  </a:ext>
                </a:extLst>
              </a:tr>
              <a:tr h="0">
                <a:tc>
                  <a:txBody>
                    <a:bodyPr/>
                    <a:lstStyle/>
                    <a:p>
                      <a:r>
                        <a:rPr lang="en-US" sz="1400"/>
                        <a:t>Modern Android</a:t>
                      </a:r>
                    </a:p>
                  </a:txBody>
                  <a:tcPr anchor="ctr"/>
                </a:tc>
                <a:tc>
                  <a:txBody>
                    <a:bodyPr/>
                    <a:lstStyle/>
                    <a:p>
                      <a:r>
                        <a:rPr lang="en-US" sz="1400" dirty="0"/>
                        <a:t>Snapdragon 778g / 6–8 GB</a:t>
                      </a:r>
                    </a:p>
                  </a:txBody>
                  <a:tcPr anchor="ctr"/>
                </a:tc>
                <a:tc>
                  <a:txBody>
                    <a:bodyPr/>
                    <a:lstStyle/>
                    <a:p>
                      <a:r>
                        <a:rPr lang="en-US" sz="1400"/>
                        <a:t>&lt;100 ms/photo</a:t>
                      </a:r>
                    </a:p>
                  </a:txBody>
                  <a:tcPr anchor="ctr"/>
                </a:tc>
                <a:tc>
                  <a:txBody>
                    <a:bodyPr/>
                    <a:lstStyle/>
                    <a:p>
                      <a:r>
                        <a:rPr lang="en-US" sz="1400" dirty="0"/>
                        <a:t>~1–2 s/document</a:t>
                      </a:r>
                    </a:p>
                  </a:txBody>
                  <a:tcPr anchor="ctr"/>
                </a:tc>
                <a:tc>
                  <a:txBody>
                    <a:bodyPr/>
                    <a:lstStyle/>
                    <a:p>
                      <a:r>
                        <a:rPr lang="en-US" sz="1400" dirty="0"/>
                        <a:t> via Wi-Fi Direct</a:t>
                      </a:r>
                    </a:p>
                  </a:txBody>
                  <a:tcPr anchor="ctr"/>
                </a:tc>
                <a:tc>
                  <a:txBody>
                    <a:bodyPr/>
                    <a:lstStyle/>
                    <a:p>
                      <a:r>
                        <a:rPr lang="en-US" sz="1400" dirty="0"/>
                        <a:t>Excellent for mobile capture</a:t>
                      </a:r>
                    </a:p>
                  </a:txBody>
                  <a:tcPr anchor="ctr"/>
                </a:tc>
                <a:extLst>
                  <a:ext uri="{0D108BD9-81ED-4DB2-BD59-A6C34878D82A}">
                    <a16:rowId xmlns:a16="http://schemas.microsoft.com/office/drawing/2014/main" val="4293752894"/>
                  </a:ext>
                </a:extLst>
              </a:tr>
              <a:tr h="0">
                <a:tc>
                  <a:txBody>
                    <a:bodyPr/>
                    <a:lstStyle/>
                    <a:p>
                      <a:r>
                        <a:rPr lang="en-US" sz="1400"/>
                        <a:t>Mid-range Phone</a:t>
                      </a:r>
                    </a:p>
                  </a:txBody>
                  <a:tcPr anchor="ctr"/>
                </a:tc>
                <a:tc>
                  <a:txBody>
                    <a:bodyPr/>
                    <a:lstStyle/>
                    <a:p>
                      <a:r>
                        <a:rPr lang="en-US" sz="1400" dirty="0" err="1"/>
                        <a:t>Helio</a:t>
                      </a:r>
                      <a:r>
                        <a:rPr lang="en-US" sz="1400" dirty="0"/>
                        <a:t> G85 / 4 GB</a:t>
                      </a:r>
                    </a:p>
                  </a:txBody>
                  <a:tcPr anchor="ctr"/>
                </a:tc>
                <a:tc>
                  <a:txBody>
                    <a:bodyPr/>
                    <a:lstStyle/>
                    <a:p>
                      <a:r>
                        <a:rPr lang="en-US" sz="1400" dirty="0"/>
                        <a:t>200–300 </a:t>
                      </a:r>
                      <a:r>
                        <a:rPr lang="en-US" sz="1400" dirty="0" err="1"/>
                        <a:t>ms</a:t>
                      </a:r>
                      <a:r>
                        <a:rPr lang="en-US" sz="1400" dirty="0"/>
                        <a:t>/photo</a:t>
                      </a:r>
                    </a:p>
                  </a:txBody>
                  <a:tcPr anchor="ctr"/>
                </a:tc>
                <a:tc>
                  <a:txBody>
                    <a:bodyPr/>
                    <a:lstStyle/>
                    <a:p>
                      <a:r>
                        <a:rPr lang="en-US" sz="1400"/>
                        <a:t>~3–5 s/document</a:t>
                      </a:r>
                    </a:p>
                  </a:txBody>
                  <a:tcPr anchor="ctr"/>
                </a:tc>
                <a:tc>
                  <a:txBody>
                    <a:bodyPr/>
                    <a:lstStyle/>
                    <a:p>
                      <a:r>
                        <a:rPr lang="en-US" sz="1400" dirty="0"/>
                        <a:t> Inconsistent</a:t>
                      </a:r>
                    </a:p>
                  </a:txBody>
                  <a:tcPr anchor="ctr"/>
                </a:tc>
                <a:tc>
                  <a:txBody>
                    <a:bodyPr/>
                    <a:lstStyle/>
                    <a:p>
                      <a:r>
                        <a:rPr lang="en-US" sz="1400" dirty="0"/>
                        <a:t>OK for scanning, not processing</a:t>
                      </a:r>
                    </a:p>
                  </a:txBody>
                  <a:tcPr anchor="ctr"/>
                </a:tc>
                <a:extLst>
                  <a:ext uri="{0D108BD9-81ED-4DB2-BD59-A6C34878D82A}">
                    <a16:rowId xmlns:a16="http://schemas.microsoft.com/office/drawing/2014/main" val="3920324036"/>
                  </a:ext>
                </a:extLst>
              </a:tr>
              <a:tr h="0">
                <a:tc>
                  <a:txBody>
                    <a:bodyPr/>
                    <a:lstStyle/>
                    <a:p>
                      <a:r>
                        <a:rPr lang="en-US" sz="1400"/>
                        <a:t>Embedded Cam + MCU</a:t>
                      </a:r>
                    </a:p>
                  </a:txBody>
                  <a:tcPr anchor="ctr"/>
                </a:tc>
                <a:tc>
                  <a:txBody>
                    <a:bodyPr/>
                    <a:lstStyle/>
                    <a:p>
                      <a:r>
                        <a:rPr lang="en-US" sz="1400" dirty="0"/>
                        <a:t>Raspberry Pi + Pi Cam</a:t>
                      </a:r>
                    </a:p>
                  </a:txBody>
                  <a:tcPr anchor="ctr"/>
                </a:tc>
                <a:tc>
                  <a:txBody>
                    <a:bodyPr/>
                    <a:lstStyle/>
                    <a:p>
                      <a:r>
                        <a:rPr lang="en-US" sz="1400" dirty="0"/>
                        <a:t>500+ </a:t>
                      </a:r>
                      <a:r>
                        <a:rPr lang="en-US" sz="1400" dirty="0" err="1"/>
                        <a:t>ms</a:t>
                      </a:r>
                      <a:r>
                        <a:rPr lang="en-US" sz="1400" dirty="0"/>
                        <a:t>/photo</a:t>
                      </a:r>
                    </a:p>
                  </a:txBody>
                  <a:tcPr anchor="ctr"/>
                </a:tc>
                <a:tc>
                  <a:txBody>
                    <a:bodyPr/>
                    <a:lstStyle/>
                    <a:p>
                      <a:r>
                        <a:rPr lang="en-US" sz="1400"/>
                        <a:t>6–10 s/document</a:t>
                      </a:r>
                    </a:p>
                  </a:txBody>
                  <a:tcPr anchor="ctr"/>
                </a:tc>
                <a:tc>
                  <a:txBody>
                    <a:bodyPr/>
                    <a:lstStyle/>
                    <a:p>
                      <a:r>
                        <a:rPr lang="en-US" sz="1400" dirty="0"/>
                        <a:t> Limited Support</a:t>
                      </a:r>
                    </a:p>
                  </a:txBody>
                  <a:tcPr anchor="ctr"/>
                </a:tc>
                <a:tc>
                  <a:txBody>
                    <a:bodyPr/>
                    <a:lstStyle/>
                    <a:p>
                      <a:r>
                        <a:rPr lang="en-US" sz="1400" dirty="0"/>
                        <a:t>Only for basic imaging</a:t>
                      </a:r>
                    </a:p>
                  </a:txBody>
                  <a:tcPr anchor="ctr"/>
                </a:tc>
                <a:extLst>
                  <a:ext uri="{0D108BD9-81ED-4DB2-BD59-A6C34878D82A}">
                    <a16:rowId xmlns:a16="http://schemas.microsoft.com/office/drawing/2014/main" val="599440381"/>
                  </a:ext>
                </a:extLst>
              </a:tr>
            </a:tbl>
          </a:graphicData>
        </a:graphic>
      </p:graphicFrame>
      <p:sp>
        <p:nvSpPr>
          <p:cNvPr id="31" name="TextBox 30">
            <a:extLst>
              <a:ext uri="{FF2B5EF4-FFF2-40B4-BE49-F238E27FC236}">
                <a16:creationId xmlns:a16="http://schemas.microsoft.com/office/drawing/2014/main" id="{DB537288-D81C-4816-B784-4E71D7DE35BC}"/>
              </a:ext>
            </a:extLst>
          </p:cNvPr>
          <p:cNvSpPr txBox="1"/>
          <p:nvPr/>
        </p:nvSpPr>
        <p:spPr>
          <a:xfrm>
            <a:off x="76200" y="1309374"/>
            <a:ext cx="256244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For the PC</a:t>
            </a:r>
          </a:p>
        </p:txBody>
      </p:sp>
      <p:sp>
        <p:nvSpPr>
          <p:cNvPr id="32" name="TextBox 31">
            <a:extLst>
              <a:ext uri="{FF2B5EF4-FFF2-40B4-BE49-F238E27FC236}">
                <a16:creationId xmlns:a16="http://schemas.microsoft.com/office/drawing/2014/main" id="{CD3859E8-B4D1-42BA-B0E7-9638FF2F276F}"/>
              </a:ext>
            </a:extLst>
          </p:cNvPr>
          <p:cNvSpPr txBox="1"/>
          <p:nvPr/>
        </p:nvSpPr>
        <p:spPr>
          <a:xfrm>
            <a:off x="76199" y="3929070"/>
            <a:ext cx="256244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For the Smartphone</a:t>
            </a:r>
          </a:p>
        </p:txBody>
      </p:sp>
    </p:spTree>
    <p:extLst>
      <p:ext uri="{BB962C8B-B14F-4D97-AF65-F5344CB8AC3E}">
        <p14:creationId xmlns:p14="http://schemas.microsoft.com/office/powerpoint/2010/main" val="769594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itle 1">
            <a:extLst>
              <a:ext uri="{FF2B5EF4-FFF2-40B4-BE49-F238E27FC236}">
                <a16:creationId xmlns:a16="http://schemas.microsoft.com/office/drawing/2014/main" id="{1D36840D-6C0C-AE4D-5E8A-7ACE3C9FAF31}"/>
              </a:ext>
            </a:extLst>
          </p:cNvPr>
          <p:cNvSpPr txBox="1">
            <a:spLocks/>
          </p:cNvSpPr>
          <p:nvPr/>
        </p:nvSpPr>
        <p:spPr>
          <a:xfrm>
            <a:off x="76201" y="987661"/>
            <a:ext cx="10131425" cy="44980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SYSTEM REQUIREMENTS</a:t>
            </a:r>
            <a:endParaRPr lang="en-IN" sz="2800" b="1"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72119B1C-4C20-3F31-77AD-8CC76A352112}"/>
              </a:ext>
            </a:extLst>
          </p:cNvPr>
          <p:cNvSpPr txBox="1">
            <a:spLocks/>
          </p:cNvSpPr>
          <p:nvPr/>
        </p:nvSpPr>
        <p:spPr>
          <a:xfrm>
            <a:off x="129767" y="1437466"/>
            <a:ext cx="11932465" cy="547877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Hardware Requirements</a:t>
            </a:r>
          </a:p>
          <a:p>
            <a:pPr algn="just">
              <a:lnSpc>
                <a:spcPct val="100000"/>
              </a:lnSpc>
            </a:pPr>
            <a:r>
              <a:rPr lang="en-IN" sz="1600" b="1" dirty="0">
                <a:latin typeface="Times New Roman" panose="02020603050405020304" pitchFamily="18" charset="0"/>
                <a:cs typeface="Times New Roman" panose="02020603050405020304" pitchFamily="18" charset="0"/>
              </a:rPr>
              <a:t>Mobile Device: </a:t>
            </a:r>
            <a:r>
              <a:rPr lang="en-IN" sz="1600" dirty="0">
                <a:latin typeface="Times New Roman" panose="02020603050405020304" pitchFamily="18" charset="0"/>
                <a:cs typeface="Times New Roman" panose="02020603050405020304" pitchFamily="18" charset="0"/>
              </a:rPr>
              <a:t>Smartphone or tablet with camera and Wi-Fi capabilities for document capture and wireless communication.</a:t>
            </a:r>
          </a:p>
          <a:p>
            <a:pPr algn="just">
              <a:lnSpc>
                <a:spcPct val="100000"/>
              </a:lnSpc>
            </a:pPr>
            <a:r>
              <a:rPr lang="en-IN" sz="1600" b="1" dirty="0">
                <a:latin typeface="Times New Roman" panose="02020603050405020304" pitchFamily="18" charset="0"/>
                <a:cs typeface="Times New Roman" panose="02020603050405020304" pitchFamily="18" charset="0"/>
              </a:rPr>
              <a:t>PC/Desktop: </a:t>
            </a:r>
            <a:r>
              <a:rPr lang="en-IN" sz="1600" dirty="0">
                <a:latin typeface="Times New Roman" panose="02020603050405020304" pitchFamily="18" charset="0"/>
                <a:cs typeface="Times New Roman" panose="02020603050405020304" pitchFamily="18" charset="0"/>
              </a:rPr>
              <a:t>Windows-based computer for processing, synchronization, and managing captured documents.</a:t>
            </a:r>
          </a:p>
          <a:p>
            <a:pPr algn="just">
              <a:lnSpc>
                <a:spcPct val="100000"/>
              </a:lnSpc>
            </a:pPr>
            <a:r>
              <a:rPr lang="en-IN" sz="1600" b="1" dirty="0">
                <a:latin typeface="Times New Roman" panose="02020603050405020304" pitchFamily="18" charset="0"/>
                <a:cs typeface="Times New Roman" panose="02020603050405020304" pitchFamily="18" charset="0"/>
              </a:rPr>
              <a:t>Printer: </a:t>
            </a:r>
            <a:r>
              <a:rPr lang="en-IN" sz="1600" dirty="0">
                <a:latin typeface="Times New Roman" panose="02020603050405020304" pitchFamily="18" charset="0"/>
                <a:cs typeface="Times New Roman" panose="02020603050405020304" pitchFamily="18" charset="0"/>
              </a:rPr>
              <a:t>Compatible printer supporting wired/wireless communication with the PC and mobile device.</a:t>
            </a:r>
          </a:p>
          <a:p>
            <a:pPr algn="just">
              <a:lnSpc>
                <a:spcPct val="100000"/>
              </a:lnSpc>
            </a:pPr>
            <a:r>
              <a:rPr lang="en-IN" sz="1600" b="1" dirty="0">
                <a:latin typeface="Times New Roman" panose="02020603050405020304" pitchFamily="18" charset="0"/>
                <a:cs typeface="Times New Roman" panose="02020603050405020304" pitchFamily="18" charset="0"/>
              </a:rPr>
              <a:t>Connectivity Module: </a:t>
            </a:r>
            <a:r>
              <a:rPr lang="en-IN" sz="1600" dirty="0">
                <a:latin typeface="Times New Roman" panose="02020603050405020304" pitchFamily="18" charset="0"/>
                <a:cs typeface="Times New Roman" panose="02020603050405020304" pitchFamily="18" charset="0"/>
              </a:rPr>
              <a:t>Wi-Fi module to enable offline real-time data exchange between devices without internet.</a:t>
            </a:r>
          </a:p>
          <a:p>
            <a:pPr algn="just">
              <a:lnSpc>
                <a:spcPct val="100000"/>
              </a:lnSpc>
            </a:pPr>
            <a:r>
              <a:rPr lang="en-IN" sz="1600" b="1" dirty="0">
                <a:latin typeface="Times New Roman" panose="02020603050405020304" pitchFamily="18" charset="0"/>
                <a:cs typeface="Times New Roman" panose="02020603050405020304" pitchFamily="18" charset="0"/>
              </a:rPr>
              <a:t>Storage: </a:t>
            </a:r>
            <a:r>
              <a:rPr lang="en-IN" sz="1600" dirty="0">
                <a:latin typeface="Times New Roman" panose="02020603050405020304" pitchFamily="18" charset="0"/>
                <a:cs typeface="Times New Roman" panose="02020603050405020304" pitchFamily="18" charset="0"/>
              </a:rPr>
              <a:t>Local storage (SSD/HDD) on PC and mobile device to save captured and processed documents securely.</a:t>
            </a:r>
          </a:p>
          <a:p>
            <a:pPr marL="0" indent="0" algn="just">
              <a:lnSpc>
                <a:spcPct val="100000"/>
              </a:lnSpc>
              <a:buNone/>
            </a:pPr>
            <a:endParaRPr lang="en-IN" sz="5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Software Requirements</a:t>
            </a:r>
            <a:endParaRPr lang="en-IN" sz="1600" dirty="0">
              <a:latin typeface="Times New Roman" panose="02020603050405020304" pitchFamily="18" charset="0"/>
              <a:cs typeface="Times New Roman" panose="02020603050405020304" pitchFamily="18" charset="0"/>
            </a:endParaRPr>
          </a:p>
          <a:p>
            <a:pPr algn="just">
              <a:lnSpc>
                <a:spcPct val="100000"/>
              </a:lnSpc>
            </a:pPr>
            <a:r>
              <a:rPr lang="en-IN" sz="1600" b="1" dirty="0">
                <a:latin typeface="Times New Roman" panose="02020603050405020304" pitchFamily="18" charset="0"/>
                <a:cs typeface="Times New Roman" panose="02020603050405020304" pitchFamily="18" charset="0"/>
              </a:rPr>
              <a:t>Mobile Application:</a:t>
            </a:r>
            <a:r>
              <a:rPr lang="en-IN" sz="1600" dirty="0">
                <a:latin typeface="Times New Roman" panose="02020603050405020304" pitchFamily="18" charset="0"/>
                <a:cs typeface="Times New Roman" panose="02020603050405020304" pitchFamily="18" charset="0"/>
              </a:rPr>
              <a:t> App with AI-powered image enhancement and OCR capabilities for document detection and capture.</a:t>
            </a:r>
          </a:p>
          <a:p>
            <a:pPr algn="just">
              <a:lnSpc>
                <a:spcPct val="100000"/>
              </a:lnSpc>
            </a:pPr>
            <a:r>
              <a:rPr lang="en-IN" sz="1600" b="1" dirty="0">
                <a:latin typeface="Times New Roman" panose="02020603050405020304" pitchFamily="18" charset="0"/>
                <a:cs typeface="Times New Roman" panose="02020603050405020304" pitchFamily="18" charset="0"/>
              </a:rPr>
              <a:t>Desktop Application: </a:t>
            </a:r>
            <a:r>
              <a:rPr lang="en-IN" sz="1600" dirty="0">
                <a:latin typeface="Times New Roman" panose="02020603050405020304" pitchFamily="18" charset="0"/>
                <a:cs typeface="Times New Roman" panose="02020603050405020304" pitchFamily="18" charset="0"/>
              </a:rPr>
              <a:t>Software for receiving, syncing, and managing documents, supporting offline wireless communication protocols.</a:t>
            </a:r>
          </a:p>
          <a:p>
            <a:pPr algn="just">
              <a:lnSpc>
                <a:spcPct val="100000"/>
              </a:lnSpc>
            </a:pPr>
            <a:r>
              <a:rPr lang="en-IN" sz="1600" b="1" dirty="0">
                <a:latin typeface="Times New Roman" panose="02020603050405020304" pitchFamily="18" charset="0"/>
                <a:cs typeface="Times New Roman" panose="02020603050405020304" pitchFamily="18" charset="0"/>
              </a:rPr>
              <a:t>Printer Interface: </a:t>
            </a:r>
            <a:r>
              <a:rPr lang="en-IN" sz="1600" dirty="0">
                <a:latin typeface="Times New Roman" panose="02020603050405020304" pitchFamily="18" charset="0"/>
                <a:cs typeface="Times New Roman" panose="02020603050405020304" pitchFamily="18" charset="0"/>
              </a:rPr>
              <a:t>Driver or software component for seamless printing triggered via synchronized workflows.</a:t>
            </a:r>
          </a:p>
          <a:p>
            <a:pPr algn="just">
              <a:lnSpc>
                <a:spcPct val="100000"/>
              </a:lnSpc>
            </a:pPr>
            <a:r>
              <a:rPr lang="en-IN" sz="1600" b="1" dirty="0">
                <a:latin typeface="Times New Roman" panose="02020603050405020304" pitchFamily="18" charset="0"/>
                <a:cs typeface="Times New Roman" panose="02020603050405020304" pitchFamily="18" charset="0"/>
              </a:rPr>
              <a:t>AI &amp; OCR Libraries: </a:t>
            </a:r>
            <a:r>
              <a:rPr lang="en-IN" sz="1600" dirty="0">
                <a:latin typeface="Times New Roman" panose="02020603050405020304" pitchFamily="18" charset="0"/>
                <a:cs typeface="Times New Roman" panose="02020603050405020304" pitchFamily="18" charset="0"/>
              </a:rPr>
              <a:t>Tools like Paddle OCR, Tesseract OCR, OpenCV, or  for text extraction and image processing.</a:t>
            </a:r>
          </a:p>
          <a:p>
            <a:pPr algn="just">
              <a:lnSpc>
                <a:spcPct val="100000"/>
              </a:lnSpc>
            </a:pPr>
            <a:r>
              <a:rPr lang="en-IN" sz="1600" b="1" dirty="0">
                <a:latin typeface="Times New Roman" panose="02020603050405020304" pitchFamily="18" charset="0"/>
                <a:cs typeface="Times New Roman" panose="02020603050405020304" pitchFamily="18" charset="0"/>
              </a:rPr>
              <a:t>Synchronization Protocol: </a:t>
            </a:r>
            <a:r>
              <a:rPr lang="en-IN" sz="1600" dirty="0">
                <a:latin typeface="Times New Roman" panose="02020603050405020304" pitchFamily="18" charset="0"/>
                <a:cs typeface="Times New Roman" panose="02020603050405020304" pitchFamily="18" charset="0"/>
              </a:rPr>
              <a:t>Custom or standard protocols (e.g., HTTP, TCP using </a:t>
            </a:r>
            <a:r>
              <a:rPr lang="en-IN" sz="1600" dirty="0" err="1">
                <a:latin typeface="Times New Roman" panose="02020603050405020304" pitchFamily="18" charset="0"/>
                <a:cs typeface="Times New Roman" panose="02020603050405020304" pitchFamily="18" charset="0"/>
              </a:rPr>
              <a:t>WebSockets</a:t>
            </a:r>
            <a:r>
              <a:rPr lang="en-IN" sz="1600" dirty="0">
                <a:latin typeface="Times New Roman" panose="02020603050405020304" pitchFamily="18" charset="0"/>
                <a:cs typeface="Times New Roman" panose="02020603050405020304" pitchFamily="18" charset="0"/>
              </a:rPr>
              <a:t>) enabling real-time offline data sync.</a:t>
            </a:r>
          </a:p>
          <a:p>
            <a:pPr algn="just">
              <a:lnSpc>
                <a:spcPct val="100000"/>
              </a:lnSpc>
              <a:buFont typeface="Wingdings" panose="05000000000000000000" pitchFamily="2" charset="2"/>
              <a:buChar char="Ø"/>
            </a:pPr>
            <a:endParaRPr lang="en-IN" sz="16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A8A027B-D9CC-037D-53CD-8AFBE1ED02B4}"/>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3335554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extBox 11">
            <a:extLst>
              <a:ext uri="{FF2B5EF4-FFF2-40B4-BE49-F238E27FC236}">
                <a16:creationId xmlns:a16="http://schemas.microsoft.com/office/drawing/2014/main" id="{52CE4802-EAF0-2FDB-46F5-BD015F90FE81}"/>
              </a:ext>
            </a:extLst>
          </p:cNvPr>
          <p:cNvSpPr txBox="1"/>
          <p:nvPr/>
        </p:nvSpPr>
        <p:spPr>
          <a:xfrm>
            <a:off x="142647" y="1140460"/>
            <a:ext cx="11782654" cy="4047262"/>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Computational Requirements</a:t>
            </a:r>
          </a:p>
          <a:p>
            <a:pPr algn="just"/>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Processing Power:</a:t>
            </a:r>
            <a:r>
              <a:rPr lang="en-US" dirty="0">
                <a:latin typeface="Times New Roman" panose="02020603050405020304" pitchFamily="18" charset="0"/>
                <a:cs typeface="Times New Roman" panose="02020603050405020304" pitchFamily="18" charset="0"/>
              </a:rPr>
              <a:t> Adequate processing capability on mobile devices and PCs to perform real-time image enhancement, OCR, and synchronization tasks efficiently.</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Storage:</a:t>
            </a:r>
            <a:r>
              <a:rPr lang="en-US" dirty="0">
                <a:latin typeface="Times New Roman" panose="02020603050405020304" pitchFamily="18" charset="0"/>
                <a:cs typeface="Times New Roman" panose="02020603050405020304" pitchFamily="18" charset="0"/>
              </a:rPr>
              <a:t> Sufficient local storage on devices (SSD/HDD) to store captured documents, processed data, and synchronization logs securely.</a:t>
            </a:r>
          </a:p>
          <a:p>
            <a:pPr marL="285750" indent="-285750" algn="just">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Ø"/>
            </a:pPr>
            <a:endParaRPr lang="en-US" sz="5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Requirements</a:t>
            </a:r>
          </a:p>
          <a:p>
            <a:pPr algn="just">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High-Quality Images:</a:t>
            </a:r>
            <a:r>
              <a:rPr lang="en-US" dirty="0">
                <a:latin typeface="Times New Roman" panose="02020603050405020304" pitchFamily="18" charset="0"/>
                <a:cs typeface="Times New Roman" panose="02020603050405020304" pitchFamily="18" charset="0"/>
              </a:rPr>
              <a:t> Clear, high-resolution document images captured via mobile device cameras for accurate processing and text extraction.</a:t>
            </a: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Sensor Data:</a:t>
            </a:r>
            <a:r>
              <a:rPr lang="en-US" dirty="0">
                <a:latin typeface="Times New Roman" panose="02020603050405020304" pitchFamily="18" charset="0"/>
                <a:cs typeface="Times New Roman" panose="02020603050405020304" pitchFamily="18" charset="0"/>
              </a:rPr>
              <a:t> Optional metadata such as device status, connectivity signals, or user input to optimize capture and synchronization workflows.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Validation Data:</a:t>
            </a:r>
            <a:r>
              <a:rPr lang="en-US" dirty="0">
                <a:latin typeface="Times New Roman" panose="02020603050405020304" pitchFamily="18" charset="0"/>
                <a:cs typeface="Times New Roman" panose="02020603050405020304" pitchFamily="18" charset="0"/>
              </a:rPr>
              <a:t> Sample documents and ground truth text to verify OCR accuracy and system performance.</a:t>
            </a:r>
          </a:p>
        </p:txBody>
      </p:sp>
      <p:sp>
        <p:nvSpPr>
          <p:cNvPr id="14" name="TextBox 13">
            <a:extLst>
              <a:ext uri="{FF2B5EF4-FFF2-40B4-BE49-F238E27FC236}">
                <a16:creationId xmlns:a16="http://schemas.microsoft.com/office/drawing/2014/main" id="{CA805AFF-1158-BA72-34B4-9C66C0A3D02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2637337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extBox 11">
            <a:extLst>
              <a:ext uri="{FF2B5EF4-FFF2-40B4-BE49-F238E27FC236}">
                <a16:creationId xmlns:a16="http://schemas.microsoft.com/office/drawing/2014/main" id="{5F2380C0-5E4B-3454-142D-8F449C6AF96C}"/>
              </a:ext>
            </a:extLst>
          </p:cNvPr>
          <p:cNvSpPr txBox="1"/>
          <p:nvPr/>
        </p:nvSpPr>
        <p:spPr>
          <a:xfrm>
            <a:off x="141731" y="1285715"/>
            <a:ext cx="11873059" cy="4801314"/>
          </a:xfrm>
          <a:prstGeom prst="rect">
            <a:avLst/>
          </a:prstGeom>
          <a:noFill/>
        </p:spPr>
        <p:txBody>
          <a:bodyPr wrap="square">
            <a:spAutoFit/>
          </a:bodyPr>
          <a:lstStyle/>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a:t>
            </a:r>
          </a:p>
          <a:p>
            <a:pPr algn="just"/>
            <a:r>
              <a:rPr lang="en-US" dirty="0">
                <a:latin typeface="Times New Roman" panose="02020603050405020304" pitchFamily="18" charset="0"/>
                <a:cs typeface="Times New Roman" panose="02020603050405020304" pitchFamily="18" charset="0"/>
              </a:rPr>
              <a:t>Ensure low-latency detection and processing for near real-time document capture and OCR.</a:t>
            </a:r>
          </a:p>
          <a:p>
            <a:pPr algn="just"/>
            <a:r>
              <a:rPr lang="en-US" dirty="0">
                <a:latin typeface="Times New Roman" panose="02020603050405020304" pitchFamily="18" charset="0"/>
                <a:cs typeface="Times New Roman" panose="02020603050405020304" pitchFamily="18" charset="0"/>
              </a:rPr>
              <a:t>Achieve high accuracy in detecting documents and extracting text.</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Reliability:</a:t>
            </a:r>
          </a:p>
          <a:p>
            <a:pPr algn="just"/>
            <a:r>
              <a:rPr lang="en-US" dirty="0">
                <a:latin typeface="Times New Roman" panose="02020603050405020304" pitchFamily="18" charset="0"/>
                <a:cs typeface="Times New Roman" panose="02020603050405020304" pitchFamily="18" charset="0"/>
              </a:rPr>
              <a:t>Operate effectively under varying lighting and environmental conditions (e.g., different indoor and outdoor scenarios).</a:t>
            </a:r>
          </a:p>
          <a:p>
            <a:pPr algn="just"/>
            <a:r>
              <a:rPr lang="en-US" dirty="0">
                <a:latin typeface="Times New Roman" panose="02020603050405020304" pitchFamily="18" charset="0"/>
                <a:cs typeface="Times New Roman" panose="02020603050405020304" pitchFamily="18" charset="0"/>
              </a:rPr>
              <a:t>Maintain stable performance with minimal errors during capture and synchronization.</a:t>
            </a:r>
          </a:p>
          <a:p>
            <a:pPr algn="just"/>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Scalability:</a:t>
            </a:r>
          </a:p>
          <a:p>
            <a:pPr algn="just"/>
            <a:r>
              <a:rPr lang="en-US" dirty="0">
                <a:latin typeface="Times New Roman" panose="02020603050405020304" pitchFamily="18" charset="0"/>
                <a:cs typeface="Times New Roman" panose="02020603050405020304" pitchFamily="18" charset="0"/>
              </a:rPr>
              <a:t>Supports huge set of documents as requirements grows </a:t>
            </a:r>
          </a:p>
          <a:p>
            <a:pPr algn="just"/>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Portability:</a:t>
            </a:r>
          </a:p>
          <a:p>
            <a:pPr algn="just"/>
            <a:r>
              <a:rPr lang="en-US" dirty="0">
                <a:latin typeface="Times New Roman" panose="02020603050405020304" pitchFamily="18" charset="0"/>
                <a:cs typeface="Times New Roman" panose="02020603050405020304" pitchFamily="18" charset="0"/>
              </a:rPr>
              <a:t>Ensure software compatibility with embedded platforms like Raspberry Pi or Jetson Nano for flexible deployment.</a:t>
            </a:r>
          </a:p>
          <a:p>
            <a:pPr algn="just"/>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Maintainability:</a:t>
            </a:r>
          </a:p>
          <a:p>
            <a:pPr algn="just"/>
            <a:r>
              <a:rPr lang="en-US" dirty="0">
                <a:latin typeface="Times New Roman" panose="02020603050405020304" pitchFamily="18" charset="0"/>
                <a:cs typeface="Times New Roman" panose="02020603050405020304" pitchFamily="18" charset="0"/>
              </a:rPr>
              <a:t>Develop a modular codebase to facilitate easy updates and integration of new features, such as improved AI models or synchronization protocols.</a:t>
            </a:r>
          </a:p>
        </p:txBody>
      </p:sp>
      <p:sp>
        <p:nvSpPr>
          <p:cNvPr id="14" name="TextBox 13">
            <a:extLst>
              <a:ext uri="{FF2B5EF4-FFF2-40B4-BE49-F238E27FC236}">
                <a16:creationId xmlns:a16="http://schemas.microsoft.com/office/drawing/2014/main" id="{C383B0B2-7CA5-4DE5-3BA8-5DC6D7F5C110}"/>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13" name="Title 1">
            <a:extLst>
              <a:ext uri="{FF2B5EF4-FFF2-40B4-BE49-F238E27FC236}">
                <a16:creationId xmlns:a16="http://schemas.microsoft.com/office/drawing/2014/main" id="{3FD545D5-5CDB-49F7-86BB-565A18232FD0}"/>
              </a:ext>
            </a:extLst>
          </p:cNvPr>
          <p:cNvSpPr txBox="1">
            <a:spLocks/>
          </p:cNvSpPr>
          <p:nvPr/>
        </p:nvSpPr>
        <p:spPr>
          <a:xfrm>
            <a:off x="177210" y="939800"/>
            <a:ext cx="10131425" cy="44980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latin typeface="Times New Roman" panose="02020603050405020304" pitchFamily="18" charset="0"/>
                <a:cs typeface="Times New Roman" panose="02020603050405020304" pitchFamily="18" charset="0"/>
              </a:rPr>
              <a:t>Performance Evaluation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019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7E310-4011-900E-9296-112B1D361ED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6F106112-7DD8-5040-5714-E7EEAA8C6813}"/>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C3378B7A-25DB-9AB8-6B86-F43CE0077F75}"/>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243B1702-EB10-5265-9C26-1B0735936B0D}"/>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2A10A1A0-C603-6E8E-213D-C716E4E26FD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F89441BD-5DC8-7750-2E36-063E32F1672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C119B88D-6F99-54B9-C1FE-2375FC7DA8C8}"/>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F66C0323-A622-F878-842F-1FDADA9E5193}"/>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AF708B47-C64B-A343-E1A1-24DD717C5467}"/>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C365052A-6254-5CDC-E380-BD377976713B}"/>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itle 1">
            <a:extLst>
              <a:ext uri="{FF2B5EF4-FFF2-40B4-BE49-F238E27FC236}">
                <a16:creationId xmlns:a16="http://schemas.microsoft.com/office/drawing/2014/main" id="{D4BF729D-B294-4803-DAD7-5B12826217FC}"/>
              </a:ext>
            </a:extLst>
          </p:cNvPr>
          <p:cNvSpPr txBox="1">
            <a:spLocks/>
          </p:cNvSpPr>
          <p:nvPr/>
        </p:nvSpPr>
        <p:spPr>
          <a:xfrm>
            <a:off x="141606" y="974238"/>
            <a:ext cx="11595734" cy="91091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Snapshots</a:t>
            </a:r>
            <a:endParaRPr lang="en-IN" sz="28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ABA3426-F5B6-57D4-2491-00AB742D893E}"/>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3" name="Rectangle 2">
            <a:extLst>
              <a:ext uri="{FF2B5EF4-FFF2-40B4-BE49-F238E27FC236}">
                <a16:creationId xmlns:a16="http://schemas.microsoft.com/office/drawing/2014/main" id="{E883A6F3-5BA7-9662-0E68-1DBC0F26452E}"/>
              </a:ext>
            </a:extLst>
          </p:cNvPr>
          <p:cNvSpPr>
            <a:spLocks noChangeArrowheads="1"/>
          </p:cNvSpPr>
          <p:nvPr/>
        </p:nvSpPr>
        <p:spPr bwMode="auto">
          <a:xfrm>
            <a:off x="355549" y="8022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572907" bIns="0" numCol="1" anchor="ctr" anchorCtr="0" compatLnSpc="1">
            <a:prstTxWarp prst="textNoShape">
              <a:avLst/>
            </a:prstTxWarp>
            <a:spAutoFit/>
          </a:bodyPr>
          <a:lstStyle/>
          <a:p>
            <a:endParaRPr lang="en-IN"/>
          </a:p>
        </p:txBody>
      </p:sp>
      <p:pic>
        <p:nvPicPr>
          <p:cNvPr id="1025" name="Picture 1">
            <a:extLst>
              <a:ext uri="{FF2B5EF4-FFF2-40B4-BE49-F238E27FC236}">
                <a16:creationId xmlns:a16="http://schemas.microsoft.com/office/drawing/2014/main" id="{FCCE6715-CF29-161C-E890-6F6463BD597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b="10728"/>
          <a:stretch>
            <a:fillRect/>
          </a:stretch>
        </p:blipFill>
        <p:spPr bwMode="auto">
          <a:xfrm>
            <a:off x="0" y="1577103"/>
            <a:ext cx="5954281" cy="32848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D362AD0-F76C-5C80-E449-F342A92C21AC}"/>
              </a:ext>
            </a:extLst>
          </p:cNvPr>
          <p:cNvSpPr>
            <a:spLocks noChangeArrowheads="1"/>
          </p:cNvSpPr>
          <p:nvPr/>
        </p:nvSpPr>
        <p:spPr bwMode="auto">
          <a:xfrm>
            <a:off x="1149179" y="4587482"/>
            <a:ext cx="3295364" cy="80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17324" tIns="98394" rIns="572907"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 Dashboard 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5">
            <a:extLst>
              <a:ext uri="{FF2B5EF4-FFF2-40B4-BE49-F238E27FC236}">
                <a16:creationId xmlns:a16="http://schemas.microsoft.com/office/drawing/2014/main" id="{CE720EE3-0E28-DF4E-8D1C-B18641A57DC2}"/>
              </a:ext>
            </a:extLst>
          </p:cNvPr>
          <p:cNvSpPr>
            <a:spLocks noChangeArrowheads="1"/>
          </p:cNvSpPr>
          <p:nvPr/>
        </p:nvSpPr>
        <p:spPr bwMode="auto">
          <a:xfrm>
            <a:off x="7142672" y="11199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125373" bIns="0" numCol="1" anchor="ctr" anchorCtr="0" compatLnSpc="1">
            <a:prstTxWarp prst="textNoShape">
              <a:avLst/>
            </a:prstTxWarp>
            <a:spAutoFit/>
          </a:bodyPr>
          <a:lstStyle/>
          <a:p>
            <a:endParaRPr lang="en-IN"/>
          </a:p>
        </p:txBody>
      </p:sp>
      <p:pic>
        <p:nvPicPr>
          <p:cNvPr id="1028" name="Picture 1">
            <a:extLst>
              <a:ext uri="{FF2B5EF4-FFF2-40B4-BE49-F238E27FC236}">
                <a16:creationId xmlns:a16="http://schemas.microsoft.com/office/drawing/2014/main" id="{59AF6F6A-76CA-881B-ECD5-E6914521F12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5888" y="1577104"/>
            <a:ext cx="5774072" cy="330832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6">
            <a:extLst>
              <a:ext uri="{FF2B5EF4-FFF2-40B4-BE49-F238E27FC236}">
                <a16:creationId xmlns:a16="http://schemas.microsoft.com/office/drawing/2014/main" id="{358F6E05-9736-8087-DB0D-757234F5340E}"/>
              </a:ext>
            </a:extLst>
          </p:cNvPr>
          <p:cNvSpPr>
            <a:spLocks noChangeArrowheads="1"/>
          </p:cNvSpPr>
          <p:nvPr/>
        </p:nvSpPr>
        <p:spPr bwMode="auto">
          <a:xfrm>
            <a:off x="7203984" y="4642340"/>
            <a:ext cx="3646421" cy="80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17324" tIns="98394" rIns="572907"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2: Phone Interface 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8645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7DF6-6A8E-9536-1B0D-D92193D8C779}"/>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70AAEDF6-7898-B911-52FC-8DFBE3B237B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81BD3788-44BA-5148-9592-A07E68450ED8}"/>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69564779-B93B-522C-B1DC-A09E3480A63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BBA571A9-E0B4-6563-2494-0F2AAD77656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F4DA2CEE-673A-8010-75C6-8A86E7500C1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890F27F3-E9BE-499D-C107-B9A65E899620}"/>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A8FCA10A-7B7A-16C7-02FB-E0722684E3AB}"/>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2FD47C8-440F-F050-FB2E-C7836E498FA7}"/>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201892A7-E61C-88EF-DAA8-15B1A15F7C79}"/>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itle 1">
            <a:extLst>
              <a:ext uri="{FF2B5EF4-FFF2-40B4-BE49-F238E27FC236}">
                <a16:creationId xmlns:a16="http://schemas.microsoft.com/office/drawing/2014/main" id="{9507A06D-C6C2-B017-8BDE-61D78946E61E}"/>
              </a:ext>
            </a:extLst>
          </p:cNvPr>
          <p:cNvSpPr txBox="1">
            <a:spLocks/>
          </p:cNvSpPr>
          <p:nvPr/>
        </p:nvSpPr>
        <p:spPr>
          <a:xfrm>
            <a:off x="141606" y="974238"/>
            <a:ext cx="11595734" cy="91091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Snapshots</a:t>
            </a:r>
            <a:endParaRPr lang="en-IN" sz="28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E0C7791-8C5F-236E-B719-A38D336B539E}"/>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3" name="Rectangle 2">
            <a:extLst>
              <a:ext uri="{FF2B5EF4-FFF2-40B4-BE49-F238E27FC236}">
                <a16:creationId xmlns:a16="http://schemas.microsoft.com/office/drawing/2014/main" id="{A715D474-85F0-BF1D-0A50-A0023C616093}"/>
              </a:ext>
            </a:extLst>
          </p:cNvPr>
          <p:cNvSpPr>
            <a:spLocks noChangeArrowheads="1"/>
          </p:cNvSpPr>
          <p:nvPr/>
        </p:nvSpPr>
        <p:spPr bwMode="auto">
          <a:xfrm>
            <a:off x="355549" y="8022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572907" bIns="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BB94EC24-33BB-1BC3-0CAC-5A54981425B8}"/>
              </a:ext>
            </a:extLst>
          </p:cNvPr>
          <p:cNvSpPr>
            <a:spLocks noChangeArrowheads="1"/>
          </p:cNvSpPr>
          <p:nvPr/>
        </p:nvSpPr>
        <p:spPr bwMode="auto">
          <a:xfrm>
            <a:off x="7142672" y="11199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125373" bIns="0" numCol="1" anchor="ctr" anchorCtr="0" compatLnSpc="1">
            <a:prstTxWarp prst="textNoShape">
              <a:avLst/>
            </a:prstTxWarp>
            <a:spAutoFit/>
          </a:bodyPr>
          <a:lstStyle/>
          <a:p>
            <a:endParaRPr lang="en-IN"/>
          </a:p>
        </p:txBody>
      </p:sp>
      <p:sp>
        <p:nvSpPr>
          <p:cNvPr id="2" name="Rectangle 2">
            <a:extLst>
              <a:ext uri="{FF2B5EF4-FFF2-40B4-BE49-F238E27FC236}">
                <a16:creationId xmlns:a16="http://schemas.microsoft.com/office/drawing/2014/main" id="{4DC46BC5-8833-3BCA-9FDE-F3AA18B1DFA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125373" bIns="0" numCol="1" anchor="ctr" anchorCtr="0" compatLnSpc="1">
            <a:prstTxWarp prst="textNoShape">
              <a:avLst/>
            </a:prstTxWarp>
            <a:spAutoFit/>
          </a:bodyPr>
          <a:lstStyle/>
          <a:p>
            <a:endParaRPr lang="en-IN"/>
          </a:p>
        </p:txBody>
      </p:sp>
      <p:pic>
        <p:nvPicPr>
          <p:cNvPr id="2049" name="Picture 1">
            <a:extLst>
              <a:ext uri="{FF2B5EF4-FFF2-40B4-BE49-F238E27FC236}">
                <a16:creationId xmlns:a16="http://schemas.microsoft.com/office/drawing/2014/main" id="{9BE0A5A7-487F-C602-E1B3-FBF8B1E76FC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t="1884" b="2492"/>
          <a:stretch>
            <a:fillRect/>
          </a:stretch>
        </p:blipFill>
        <p:spPr bwMode="auto">
          <a:xfrm>
            <a:off x="141606" y="1655805"/>
            <a:ext cx="5565802" cy="350439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B290DF0F-91F5-1024-EFD7-BF982E18CFF2}"/>
              </a:ext>
            </a:extLst>
          </p:cNvPr>
          <p:cNvSpPr>
            <a:spLocks noChangeArrowheads="1"/>
          </p:cNvSpPr>
          <p:nvPr/>
        </p:nvSpPr>
        <p:spPr bwMode="auto">
          <a:xfrm>
            <a:off x="787950" y="4893103"/>
            <a:ext cx="3585507" cy="80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17324" tIns="98394" rIns="572907"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3: Device Info Interface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827B1C74-76D0-58BA-DC64-AFEBE774B493}"/>
              </a:ext>
            </a:extLst>
          </p:cNvPr>
          <p:cNvSpPr>
            <a:spLocks noChangeArrowheads="1"/>
          </p:cNvSpPr>
          <p:nvPr/>
        </p:nvSpPr>
        <p:spPr bwMode="auto">
          <a:xfrm>
            <a:off x="6622415" y="457200"/>
            <a:ext cx="15816936" cy="55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8184" tIns="41262" rIns="125373" bIns="0" numCol="1" anchor="ctr" anchorCtr="0" compatLnSpc="1">
            <a:prstTxWarp prst="textNoShape">
              <a:avLst/>
            </a:prstTxWarp>
            <a:spAutoFit/>
          </a:bodyPr>
          <a:lstStyle/>
          <a:p>
            <a:endParaRPr lang="en-IN"/>
          </a:p>
        </p:txBody>
      </p:sp>
      <p:pic>
        <p:nvPicPr>
          <p:cNvPr id="2052" name="Picture 1" descr="A screenshot of a computer program&#10;&#10;AI-generated content may be incorrect.">
            <a:extLst>
              <a:ext uri="{FF2B5EF4-FFF2-40B4-BE49-F238E27FC236}">
                <a16:creationId xmlns:a16="http://schemas.microsoft.com/office/drawing/2014/main" id="{BB88A597-C0F1-B699-8A9E-4635FFBFEE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t="4749" b="7404"/>
          <a:stretch>
            <a:fillRect/>
          </a:stretch>
        </p:blipFill>
        <p:spPr bwMode="auto">
          <a:xfrm>
            <a:off x="6190160" y="1679274"/>
            <a:ext cx="4687390" cy="346232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977CBC87-3837-78CB-2518-7D6D1946C19B}"/>
              </a:ext>
            </a:extLst>
          </p:cNvPr>
          <p:cNvSpPr>
            <a:spLocks noChangeArrowheads="1"/>
          </p:cNvSpPr>
          <p:nvPr/>
        </p:nvSpPr>
        <p:spPr bwMode="auto">
          <a:xfrm>
            <a:off x="6698615" y="4930856"/>
            <a:ext cx="15816936" cy="80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7324" tIns="98394" rIns="572907"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4: Print Queues Interface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4227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B1F9D-3C2C-EB37-7664-75781B5D63AF}"/>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F5042441-4DE2-D909-7BB8-F245D47393AC}"/>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C4123FE5-2638-989E-5B9E-A1C7FBA80514}"/>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7C94AD6B-CC51-E8E9-53C8-49BC7679BC25}"/>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51190C7A-4A84-2295-27B8-5915220DA8C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F9BE8BD8-DEFC-A866-729C-A25554617FA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7FF508BC-E391-7B3A-9575-2D09F471872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19E26F1D-561C-2BB2-FB14-00933D8F9082}"/>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9EB1BFEF-42CF-BF26-A190-E846E67C26BF}"/>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8F701FAB-1FBE-B83B-8323-E75E1F6BC6C2}"/>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itle 1">
            <a:extLst>
              <a:ext uri="{FF2B5EF4-FFF2-40B4-BE49-F238E27FC236}">
                <a16:creationId xmlns:a16="http://schemas.microsoft.com/office/drawing/2014/main" id="{F54ABE37-5150-B3FE-D573-1F53F0CF11FA}"/>
              </a:ext>
            </a:extLst>
          </p:cNvPr>
          <p:cNvSpPr txBox="1">
            <a:spLocks/>
          </p:cNvSpPr>
          <p:nvPr/>
        </p:nvSpPr>
        <p:spPr>
          <a:xfrm>
            <a:off x="141606" y="974238"/>
            <a:ext cx="11595734" cy="91091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Snapshots</a:t>
            </a:r>
            <a:endParaRPr lang="en-IN" sz="28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988E7F5-2A66-4570-CF01-021F862E85E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3" name="Rectangle 2">
            <a:extLst>
              <a:ext uri="{FF2B5EF4-FFF2-40B4-BE49-F238E27FC236}">
                <a16:creationId xmlns:a16="http://schemas.microsoft.com/office/drawing/2014/main" id="{BE76024B-42EF-FA6A-F2DA-45E17353612C}"/>
              </a:ext>
            </a:extLst>
          </p:cNvPr>
          <p:cNvSpPr>
            <a:spLocks noChangeArrowheads="1"/>
          </p:cNvSpPr>
          <p:nvPr/>
        </p:nvSpPr>
        <p:spPr bwMode="auto">
          <a:xfrm>
            <a:off x="355549" y="8022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572907" bIns="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50F59E50-D08B-E884-BCDA-46AF2C5FF5E2}"/>
              </a:ext>
            </a:extLst>
          </p:cNvPr>
          <p:cNvSpPr>
            <a:spLocks noChangeArrowheads="1"/>
          </p:cNvSpPr>
          <p:nvPr/>
        </p:nvSpPr>
        <p:spPr bwMode="auto">
          <a:xfrm>
            <a:off x="7142672" y="11199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125373" bIns="0" numCol="1" anchor="ctr" anchorCtr="0" compatLnSpc="1">
            <a:prstTxWarp prst="textNoShape">
              <a:avLst/>
            </a:prstTxWarp>
            <a:spAutoFit/>
          </a:bodyPr>
          <a:lstStyle/>
          <a:p>
            <a:endParaRPr lang="en-IN"/>
          </a:p>
        </p:txBody>
      </p:sp>
      <p:sp>
        <p:nvSpPr>
          <p:cNvPr id="2" name="Rectangle 2">
            <a:extLst>
              <a:ext uri="{FF2B5EF4-FFF2-40B4-BE49-F238E27FC236}">
                <a16:creationId xmlns:a16="http://schemas.microsoft.com/office/drawing/2014/main" id="{81B93126-F310-E171-9872-40ED822BCB1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125373" bIns="0" numCol="1" anchor="ctr" anchorCtr="0" compatLnSpc="1">
            <a:prstTxWarp prst="textNoShape">
              <a:avLst/>
            </a:prstTxWarp>
            <a:spAutoFit/>
          </a:bodyPr>
          <a:lstStyle/>
          <a:p>
            <a:endParaRPr lang="en-IN"/>
          </a:p>
        </p:txBody>
      </p:sp>
      <p:pic>
        <p:nvPicPr>
          <p:cNvPr id="3073" name="Picture 1" descr="A screenshot of a computer&#10;&#10;AI-generated content may be incorrect.">
            <a:extLst>
              <a:ext uri="{FF2B5EF4-FFF2-40B4-BE49-F238E27FC236}">
                <a16:creationId xmlns:a16="http://schemas.microsoft.com/office/drawing/2014/main" id="{315C4597-EC2A-9009-B2E6-234555FEA0F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1607" y="1669933"/>
            <a:ext cx="5849618" cy="353313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FAA85303-E70A-8865-25D3-116A0916853B}"/>
              </a:ext>
            </a:extLst>
          </p:cNvPr>
          <p:cNvSpPr>
            <a:spLocks noChangeArrowheads="1"/>
          </p:cNvSpPr>
          <p:nvPr/>
        </p:nvSpPr>
        <p:spPr bwMode="auto">
          <a:xfrm>
            <a:off x="355549" y="4968480"/>
            <a:ext cx="4675549" cy="80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17324" tIns="98394" rIns="572907"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5: Scan Mode Configuration Interface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32F6C750-1E9A-9BE9-95E9-9CC792D0349E}"/>
              </a:ext>
            </a:extLst>
          </p:cNvPr>
          <p:cNvSpPr>
            <a:spLocks noChangeArrowheads="1"/>
          </p:cNvSpPr>
          <p:nvPr/>
        </p:nvSpPr>
        <p:spPr bwMode="auto">
          <a:xfrm>
            <a:off x="6501105" y="8022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8184" tIns="41262" rIns="125373" bIns="0" numCol="1" anchor="ctr" anchorCtr="0" compatLnSpc="1">
            <a:prstTxWarp prst="textNoShape">
              <a:avLst/>
            </a:prstTxWarp>
            <a:spAutoFit/>
          </a:bodyPr>
          <a:lstStyle/>
          <a:p>
            <a:endParaRPr lang="en-IN"/>
          </a:p>
        </p:txBody>
      </p:sp>
      <p:pic>
        <p:nvPicPr>
          <p:cNvPr id="3076" name="Picture 1" descr="A screenshot of a computer&#10;&#10;AI-generated content may be incorrect.">
            <a:extLst>
              <a:ext uri="{FF2B5EF4-FFF2-40B4-BE49-F238E27FC236}">
                <a16:creationId xmlns:a16="http://schemas.microsoft.com/office/drawing/2014/main" id="{104043DF-8C40-4D27-9C7B-3DCB77CFADA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2257" y="1650361"/>
            <a:ext cx="5994313" cy="354163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3BF069ED-68D4-5B85-80FD-58347E795096}"/>
              </a:ext>
            </a:extLst>
          </p:cNvPr>
          <p:cNvSpPr>
            <a:spLocks noChangeArrowheads="1"/>
          </p:cNvSpPr>
          <p:nvPr/>
        </p:nvSpPr>
        <p:spPr bwMode="auto">
          <a:xfrm>
            <a:off x="6525005" y="4999257"/>
            <a:ext cx="4616238" cy="745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17324" tIns="98394" rIns="572907"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6: Print Mode Configuration Interface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9165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itle 1">
            <a:extLst>
              <a:ext uri="{FF2B5EF4-FFF2-40B4-BE49-F238E27FC236}">
                <a16:creationId xmlns:a16="http://schemas.microsoft.com/office/drawing/2014/main" id="{E9C5BA33-9233-F41C-FB3F-9A048827A648}"/>
              </a:ext>
            </a:extLst>
          </p:cNvPr>
          <p:cNvSpPr txBox="1">
            <a:spLocks/>
          </p:cNvSpPr>
          <p:nvPr/>
        </p:nvSpPr>
        <p:spPr>
          <a:xfrm>
            <a:off x="141606" y="974238"/>
            <a:ext cx="11595734" cy="91091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IMPLEMENTATION - DEVELOPMENT ENVIRONMENT</a:t>
            </a:r>
            <a:endParaRPr lang="en-IN" sz="28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D1D9676-89D7-F164-E935-20FEDC673074}"/>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2" name="TextBox 1">
            <a:extLst>
              <a:ext uri="{FF2B5EF4-FFF2-40B4-BE49-F238E27FC236}">
                <a16:creationId xmlns:a16="http://schemas.microsoft.com/office/drawing/2014/main" id="{ECE78261-79A2-163A-3C41-64A9F461C0DF}"/>
              </a:ext>
            </a:extLst>
          </p:cNvPr>
          <p:cNvSpPr txBox="1"/>
          <p:nvPr/>
        </p:nvSpPr>
        <p:spPr>
          <a:xfrm>
            <a:off x="141606" y="1429693"/>
            <a:ext cx="12192000" cy="521681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LAYING THE FOUNDATION FOR EFFICIENT AUTOMATION</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well-structured development environment is critical for building, testing, and deploying the </a:t>
            </a:r>
            <a:r>
              <a:rPr lang="en-US" dirty="0" err="1">
                <a:latin typeface="Times New Roman" panose="02020603050405020304" pitchFamily="18" charset="0"/>
                <a:cs typeface="Times New Roman" panose="02020603050405020304" pitchFamily="18" charset="0"/>
              </a:rPr>
              <a:t>PrintChakra</a:t>
            </a:r>
            <a:r>
              <a:rPr lang="en-US" dirty="0">
                <a:latin typeface="Times New Roman" panose="02020603050405020304" pitchFamily="18" charset="0"/>
                <a:cs typeface="Times New Roman" panose="02020603050405020304" pitchFamily="18" charset="0"/>
              </a:rPr>
              <a:t> system.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includes tools, libraries, and platform access needed for intelligent document capture, processing, &amp; device communication.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upcoming sections outline the core technologies, setup procedures, and testing considerations.</a:t>
            </a:r>
          </a:p>
          <a:p>
            <a:pPr marL="0" marR="0" lvl="0" indent="0" defTabSz="914400" rtl="0" eaLnBrk="0" fontAlgn="base" latinLnBrk="0" hangingPunct="0">
              <a:lnSpc>
                <a:spcPct val="100000"/>
              </a:lnSpc>
              <a:spcBef>
                <a:spcPct val="0"/>
              </a:spcBef>
              <a:spcAft>
                <a:spcPct val="0"/>
              </a:spcAft>
              <a:buClrTx/>
              <a:buSzTx/>
              <a:tabLst/>
            </a:pPr>
            <a:endParaRPr lang="en-US" altLang="en-US" sz="14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SETTING UP THE ENVIRONMENT &amp; UI CONSIDERATIONS</a:t>
            </a:r>
          </a:p>
          <a:p>
            <a:pPr marL="285750" indent="-285750" algn="just">
              <a:buFont typeface="Wingdings" panose="05000000000000000000" pitchFamily="2" charset="2"/>
              <a:buChar char="ü"/>
            </a:pPr>
            <a:endParaRPr lang="en-US" sz="1000" u="sng" dirty="0">
              <a:latin typeface="Times New Roman" panose="02020603050405020304" pitchFamily="18" charset="0"/>
              <a:cs typeface="Times New Roman" panose="02020603050405020304" pitchFamily="18" charset="0"/>
            </a:endParaRPr>
          </a:p>
          <a:p>
            <a:pPr marR="0" lvl="0" algn="just" eaLnBrk="0" fontAlgn="base" hangingPunct="0">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Local Development Setup:</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Python virtual environments (</a:t>
            </a:r>
            <a:r>
              <a:rPr lang="en-US" altLang="en-US" dirty="0" err="1">
                <a:latin typeface="Times New Roman" panose="02020603050405020304" pitchFamily="18" charset="0"/>
                <a:cs typeface="Times New Roman" panose="02020603050405020304" pitchFamily="18" charset="0"/>
              </a:rPr>
              <a:t>venv</a:t>
            </a:r>
            <a:r>
              <a:rPr lang="en-US" altLang="en-US" dirty="0">
                <a:latin typeface="Times New Roman" panose="02020603050405020304" pitchFamily="18" charset="0"/>
                <a:cs typeface="Times New Roman" panose="02020603050405020304" pitchFamily="18" charset="0"/>
              </a:rPr>
              <a:t>) for dependency isolation.</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Cross-platform printing libraries like win32print &amp; </a:t>
            </a:r>
            <a:r>
              <a:rPr lang="en-US" altLang="en-US" dirty="0" err="1">
                <a:latin typeface="Times New Roman" panose="02020603050405020304" pitchFamily="18" charset="0"/>
                <a:cs typeface="Times New Roman" panose="02020603050405020304" pitchFamily="18" charset="0"/>
              </a:rPr>
              <a:t>WebSockets</a:t>
            </a:r>
            <a:r>
              <a:rPr lang="en-US" altLang="en-US" dirty="0">
                <a:latin typeface="Times New Roman" panose="02020603050405020304" pitchFamily="18" charset="0"/>
                <a:cs typeface="Times New Roman" panose="02020603050405020304" pitchFamily="18" charset="0"/>
              </a:rPr>
              <a:t> for integration with printer hardware and smartphone.</a:t>
            </a:r>
          </a:p>
          <a:p>
            <a:pPr marL="285750" lvl="0" indent="-285750" algn="just" eaLnBrk="0" fontAlgn="base" hangingPunct="0">
              <a:spcBef>
                <a:spcPct val="0"/>
              </a:spcBef>
              <a:spcAft>
                <a:spcPct val="0"/>
              </a:spcAft>
              <a:buFont typeface="Wingdings" panose="05000000000000000000" pitchFamily="2" charset="2"/>
              <a:buChar char="ü"/>
            </a:pPr>
            <a:endParaRPr lang="en-US" altLang="en-US" sz="1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Device Access &amp; Simulation:</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Mobile devices and Windows machines are configured to simulate offline synchronization scenarios.</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Network file transfer tools or local socket testing simulate real-world communication.</a:t>
            </a:r>
          </a:p>
          <a:p>
            <a:pPr marL="285750" lvl="0" indent="-285750" algn="just" eaLnBrk="0" fontAlgn="base" hangingPunct="0">
              <a:spcBef>
                <a:spcPct val="0"/>
              </a:spcBef>
              <a:spcAft>
                <a:spcPct val="0"/>
              </a:spcAft>
              <a:buFont typeface="Wingdings" panose="05000000000000000000" pitchFamily="2" charset="2"/>
              <a:buChar char="ü"/>
            </a:pPr>
            <a:endParaRPr lang="en-US" altLang="en-US" sz="1000" dirty="0">
              <a:latin typeface="Times New Roman" panose="02020603050405020304" pitchFamily="18" charset="0"/>
              <a:cs typeface="Times New Roman" panose="02020603050405020304" pitchFamily="18" charset="0"/>
            </a:endParaRPr>
          </a:p>
          <a:p>
            <a:pPr marR="0" lvl="0" algn="just" eaLnBrk="0" fontAlgn="base" hangingPunct="0">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User Interface (UI):</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Mobile and Windows UI built with react </a:t>
            </a:r>
            <a:r>
              <a:rPr lang="en-US" altLang="en-US" dirty="0" err="1">
                <a:latin typeface="Times New Roman" panose="02020603050405020304" pitchFamily="18" charset="0"/>
                <a:cs typeface="Times New Roman" panose="02020603050405020304" pitchFamily="18" charset="0"/>
              </a:rPr>
              <a:t>vite</a:t>
            </a:r>
            <a:r>
              <a:rPr lang="en-US" altLang="en-US" dirty="0">
                <a:latin typeface="Times New Roman" panose="02020603050405020304" pitchFamily="18" charset="0"/>
                <a:cs typeface="Times New Roman" panose="02020603050405020304" pitchFamily="18" charset="0"/>
              </a:rPr>
              <a:t> boilerplate</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Emphasis on clean design and minimal user steps for document capture and sync.</a:t>
            </a:r>
          </a:p>
          <a:p>
            <a:pPr marL="0" marR="0" lvl="0" indent="0" defTabSz="914400" rtl="0" eaLnBrk="0" fontAlgn="base" latinLnBrk="0" hangingPunct="0">
              <a:lnSpc>
                <a:spcPct val="100000"/>
              </a:lnSpc>
              <a:spcBef>
                <a:spcPct val="0"/>
              </a:spcBef>
              <a:spcAft>
                <a:spcPct val="0"/>
              </a:spcAft>
              <a:buClrTx/>
              <a:buSzTx/>
              <a:tabLst/>
            </a:pPr>
            <a:endParaRPr kumimoji="0" lang="en-US" altLang="en-US" sz="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8636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3" name="TextBox 12">
            <a:extLst>
              <a:ext uri="{FF2B5EF4-FFF2-40B4-BE49-F238E27FC236}">
                <a16:creationId xmlns:a16="http://schemas.microsoft.com/office/drawing/2014/main" id="{679BA9F3-71A3-9D99-0139-385EC154622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
        <p:nvSpPr>
          <p:cNvPr id="2" name="TextBox 1">
            <a:extLst>
              <a:ext uri="{FF2B5EF4-FFF2-40B4-BE49-F238E27FC236}">
                <a16:creationId xmlns:a16="http://schemas.microsoft.com/office/drawing/2014/main" id="{16E6AB46-D0DC-6F88-6E68-42A585583CE8}"/>
              </a:ext>
            </a:extLst>
          </p:cNvPr>
          <p:cNvSpPr txBox="1"/>
          <p:nvPr/>
        </p:nvSpPr>
        <p:spPr>
          <a:xfrm>
            <a:off x="64008" y="901192"/>
            <a:ext cx="11484864" cy="63555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CORE DEVELOPMENT TOOLS &amp; TECHNOLOGIES</a:t>
            </a:r>
          </a:p>
          <a:p>
            <a:endParaRPr lang="en-IN" sz="800" b="1" u="sng"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Programming Language &amp; IDE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Python programming language and it’s framework flask is used for AI/OCR tasks.</a:t>
            </a:r>
          </a:p>
          <a:p>
            <a:r>
              <a:rPr lang="en-US" dirty="0">
                <a:latin typeface="Times New Roman" panose="02020603050405020304" pitchFamily="18" charset="0"/>
                <a:cs typeface="Times New Roman" panose="02020603050405020304" pitchFamily="18" charset="0"/>
              </a:rPr>
              <a:t>HTML, CSS, JavaScript and </a:t>
            </a:r>
            <a:r>
              <a:rPr lang="en-US" dirty="0" err="1">
                <a:latin typeface="Times New Roman" panose="02020603050405020304" pitchFamily="18" charset="0"/>
                <a:cs typeface="Times New Roman" panose="02020603050405020304" pitchFamily="18" charset="0"/>
              </a:rPr>
              <a:t>React.Js</a:t>
            </a:r>
            <a:r>
              <a:rPr lang="en-US" dirty="0">
                <a:latin typeface="Times New Roman" panose="02020603050405020304" pitchFamily="18" charset="0"/>
                <a:cs typeface="Times New Roman" panose="02020603050405020304" pitchFamily="18" charset="0"/>
              </a:rPr>
              <a:t> for desktop and mobile dashboard and interface.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IDEs include PyCharm (for Python) and Visual Studio Code (for desktop).</a:t>
            </a:r>
          </a:p>
          <a:p>
            <a:endParaRPr lang="en-US" sz="9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OCR &amp; AI Libraries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PaddleOCR</a:t>
            </a:r>
            <a:r>
              <a:rPr lang="en-US" dirty="0">
                <a:latin typeface="Times New Roman" panose="02020603050405020304" pitchFamily="18" charset="0"/>
                <a:cs typeface="Times New Roman" panose="02020603050405020304" pitchFamily="18" charset="0"/>
              </a:rPr>
              <a:t> (GPU-accelerated), OpenCV, and </a:t>
            </a:r>
            <a:r>
              <a:rPr lang="en-US" dirty="0" err="1">
                <a:latin typeface="Times New Roman" panose="02020603050405020304" pitchFamily="18" charset="0"/>
                <a:cs typeface="Times New Roman" panose="02020603050405020304" pitchFamily="18" charset="0"/>
              </a:rPr>
              <a:t>Ollama</a:t>
            </a:r>
            <a:r>
              <a:rPr lang="en-US" dirty="0">
                <a:latin typeface="Times New Roman" panose="02020603050405020304" pitchFamily="18" charset="0"/>
                <a:cs typeface="Times New Roman" panose="02020603050405020304" pitchFamily="18" charset="0"/>
              </a:rPr>
              <a:t> are used for text extraction and image enhancement</a:t>
            </a:r>
          </a:p>
          <a:p>
            <a:r>
              <a:rPr lang="en-US" dirty="0">
                <a:latin typeface="Times New Roman" panose="02020603050405020304" pitchFamily="18" charset="0"/>
                <a:cs typeface="Times New Roman" panose="02020603050405020304" pitchFamily="18" charset="0"/>
              </a:rPr>
              <a:t>Pre-trained models are fine-tuned for document detection and layout analysis.</a:t>
            </a:r>
          </a:p>
          <a:p>
            <a:pPr>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Platform Communication APIs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 of HTTP/TCP protocols with socket-based local communication for file sharing across mobile, desktop, and printers.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 and sync logic includes fallback modes for offline operation.</a:t>
            </a:r>
          </a:p>
          <a:p>
            <a:pPr>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Version Control (Git)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Git is used for source code management and collaboration.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Hosted on GitHub for tracking changes, rollbacks, and deployment coordination.</a:t>
            </a:r>
          </a:p>
          <a:p>
            <a:pPr>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Deployment:</a:t>
            </a:r>
          </a:p>
          <a:p>
            <a:pPr lvl="0" algn="just"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 Desktop and Mobile UI web app is deployed on </a:t>
            </a:r>
            <a:r>
              <a:rPr lang="en-US" altLang="en-US" dirty="0" err="1">
                <a:latin typeface="Times New Roman" panose="02020603050405020304" pitchFamily="18" charset="0"/>
                <a:cs typeface="Times New Roman" panose="02020603050405020304" pitchFamily="18" charset="0"/>
              </a:rPr>
              <a:t>vercel</a:t>
            </a:r>
            <a:r>
              <a:rPr lang="en-US" altLang="en-US" dirty="0">
                <a:latin typeface="Times New Roman" panose="02020603050405020304" pitchFamily="18" charset="0"/>
                <a:cs typeface="Times New Roman" panose="02020603050405020304" pitchFamily="18" charset="0"/>
              </a:rPr>
              <a:t> and also the app can run locally with TCP/IP Socket.</a:t>
            </a:r>
          </a:p>
          <a:p>
            <a:pPr lvl="0" algn="just"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 Backend is currently running on local device to run the system offline.</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3770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406997"/>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86922"/>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86922"/>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86922"/>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86922"/>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509147"/>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4877" y="0"/>
            <a:ext cx="12172493" cy="955522"/>
          </a:xfrm>
          <a:prstGeom prst="rect">
            <a:avLst/>
          </a:prstGeom>
        </p:spPr>
      </p:pic>
      <p:sp>
        <p:nvSpPr>
          <p:cNvPr id="12" name="Title 1">
            <a:extLst>
              <a:ext uri="{FF2B5EF4-FFF2-40B4-BE49-F238E27FC236}">
                <a16:creationId xmlns:a16="http://schemas.microsoft.com/office/drawing/2014/main" id="{C0C564C5-9C63-3757-F2FB-5774852514B3}"/>
              </a:ext>
            </a:extLst>
          </p:cNvPr>
          <p:cNvSpPr txBox="1">
            <a:spLocks/>
          </p:cNvSpPr>
          <p:nvPr/>
        </p:nvSpPr>
        <p:spPr>
          <a:xfrm>
            <a:off x="184948" y="982287"/>
            <a:ext cx="10515600" cy="72625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CONCLUSIONS</a:t>
            </a:r>
            <a:endParaRPr lang="en-IN" sz="28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D2C34C0-0C30-E035-A621-B25852570A9B}"/>
              </a:ext>
            </a:extLst>
          </p:cNvPr>
          <p:cNvSpPr>
            <a:spLocks noChangeArrowheads="1"/>
          </p:cNvSpPr>
          <p:nvPr/>
        </p:nvSpPr>
        <p:spPr bwMode="auto">
          <a:xfrm>
            <a:off x="184948" y="1441754"/>
            <a:ext cx="11761076"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Without AI, document workflows heavily depended on repetitive manual tasks such as scanning, editing, organizing, and printing, often resulting in delays, inconsistencies, and resource waste. These conventional methods lacked adaptability, offline support, and smart processing capabilities.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 the implementation of </a:t>
            </a:r>
            <a:r>
              <a:rPr lang="en-US" dirty="0" err="1">
                <a:latin typeface="Times New Roman" panose="02020603050405020304" pitchFamily="18" charset="0"/>
                <a:cs typeface="Times New Roman" panose="02020603050405020304" pitchFamily="18" charset="0"/>
              </a:rPr>
              <a:t>PrintChakra</a:t>
            </a:r>
            <a:r>
              <a:rPr lang="en-US" dirty="0">
                <a:latin typeface="Times New Roman" panose="02020603050405020304" pitchFamily="18" charset="0"/>
                <a:cs typeface="Times New Roman" panose="02020603050405020304" pitchFamily="18" charset="0"/>
              </a:rPr>
              <a:t> AI, document handling has become significantly more intelligent and autonomous. The integration of real-time OCR, image enhancement, and offline synchronization bridges the gap between physical and digital processes.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result is a streamlined system that reduces human effort, ensures higher accuracy, and enables consistent performance across devices, ultimately transforming outdated practices into a robust, modern document management solution.</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FEE5469-4A92-5F16-A162-A58A2D8B53B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1239734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406997"/>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1">
            <a:extLst>
              <a:ext uri="{28A0092B-C50C-407E-A947-70E740481C1C}">
                <a14:useLocalDpi xmlns:a14="http://schemas.microsoft.com/office/drawing/2010/main" val="0"/>
              </a:ext>
            </a:extLst>
          </a:blip>
          <a:srcRect l="1258" t="6458" r="666" b="6557"/>
          <a:stretch/>
        </p:blipFill>
        <p:spPr>
          <a:xfrm>
            <a:off x="4877" y="0"/>
            <a:ext cx="12172493" cy="955522"/>
          </a:xfrm>
          <a:prstGeom prst="rect">
            <a:avLst/>
          </a:prstGeom>
        </p:spPr>
      </p:pic>
      <p:sp>
        <p:nvSpPr>
          <p:cNvPr id="12" name="Title 1">
            <a:extLst>
              <a:ext uri="{FF2B5EF4-FFF2-40B4-BE49-F238E27FC236}">
                <a16:creationId xmlns:a16="http://schemas.microsoft.com/office/drawing/2014/main" id="{C0C564C5-9C63-3757-F2FB-5774852514B3}"/>
              </a:ext>
            </a:extLst>
          </p:cNvPr>
          <p:cNvSpPr txBox="1">
            <a:spLocks/>
          </p:cNvSpPr>
          <p:nvPr/>
        </p:nvSpPr>
        <p:spPr>
          <a:xfrm>
            <a:off x="184948" y="922424"/>
            <a:ext cx="10515600" cy="72625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a:t>
            </a:r>
          </a:p>
        </p:txBody>
      </p:sp>
      <p:sp>
        <p:nvSpPr>
          <p:cNvPr id="2" name="Rectangle 1">
            <a:extLst>
              <a:ext uri="{FF2B5EF4-FFF2-40B4-BE49-F238E27FC236}">
                <a16:creationId xmlns:a16="http://schemas.microsoft.com/office/drawing/2014/main" id="{6D2C34C0-0C30-E035-A621-B25852570A9B}"/>
              </a:ext>
            </a:extLst>
          </p:cNvPr>
          <p:cNvSpPr>
            <a:spLocks noChangeArrowheads="1"/>
          </p:cNvSpPr>
          <p:nvPr/>
        </p:nvSpPr>
        <p:spPr bwMode="auto">
          <a:xfrm>
            <a:off x="256031" y="1466522"/>
            <a:ext cx="1138428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Cloud &amp; SaaS readiness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 Rework storage to support multi-tenant S3 buckets, tenant isolation, and per-tenant quotas.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 Offer hosted deployments with self-service signup and team management.</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Background processing &amp; scaling</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 Move heavy image/OCR processing to background workers (Celery/RQ) with Redis and autoscaling workers.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 Add observability per task (latency, retries, failure rate).</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Document intelligence</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 Add document classification and structured extraction (invoices, receipts, forms). Provide export adapters (CSV, JSON, integrations).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 Provide configurable workflows using RAG, </a:t>
            </a:r>
            <a:r>
              <a:rPr lang="en-US" altLang="en-US" dirty="0" err="1">
                <a:latin typeface="Times New Roman" panose="02020603050405020304" pitchFamily="18" charset="0"/>
                <a:cs typeface="Times New Roman" panose="02020603050405020304" pitchFamily="18" charset="0"/>
              </a:rPr>
              <a:t>Langchain</a:t>
            </a:r>
            <a:r>
              <a:rPr lang="en-US" altLang="en-US" dirty="0">
                <a:latin typeface="Times New Roman" panose="02020603050405020304" pitchFamily="18" charset="0"/>
                <a:cs typeface="Times New Roman" panose="02020603050405020304" pitchFamily="18" charset="0"/>
              </a:rPr>
              <a:t> and N8N: when X detected → run Y → notify Z.</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Ecosystem &amp; integrations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 Provide connectors: Google Drive, Dropbox, Slack, Zapier, and accounting systems for automated flows.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FEE5469-4A92-5F16-A162-A58A2D8B53B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4047730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6167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itle 1">
            <a:extLst>
              <a:ext uri="{FF2B5EF4-FFF2-40B4-BE49-F238E27FC236}">
                <a16:creationId xmlns:a16="http://schemas.microsoft.com/office/drawing/2014/main" id="{F7BBAE8D-C54F-1AF5-D823-29C0B4F53201}"/>
              </a:ext>
            </a:extLst>
          </p:cNvPr>
          <p:cNvSpPr txBox="1">
            <a:spLocks/>
          </p:cNvSpPr>
          <p:nvPr/>
        </p:nvSpPr>
        <p:spPr>
          <a:xfrm>
            <a:off x="184948" y="1062252"/>
            <a:ext cx="10515600" cy="72625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Times New Roman" panose="02020603050405020304" pitchFamily="18" charset="0"/>
                <a:cs typeface="Times New Roman" panose="02020603050405020304" pitchFamily="18" charset="0"/>
              </a:rPr>
              <a:t>REFERENCE</a:t>
            </a:r>
          </a:p>
        </p:txBody>
      </p:sp>
      <p:sp>
        <p:nvSpPr>
          <p:cNvPr id="13" name="TextBox 12">
            <a:extLst>
              <a:ext uri="{FF2B5EF4-FFF2-40B4-BE49-F238E27FC236}">
                <a16:creationId xmlns:a16="http://schemas.microsoft.com/office/drawing/2014/main" id="{B32DBCA0-A1C3-A79C-EFA7-585FEE4C374D}"/>
              </a:ext>
            </a:extLst>
          </p:cNvPr>
          <p:cNvSpPr txBox="1"/>
          <p:nvPr/>
        </p:nvSpPr>
        <p:spPr>
          <a:xfrm>
            <a:off x="184948" y="1495488"/>
            <a:ext cx="11672991" cy="5028556"/>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Idris, N., </a:t>
            </a:r>
            <a:r>
              <a:rPr lang="en-IN" b="1" dirty="0" err="1">
                <a:latin typeface="Times New Roman" panose="02020603050405020304" pitchFamily="18" charset="0"/>
                <a:cs typeface="Times New Roman" panose="02020603050405020304" pitchFamily="18" charset="0"/>
              </a:rPr>
              <a:t>Foozy</a:t>
            </a:r>
            <a:r>
              <a:rPr lang="en-IN" b="1" dirty="0">
                <a:latin typeface="Times New Roman" panose="02020603050405020304" pitchFamily="18" charset="0"/>
                <a:cs typeface="Times New Roman" panose="02020603050405020304" pitchFamily="18" charset="0"/>
              </a:rPr>
              <a:t>, C. F. M., and Shamala, P., </a:t>
            </a:r>
            <a:r>
              <a:rPr lang="en-IN" dirty="0">
                <a:latin typeface="Times New Roman" panose="02020603050405020304" pitchFamily="18" charset="0"/>
                <a:cs typeface="Times New Roman" panose="02020603050405020304" pitchFamily="18" charset="0"/>
              </a:rPr>
              <a:t>“A Generic Review of Web Technology: </a:t>
            </a:r>
            <a:r>
              <a:rPr lang="en-IN" dirty="0" err="1">
                <a:latin typeface="Times New Roman" panose="02020603050405020304" pitchFamily="18" charset="0"/>
                <a:cs typeface="Times New Roman" panose="02020603050405020304" pitchFamily="18" charset="0"/>
              </a:rPr>
              <a:t>DJango</a:t>
            </a:r>
            <a:r>
              <a:rPr lang="en-IN" dirty="0">
                <a:latin typeface="Times New Roman" panose="02020603050405020304" pitchFamily="18" charset="0"/>
                <a:cs typeface="Times New Roman" panose="02020603050405020304" pitchFamily="18" charset="0"/>
              </a:rPr>
              <a:t> and Flask”, </a:t>
            </a:r>
            <a:r>
              <a:rPr lang="en-IN" b="1" dirty="0">
                <a:latin typeface="Times New Roman" panose="02020603050405020304" pitchFamily="18" charset="0"/>
                <a:cs typeface="Times New Roman" panose="02020603050405020304" pitchFamily="18" charset="0"/>
              </a:rPr>
              <a:t>International Journal of Advanced Computing Science and Engineering</a:t>
            </a:r>
            <a:r>
              <a:rPr lang="en-IN" dirty="0">
                <a:latin typeface="Times New Roman" panose="02020603050405020304" pitchFamily="18" charset="0"/>
                <a:cs typeface="Times New Roman" panose="02020603050405020304" pitchFamily="18" charset="0"/>
              </a:rPr>
              <a:t>, vol. 2, no. 1, pp. 34-40, 2020. </a:t>
            </a:r>
            <a:r>
              <a:rPr lang="en-IN" dirty="0">
                <a:latin typeface="Times New Roman" panose="02020603050405020304" pitchFamily="18" charset="0"/>
                <a:cs typeface="Times New Roman" panose="02020603050405020304" pitchFamily="18" charset="0"/>
                <a:hlinkClick r:id="rId3"/>
              </a:rPr>
              <a:t>https://doi.org/10.62527/ijasce.2.1.29</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 [2] </a:t>
            </a:r>
            <a:r>
              <a:rPr lang="en-IN" b="1" dirty="0">
                <a:latin typeface="Times New Roman" panose="02020603050405020304" pitchFamily="18" charset="0"/>
                <a:cs typeface="Times New Roman" panose="02020603050405020304" pitchFamily="18" charset="0"/>
              </a:rPr>
              <a:t>Sisodia, P. and Rizvi, S. W. A., </a:t>
            </a:r>
            <a:r>
              <a:rPr lang="en-IN" dirty="0">
                <a:latin typeface="Times New Roman" panose="02020603050405020304" pitchFamily="18" charset="0"/>
                <a:cs typeface="Times New Roman" panose="02020603050405020304" pitchFamily="18" charset="0"/>
              </a:rPr>
              <a:t>“Optical Character Recognition Development Using Python”, </a:t>
            </a:r>
            <a:r>
              <a:rPr lang="en-IN" b="1" dirty="0">
                <a:latin typeface="Times New Roman" panose="02020603050405020304" pitchFamily="18" charset="0"/>
                <a:cs typeface="Times New Roman" panose="02020603050405020304" pitchFamily="18" charset="0"/>
              </a:rPr>
              <a:t>Journal of Informatics Electrical and Electronics Engineering (JIEEE), </a:t>
            </a:r>
            <a:r>
              <a:rPr lang="en-IN" dirty="0">
                <a:latin typeface="Times New Roman" panose="02020603050405020304" pitchFamily="18" charset="0"/>
                <a:cs typeface="Times New Roman" panose="02020603050405020304" pitchFamily="18" charset="0"/>
              </a:rPr>
              <a:t>vol. 4, no. 3, pp. 1–13, 2023. </a:t>
            </a:r>
            <a:r>
              <a:rPr lang="en-IN" dirty="0">
                <a:latin typeface="Times New Roman" panose="02020603050405020304" pitchFamily="18" charset="0"/>
                <a:cs typeface="Times New Roman" panose="02020603050405020304" pitchFamily="18" charset="0"/>
                <a:hlinkClick r:id="rId4"/>
              </a:rPr>
              <a:t>https://doi.org/10.54060/jieee.2023.75</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  [3] </a:t>
            </a:r>
            <a:r>
              <a:rPr lang="en-US" b="1" dirty="0">
                <a:latin typeface="Times New Roman" panose="02020603050405020304" pitchFamily="18" charset="0"/>
                <a:cs typeface="Times New Roman" panose="02020603050405020304" pitchFamily="18" charset="0"/>
              </a:rPr>
              <a:t>Snehalatha, B. K et .al., </a:t>
            </a:r>
            <a:r>
              <a:rPr lang="en-US" dirty="0">
                <a:latin typeface="Times New Roman" panose="02020603050405020304" pitchFamily="18" charset="0"/>
                <a:cs typeface="Times New Roman" panose="02020603050405020304" pitchFamily="18" charset="0"/>
              </a:rPr>
              <a:t>“Image Streaming Using Real Time Protocol,” </a:t>
            </a:r>
            <a:r>
              <a:rPr lang="en-US" b="1" dirty="0">
                <a:latin typeface="Times New Roman" panose="02020603050405020304" pitchFamily="18" charset="0"/>
                <a:cs typeface="Times New Roman" panose="02020603050405020304" pitchFamily="18" charset="0"/>
              </a:rPr>
              <a:t>International Journal for Research in Applied Science &amp; Engineering Technology (IJRASET)</a:t>
            </a:r>
            <a:r>
              <a:rPr lang="en-US" dirty="0">
                <a:latin typeface="Times New Roman" panose="02020603050405020304" pitchFamily="18" charset="0"/>
                <a:cs typeface="Times New Roman" panose="02020603050405020304" pitchFamily="18" charset="0"/>
              </a:rPr>
              <a:t>, vol. 13, issue IX, 2025. </a:t>
            </a:r>
            <a:r>
              <a:rPr lang="en-US" dirty="0">
                <a:latin typeface="Times New Roman" panose="02020603050405020304" pitchFamily="18" charset="0"/>
                <a:cs typeface="Times New Roman" panose="02020603050405020304" pitchFamily="18" charset="0"/>
                <a:hlinkClick r:id="rId5"/>
              </a:rPr>
              <a:t>https://doi.org/10.22214/ijraset.2025.74033</a:t>
            </a:r>
            <a:r>
              <a:rPr lang="en-US" dirty="0">
                <a:latin typeface="Times New Roman" panose="02020603050405020304" pitchFamily="18" charset="0"/>
                <a:cs typeface="Times New Roman" panose="02020603050405020304" pitchFamily="18" charset="0"/>
              </a:rPr>
              <a:t> </a:t>
            </a:r>
          </a:p>
          <a:p>
            <a:pPr>
              <a:lnSpc>
                <a:spcPct val="150000"/>
              </a:lnSpc>
            </a:pPr>
            <a:r>
              <a:rPr lang="en-US" dirty="0">
                <a:latin typeface="Times New Roman" panose="02020603050405020304" pitchFamily="18" charset="0"/>
                <a:cs typeface="Times New Roman" panose="02020603050405020304" pitchFamily="18" charset="0"/>
              </a:rPr>
              <a:t>   [4] </a:t>
            </a:r>
            <a:r>
              <a:rPr lang="en-IN" b="1" dirty="0">
                <a:latin typeface="Times New Roman" panose="02020603050405020304" pitchFamily="18" charset="0"/>
                <a:cs typeface="Times New Roman" panose="02020603050405020304" pitchFamily="18" charset="0"/>
              </a:rPr>
              <a:t>Santos-González, I., Rivero-García, A., Molina-Gil, J., and Caballero-Gil, P., </a:t>
            </a:r>
            <a:r>
              <a:rPr lang="en-IN" dirty="0">
                <a:latin typeface="Times New Roman" panose="02020603050405020304" pitchFamily="18" charset="0"/>
                <a:cs typeface="Times New Roman" panose="02020603050405020304" pitchFamily="18" charset="0"/>
              </a:rPr>
              <a:t>“Implementation and Analysis of Real-Time Streaming Protocols”, </a:t>
            </a:r>
            <a:r>
              <a:rPr lang="en-IN" b="1" dirty="0">
                <a:latin typeface="Times New Roman" panose="02020603050405020304" pitchFamily="18" charset="0"/>
                <a:cs typeface="Times New Roman" panose="02020603050405020304" pitchFamily="18" charset="0"/>
              </a:rPr>
              <a:t>Sensors</a:t>
            </a:r>
            <a:r>
              <a:rPr lang="en-IN" dirty="0">
                <a:latin typeface="Times New Roman" panose="02020603050405020304" pitchFamily="18" charset="0"/>
                <a:cs typeface="Times New Roman" panose="02020603050405020304" pitchFamily="18" charset="0"/>
              </a:rPr>
              <a:t>, vol. 17, no. 4, Article 846, 2017. </a:t>
            </a:r>
            <a:r>
              <a:rPr lang="en-IN" dirty="0">
                <a:latin typeface="Times New Roman" panose="02020603050405020304" pitchFamily="18" charset="0"/>
                <a:cs typeface="Times New Roman" panose="02020603050405020304" pitchFamily="18" charset="0"/>
                <a:hlinkClick r:id="rId6"/>
              </a:rPr>
              <a:t>https://doi.org/10.3390/s17040846</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   [5] </a:t>
            </a:r>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Hämäläinen M et .al., </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Optical character recognition with neural networks and post-processing,” </a:t>
            </a:r>
            <a:r>
              <a:rPr lang="en-US" b="1" dirty="0">
                <a:latin typeface="Times New Roman" panose="02020603050405020304" pitchFamily="18" charset="0"/>
                <a:cs typeface="Times New Roman" panose="02020603050405020304" pitchFamily="18" charset="0"/>
              </a:rPr>
              <a:t>Journal of Computational Science</a:t>
            </a:r>
            <a:r>
              <a:rPr lang="en-US" dirty="0">
                <a:latin typeface="Times New Roman" panose="02020603050405020304" pitchFamily="18" charset="0"/>
                <a:cs typeface="Times New Roman" panose="02020603050405020304" pitchFamily="18" charset="0"/>
              </a:rPr>
              <a:t>, vol. 45, Article 101139, 2020. </a:t>
            </a:r>
            <a:r>
              <a:rPr lang="en-US" dirty="0">
                <a:latin typeface="Times New Roman" panose="02020603050405020304" pitchFamily="18" charset="0"/>
                <a:cs typeface="Times New Roman" panose="02020603050405020304" pitchFamily="18" charset="0"/>
                <a:hlinkClick r:id="rId7"/>
              </a:rPr>
              <a:t>https://doi.org/10.1016/j.jocs.2020.101139</a:t>
            </a:r>
            <a:endParaRPr lang="en-US"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99E937A-9E45-7B81-D563-43C074AE2F8D}"/>
              </a:ext>
            </a:extLst>
          </p:cNvPr>
          <p:cNvSpPr txBox="1"/>
          <p:nvPr/>
        </p:nvSpPr>
        <p:spPr>
          <a:xfrm>
            <a:off x="184948" y="6705084"/>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pic>
        <p:nvPicPr>
          <p:cNvPr id="14" name="Picture 4">
            <a:extLst>
              <a:ext uri="{FF2B5EF4-FFF2-40B4-BE49-F238E27FC236}">
                <a16:creationId xmlns:a16="http://schemas.microsoft.com/office/drawing/2014/main" id="{31236D28-F39C-4850-9979-8046D0A810E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8726575" y="6756916"/>
            <a:ext cx="317500" cy="317500"/>
          </a:xfrm>
          <a:prstGeom prst="rect">
            <a:avLst/>
          </a:prstGeom>
        </p:spPr>
      </p:pic>
      <p:pic>
        <p:nvPicPr>
          <p:cNvPr id="16" name="Picture 5">
            <a:extLst>
              <a:ext uri="{FF2B5EF4-FFF2-40B4-BE49-F238E27FC236}">
                <a16:creationId xmlns:a16="http://schemas.microsoft.com/office/drawing/2014/main" id="{FB5B8FEC-1277-4460-9D45-1291BAB090A7}"/>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9119414" y="6756916"/>
            <a:ext cx="317500" cy="317500"/>
          </a:xfrm>
          <a:prstGeom prst="rect">
            <a:avLst/>
          </a:prstGeom>
        </p:spPr>
      </p:pic>
      <p:pic>
        <p:nvPicPr>
          <p:cNvPr id="17" name="Picture 6">
            <a:extLst>
              <a:ext uri="{FF2B5EF4-FFF2-40B4-BE49-F238E27FC236}">
                <a16:creationId xmlns:a16="http://schemas.microsoft.com/office/drawing/2014/main" id="{B9551046-81BD-4FAF-84EF-AD71E53FAC39}"/>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a:xfrm>
            <a:off x="9512253" y="6756916"/>
            <a:ext cx="317500" cy="317500"/>
          </a:xfrm>
          <a:prstGeom prst="rect">
            <a:avLst/>
          </a:prstGeom>
        </p:spPr>
      </p:pic>
      <p:pic>
        <p:nvPicPr>
          <p:cNvPr id="18" name="Picture 7">
            <a:extLst>
              <a:ext uri="{FF2B5EF4-FFF2-40B4-BE49-F238E27FC236}">
                <a16:creationId xmlns:a16="http://schemas.microsoft.com/office/drawing/2014/main" id="{8A93BDB5-2FC1-4BF4-9CE1-E211012E1008}"/>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a:xfrm>
            <a:off x="9883567" y="6756916"/>
            <a:ext cx="317500" cy="317500"/>
          </a:xfrm>
          <a:prstGeom prst="rect">
            <a:avLst/>
          </a:prstGeom>
        </p:spPr>
      </p:pic>
      <p:sp>
        <p:nvSpPr>
          <p:cNvPr id="21" name="TextBox 8">
            <a:extLst>
              <a:ext uri="{FF2B5EF4-FFF2-40B4-BE49-F238E27FC236}">
                <a16:creationId xmlns:a16="http://schemas.microsoft.com/office/drawing/2014/main" id="{C578A431-EE6D-447D-9B4E-9BFA215E166A}"/>
              </a:ext>
            </a:extLst>
          </p:cNvPr>
          <p:cNvSpPr txBox="1"/>
          <p:nvPr/>
        </p:nvSpPr>
        <p:spPr>
          <a:xfrm>
            <a:off x="10201067" y="6779141"/>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Tree>
    <p:extLst>
      <p:ext uri="{BB962C8B-B14F-4D97-AF65-F5344CB8AC3E}">
        <p14:creationId xmlns:p14="http://schemas.microsoft.com/office/powerpoint/2010/main" val="3543838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D493-5C00-BBB1-EBC8-2D66D6A1CAE2}"/>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D2D727EA-3C87-02DE-EF9B-8B6DDF28700D}"/>
              </a:ext>
            </a:extLst>
          </p:cNvPr>
          <p:cNvGrpSpPr/>
          <p:nvPr/>
        </p:nvGrpSpPr>
        <p:grpSpPr>
          <a:xfrm>
            <a:off x="0" y="66167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F0A13D4D-BC1C-9EEE-CA7F-13EE454B562D}"/>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D90570BE-E3C2-0546-3203-1A48BC4A4EA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6118342-D24C-E7A0-877E-C8041693D6AB}"/>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3" name="TextBox 12">
            <a:extLst>
              <a:ext uri="{FF2B5EF4-FFF2-40B4-BE49-F238E27FC236}">
                <a16:creationId xmlns:a16="http://schemas.microsoft.com/office/drawing/2014/main" id="{9D16DD1C-E3AB-7FF8-C568-40AFD3D3E381}"/>
              </a:ext>
            </a:extLst>
          </p:cNvPr>
          <p:cNvSpPr txBox="1"/>
          <p:nvPr/>
        </p:nvSpPr>
        <p:spPr>
          <a:xfrm>
            <a:off x="184948" y="997010"/>
            <a:ext cx="11687012" cy="6253315"/>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[6] </a:t>
            </a:r>
            <a:r>
              <a:rPr lang="en-IN" b="1" dirty="0">
                <a:latin typeface="Times New Roman" panose="02020603050405020304" pitchFamily="18" charset="0"/>
                <a:cs typeface="Times New Roman" panose="02020603050405020304" pitchFamily="18" charset="0"/>
              </a:rPr>
              <a:t>Otsu, N., </a:t>
            </a:r>
            <a:r>
              <a:rPr lang="en-IN" dirty="0">
                <a:latin typeface="Times New Roman" panose="02020603050405020304" pitchFamily="18" charset="0"/>
                <a:cs typeface="Times New Roman" panose="02020603050405020304" pitchFamily="18" charset="0"/>
              </a:rPr>
              <a:t>“A Threshold Selection Method from Gray-Level Histograms”, </a:t>
            </a:r>
            <a:r>
              <a:rPr lang="en-IN" b="1" dirty="0">
                <a:latin typeface="Times New Roman" panose="02020603050405020304" pitchFamily="18" charset="0"/>
                <a:cs typeface="Times New Roman" panose="02020603050405020304" pitchFamily="18" charset="0"/>
              </a:rPr>
              <a:t>IEEE Transactions on Systems, Man, and Cybernetics</a:t>
            </a:r>
            <a:r>
              <a:rPr lang="en-IN" dirty="0">
                <a:latin typeface="Times New Roman" panose="02020603050405020304" pitchFamily="18" charset="0"/>
                <a:cs typeface="Times New Roman" panose="02020603050405020304" pitchFamily="18" charset="0"/>
              </a:rPr>
              <a:t>, vol. SMC-9, no. 1, pp. 62–66, 1979. </a:t>
            </a:r>
            <a:r>
              <a:rPr lang="en-IN" dirty="0">
                <a:latin typeface="Times New Roman" panose="02020603050405020304" pitchFamily="18" charset="0"/>
                <a:cs typeface="Times New Roman" panose="02020603050405020304" pitchFamily="18" charset="0"/>
                <a:hlinkClick r:id="rId3"/>
              </a:rPr>
              <a:t>https://doi.org/10.1109/TSMC.1979.4310076</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[7] </a:t>
            </a:r>
            <a:r>
              <a:rPr lang="en-IN" b="1" dirty="0">
                <a:latin typeface="Times New Roman" panose="02020603050405020304" pitchFamily="18" charset="0"/>
                <a:cs typeface="Times New Roman" panose="02020603050405020304" pitchFamily="18" charset="0"/>
              </a:rPr>
              <a:t>Venkatesh S., John De Britto C., Subhashini P., and Somasundaram K., </a:t>
            </a:r>
            <a:r>
              <a:rPr lang="en-IN" dirty="0">
                <a:latin typeface="Times New Roman" panose="02020603050405020304" pitchFamily="18" charset="0"/>
                <a:cs typeface="Times New Roman" panose="02020603050405020304" pitchFamily="18" charset="0"/>
              </a:rPr>
              <a:t>“Image Enhancement and Implementation of CLAHE Algorithm and Bilinear Interpolation”, </a:t>
            </a:r>
            <a:r>
              <a:rPr lang="en-IN" b="1" dirty="0">
                <a:latin typeface="Times New Roman" panose="02020603050405020304" pitchFamily="18" charset="0"/>
                <a:cs typeface="Times New Roman" panose="02020603050405020304" pitchFamily="18" charset="0"/>
              </a:rPr>
              <a:t>Cybernetics  Systems</a:t>
            </a:r>
            <a:r>
              <a:rPr lang="en-IN" dirty="0">
                <a:latin typeface="Times New Roman" panose="02020603050405020304" pitchFamily="18" charset="0"/>
                <a:cs typeface="Times New Roman" panose="02020603050405020304" pitchFamily="18" charset="0"/>
              </a:rPr>
              <a:t>, 2022. </a:t>
            </a:r>
            <a:r>
              <a:rPr lang="en-IN" dirty="0">
                <a:latin typeface="Times New Roman" panose="02020603050405020304" pitchFamily="18" charset="0"/>
                <a:cs typeface="Times New Roman" panose="02020603050405020304" pitchFamily="18" charset="0"/>
                <a:hlinkClick r:id="rId4"/>
              </a:rPr>
              <a:t>https://doi.org/10.1080/01969722.2022.2147128</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[8] </a:t>
            </a:r>
            <a:r>
              <a:rPr lang="en-IN" b="1" dirty="0" err="1">
                <a:latin typeface="Times New Roman" panose="02020603050405020304" pitchFamily="18" charset="0"/>
                <a:cs typeface="Times New Roman" panose="02020603050405020304" pitchFamily="18" charset="0"/>
              </a:rPr>
              <a:t>Zaharescu</a:t>
            </a:r>
            <a:r>
              <a:rPr lang="en-IN" b="1" dirty="0">
                <a:latin typeface="Times New Roman" panose="02020603050405020304" pitchFamily="18" charset="0"/>
                <a:cs typeface="Times New Roman" panose="02020603050405020304" pitchFamily="18" charset="0"/>
              </a:rPr>
              <a:t>, M., </a:t>
            </a:r>
            <a:r>
              <a:rPr lang="en-IN" b="1" dirty="0" err="1">
                <a:latin typeface="Times New Roman" panose="02020603050405020304" pitchFamily="18" charset="0"/>
                <a:cs typeface="Times New Roman" panose="02020603050405020304" pitchFamily="18" charset="0"/>
              </a:rPr>
              <a:t>Boiangiu</a:t>
            </a:r>
            <a:r>
              <a:rPr lang="en-IN" b="1" dirty="0">
                <a:latin typeface="Times New Roman" panose="02020603050405020304" pitchFamily="18" charset="0"/>
                <a:cs typeface="Times New Roman" panose="02020603050405020304" pitchFamily="18" charset="0"/>
              </a:rPr>
              <a:t>, C.-A., and Bucur, I., </a:t>
            </a:r>
            <a:r>
              <a:rPr lang="en-IN" dirty="0">
                <a:latin typeface="Times New Roman" panose="02020603050405020304" pitchFamily="18" charset="0"/>
                <a:cs typeface="Times New Roman" panose="02020603050405020304" pitchFamily="18" charset="0"/>
              </a:rPr>
              <a:t>“A Survey on Document Image Skew Detection”, </a:t>
            </a:r>
            <a:r>
              <a:rPr lang="en-IN" b="1" dirty="0">
                <a:latin typeface="Times New Roman" panose="02020603050405020304" pitchFamily="18" charset="0"/>
                <a:cs typeface="Times New Roman" panose="02020603050405020304" pitchFamily="18" charset="0"/>
              </a:rPr>
              <a:t>Journal of Information Systems &amp; Operations Management</a:t>
            </a:r>
            <a:r>
              <a:rPr lang="en-IN" dirty="0">
                <a:latin typeface="Times New Roman" panose="02020603050405020304" pitchFamily="18" charset="0"/>
                <a:cs typeface="Times New Roman" panose="02020603050405020304" pitchFamily="18" charset="0"/>
              </a:rPr>
              <a:t>, vol. 9, no. 2, 2015.</a:t>
            </a:r>
            <a:r>
              <a:rPr lang="da-DK" dirty="0">
                <a:latin typeface="Times New Roman" panose="02020603050405020304" pitchFamily="18" charset="0"/>
                <a:cs typeface="Times New Roman" panose="02020603050405020304" pitchFamily="18" charset="0"/>
              </a:rPr>
              <a:t> </a:t>
            </a:r>
            <a:r>
              <a:rPr lang="da-DK" dirty="0">
                <a:latin typeface="Times New Roman" panose="02020603050405020304" pitchFamily="18" charset="0"/>
                <a:cs typeface="Times New Roman" panose="02020603050405020304" pitchFamily="18" charset="0"/>
                <a:hlinkClick r:id="rId5"/>
              </a:rPr>
              <a:t>https://www.researchgate.net/publication/287217803</a:t>
            </a:r>
            <a:r>
              <a:rPr lang="da-DK"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 [9] </a:t>
            </a:r>
            <a:r>
              <a:rPr lang="en-US" b="1" dirty="0">
                <a:solidFill>
                  <a:srgbClr val="000000"/>
                </a:solidFill>
                <a:latin typeface="Times New Roman" panose="02020603050405020304" pitchFamily="18" charset="0"/>
                <a:ea typeface="Times New Roman" panose="02020603050405020304" pitchFamily="18" charset="0"/>
              </a:rPr>
              <a:t>Frei et al.,</a:t>
            </a:r>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Fast Boundary Detection: A Generalization and a New Algorithm”, </a:t>
            </a:r>
            <a:r>
              <a:rPr lang="en-US" b="1" dirty="0">
                <a:latin typeface="Times New Roman" panose="02020603050405020304" pitchFamily="18" charset="0"/>
                <a:cs typeface="Times New Roman" panose="02020603050405020304" pitchFamily="18" charset="0"/>
              </a:rPr>
              <a:t>IEEE Transactions on Computers</a:t>
            </a:r>
            <a:r>
              <a:rPr lang="en-US" dirty="0">
                <a:latin typeface="Times New Roman" panose="02020603050405020304" pitchFamily="18" charset="0"/>
                <a:cs typeface="Times New Roman" panose="02020603050405020304" pitchFamily="18" charset="0"/>
              </a:rPr>
              <a:t>, vol. 26, no. 10, pp. 988–993, 1977. </a:t>
            </a:r>
            <a:r>
              <a:rPr lang="en-US" dirty="0">
                <a:latin typeface="Times New Roman" panose="02020603050405020304" pitchFamily="18" charset="0"/>
                <a:cs typeface="Times New Roman" panose="02020603050405020304" pitchFamily="18" charset="0"/>
                <a:hlinkClick r:id="rId6"/>
              </a:rPr>
              <a:t>https://doi.org/10.1109/TC.1977.1674913</a:t>
            </a:r>
            <a:r>
              <a:rPr lang="en-US" dirty="0">
                <a:latin typeface="Times New Roman" panose="02020603050405020304" pitchFamily="18" charset="0"/>
                <a:cs typeface="Times New Roman" panose="02020603050405020304" pitchFamily="18" charset="0"/>
              </a:rPr>
              <a:t>	</a:t>
            </a:r>
          </a:p>
          <a:p>
            <a:pPr algn="just">
              <a:lnSpc>
                <a:spcPct val="150000"/>
              </a:lnSpc>
            </a:pPr>
            <a:r>
              <a:rPr lang="en-IN" dirty="0">
                <a:latin typeface="Times New Roman" panose="02020603050405020304" pitchFamily="18" charset="0"/>
                <a:cs typeface="Times New Roman" panose="02020603050405020304" pitchFamily="18" charset="0"/>
              </a:rPr>
              <a:t>[10] </a:t>
            </a:r>
            <a:r>
              <a:rPr lang="en-IN" b="1" dirty="0">
                <a:latin typeface="Times New Roman" panose="02020603050405020304" pitchFamily="18" charset="0"/>
                <a:cs typeface="Times New Roman" panose="02020603050405020304" pitchFamily="18" charset="0"/>
              </a:rPr>
              <a:t>Zhao, L., </a:t>
            </a:r>
            <a:r>
              <a:rPr lang="en-IN" b="1" dirty="0" err="1">
                <a:latin typeface="Times New Roman" panose="02020603050405020304" pitchFamily="18" charset="0"/>
                <a:cs typeface="Times New Roman" panose="02020603050405020304" pitchFamily="18" charset="0"/>
              </a:rPr>
              <a:t>Alhoshan</a:t>
            </a:r>
            <a:r>
              <a:rPr lang="en-IN" b="1" dirty="0">
                <a:latin typeface="Times New Roman" panose="02020603050405020304" pitchFamily="18" charset="0"/>
                <a:cs typeface="Times New Roman" panose="02020603050405020304" pitchFamily="18" charset="0"/>
              </a:rPr>
              <a:t>, W., Ferrari, A., </a:t>
            </a:r>
            <a:r>
              <a:rPr lang="en-IN" b="1" dirty="0" err="1">
                <a:latin typeface="Times New Roman" panose="02020603050405020304" pitchFamily="18" charset="0"/>
                <a:cs typeface="Times New Roman" panose="02020603050405020304" pitchFamily="18" charset="0"/>
              </a:rPr>
              <a:t>Letsholo</a:t>
            </a:r>
            <a:r>
              <a:rPr lang="en-IN" b="1" dirty="0">
                <a:latin typeface="Times New Roman" panose="02020603050405020304" pitchFamily="18" charset="0"/>
                <a:cs typeface="Times New Roman" panose="02020603050405020304" pitchFamily="18" charset="0"/>
              </a:rPr>
              <a:t>, K. J., Ajagbe, M. A., </a:t>
            </a:r>
            <a:r>
              <a:rPr lang="en-IN" b="1" dirty="0" err="1">
                <a:latin typeface="Times New Roman" panose="02020603050405020304" pitchFamily="18" charset="0"/>
                <a:cs typeface="Times New Roman" panose="02020603050405020304" pitchFamily="18" charset="0"/>
              </a:rPr>
              <a:t>Chioasca</a:t>
            </a:r>
            <a:r>
              <a:rPr lang="en-IN" b="1" dirty="0">
                <a:latin typeface="Times New Roman" panose="02020603050405020304" pitchFamily="18" charset="0"/>
                <a:cs typeface="Times New Roman" panose="02020603050405020304" pitchFamily="18" charset="0"/>
              </a:rPr>
              <a:t>, E.-V., and Batista-Navarro, R. T.,</a:t>
            </a:r>
            <a:r>
              <a:rPr lang="en-IN" dirty="0">
                <a:latin typeface="Times New Roman" panose="02020603050405020304" pitchFamily="18" charset="0"/>
                <a:cs typeface="Times New Roman" panose="02020603050405020304" pitchFamily="18" charset="0"/>
              </a:rPr>
              <a:t> “Natural Language Processing (NLP) for Requirements Engineering: A Systematic Mapping Study”, </a:t>
            </a:r>
            <a:r>
              <a:rPr lang="en-IN" b="1" dirty="0">
                <a:latin typeface="Times New Roman" panose="02020603050405020304" pitchFamily="18" charset="0"/>
                <a:cs typeface="Times New Roman" panose="02020603050405020304" pitchFamily="18" charset="0"/>
              </a:rPr>
              <a:t>ACM Computing Surveys</a:t>
            </a:r>
            <a:r>
              <a:rPr lang="en-IN" dirty="0">
                <a:latin typeface="Times New Roman" panose="02020603050405020304" pitchFamily="18" charset="0"/>
                <a:cs typeface="Times New Roman" panose="02020603050405020304" pitchFamily="18" charset="0"/>
              </a:rPr>
              <a:t>, vol. 54, no. 3, Article 61, pp. 1–41, 2022. </a:t>
            </a:r>
            <a:r>
              <a:rPr lang="en-IN" dirty="0">
                <a:latin typeface="Times New Roman" panose="02020603050405020304" pitchFamily="18" charset="0"/>
                <a:cs typeface="Times New Roman" panose="02020603050405020304" pitchFamily="18" charset="0"/>
                <a:hlinkClick r:id="rId7"/>
              </a:rPr>
              <a:t>https://doi.org/10.1145/3444685</a:t>
            </a:r>
            <a:r>
              <a:rPr lang="en-IN" dirty="0">
                <a:latin typeface="Times New Roman" panose="02020603050405020304" pitchFamily="18" charset="0"/>
                <a:cs typeface="Times New Roman" panose="02020603050405020304" pitchFamily="18" charset="0"/>
              </a:rPr>
              <a:t> </a:t>
            </a:r>
          </a:p>
          <a:p>
            <a:pPr algn="just">
              <a:lnSpc>
                <a:spcPct val="150000"/>
              </a:lnSpc>
            </a:pPr>
            <a:endParaRPr lang="en-IN" sz="1750" dirty="0">
              <a:latin typeface="Times New Roman" panose="02020603050405020304" pitchFamily="18" charset="0"/>
              <a:cs typeface="Times New Roman" panose="02020603050405020304" pitchFamily="18" charset="0"/>
            </a:endParaRPr>
          </a:p>
          <a:p>
            <a:pPr algn="just">
              <a:lnSpc>
                <a:spcPct val="150000"/>
              </a:lnSpc>
            </a:pPr>
            <a:endParaRPr lang="en-IN" sz="175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04195A3-C9DC-DB4F-DF47-AFB233ECC192}"/>
              </a:ext>
            </a:extLst>
          </p:cNvPr>
          <p:cNvSpPr txBox="1"/>
          <p:nvPr/>
        </p:nvSpPr>
        <p:spPr>
          <a:xfrm>
            <a:off x="184948" y="6705084"/>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pic>
        <p:nvPicPr>
          <p:cNvPr id="14" name="Picture 4">
            <a:extLst>
              <a:ext uri="{FF2B5EF4-FFF2-40B4-BE49-F238E27FC236}">
                <a16:creationId xmlns:a16="http://schemas.microsoft.com/office/drawing/2014/main" id="{4D7B30BC-7887-0C08-A444-0A406A447534}"/>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8726575" y="6756916"/>
            <a:ext cx="317500" cy="317500"/>
          </a:xfrm>
          <a:prstGeom prst="rect">
            <a:avLst/>
          </a:prstGeom>
        </p:spPr>
      </p:pic>
      <p:pic>
        <p:nvPicPr>
          <p:cNvPr id="16" name="Picture 5">
            <a:extLst>
              <a:ext uri="{FF2B5EF4-FFF2-40B4-BE49-F238E27FC236}">
                <a16:creationId xmlns:a16="http://schemas.microsoft.com/office/drawing/2014/main" id="{16E783F6-5DB3-87DA-97EB-EFA0C4853C0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9119414" y="6756916"/>
            <a:ext cx="317500" cy="317500"/>
          </a:xfrm>
          <a:prstGeom prst="rect">
            <a:avLst/>
          </a:prstGeom>
        </p:spPr>
      </p:pic>
      <p:pic>
        <p:nvPicPr>
          <p:cNvPr id="17" name="Picture 6">
            <a:extLst>
              <a:ext uri="{FF2B5EF4-FFF2-40B4-BE49-F238E27FC236}">
                <a16:creationId xmlns:a16="http://schemas.microsoft.com/office/drawing/2014/main" id="{6B5C425E-BD64-344A-BC78-0C25B43592D9}"/>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a:xfrm>
            <a:off x="9512253" y="6756916"/>
            <a:ext cx="317500" cy="317500"/>
          </a:xfrm>
          <a:prstGeom prst="rect">
            <a:avLst/>
          </a:prstGeom>
        </p:spPr>
      </p:pic>
      <p:pic>
        <p:nvPicPr>
          <p:cNvPr id="18" name="Picture 7">
            <a:extLst>
              <a:ext uri="{FF2B5EF4-FFF2-40B4-BE49-F238E27FC236}">
                <a16:creationId xmlns:a16="http://schemas.microsoft.com/office/drawing/2014/main" id="{45CB5400-12F5-E2B7-821A-0B3FF877EE05}"/>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a:xfrm>
            <a:off x="9883567" y="6756916"/>
            <a:ext cx="317500" cy="317500"/>
          </a:xfrm>
          <a:prstGeom prst="rect">
            <a:avLst/>
          </a:prstGeom>
        </p:spPr>
      </p:pic>
      <p:sp>
        <p:nvSpPr>
          <p:cNvPr id="21" name="TextBox 8">
            <a:extLst>
              <a:ext uri="{FF2B5EF4-FFF2-40B4-BE49-F238E27FC236}">
                <a16:creationId xmlns:a16="http://schemas.microsoft.com/office/drawing/2014/main" id="{4AF5012E-7119-07BF-45AE-0562B7F18474}"/>
              </a:ext>
            </a:extLst>
          </p:cNvPr>
          <p:cNvSpPr txBox="1"/>
          <p:nvPr/>
        </p:nvSpPr>
        <p:spPr>
          <a:xfrm>
            <a:off x="10201067" y="6779141"/>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Tree>
    <p:extLst>
      <p:ext uri="{BB962C8B-B14F-4D97-AF65-F5344CB8AC3E}">
        <p14:creationId xmlns:p14="http://schemas.microsoft.com/office/powerpoint/2010/main" val="190435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026B7-7BAA-C23C-F8A8-295173AECE9C}"/>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8AE84EED-BACA-8D8D-59B8-C3D4B45D2D34}"/>
              </a:ext>
            </a:extLst>
          </p:cNvPr>
          <p:cNvGrpSpPr/>
          <p:nvPr/>
        </p:nvGrpSpPr>
        <p:grpSpPr>
          <a:xfrm>
            <a:off x="0" y="66167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4B83BDF4-BD0C-4339-018E-E141A1A51394}"/>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E370EE1A-2176-4230-749C-AFAAFB6BE91B}"/>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1670D9D-8243-E5D4-DD9D-6144C60726E5}"/>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3" name="TextBox 12">
            <a:extLst>
              <a:ext uri="{FF2B5EF4-FFF2-40B4-BE49-F238E27FC236}">
                <a16:creationId xmlns:a16="http://schemas.microsoft.com/office/drawing/2014/main" id="{E5BC221B-36D7-5CD1-B6DC-8B16B2EA81FF}"/>
              </a:ext>
            </a:extLst>
          </p:cNvPr>
          <p:cNvSpPr txBox="1"/>
          <p:nvPr/>
        </p:nvSpPr>
        <p:spPr>
          <a:xfrm>
            <a:off x="111375" y="939800"/>
            <a:ext cx="11895677" cy="5931496"/>
          </a:xfrm>
          <a:prstGeom prst="rect">
            <a:avLst/>
          </a:prstGeom>
          <a:noFill/>
        </p:spPr>
        <p:txBody>
          <a:bodyPr wrap="square">
            <a:spAutoFit/>
          </a:bodyPr>
          <a:lstStyle/>
          <a:p>
            <a:pPr algn="just">
              <a:lnSpc>
                <a:spcPct val="150000"/>
              </a:lnSpc>
            </a:pPr>
            <a:r>
              <a:rPr lang="en-IN" sz="1700" dirty="0">
                <a:latin typeface="Times New Roman" panose="02020603050405020304" pitchFamily="18" charset="0"/>
                <a:cs typeface="Times New Roman" panose="02020603050405020304" pitchFamily="18" charset="0"/>
              </a:rPr>
              <a:t> [11] </a:t>
            </a:r>
            <a:r>
              <a:rPr lang="en-IN" sz="1700" b="1" dirty="0" err="1">
                <a:latin typeface="Times New Roman" panose="02020603050405020304" pitchFamily="18" charset="0"/>
                <a:cs typeface="Times New Roman" panose="02020603050405020304" pitchFamily="18" charset="0"/>
              </a:rPr>
              <a:t>Pudasaini</a:t>
            </a:r>
            <a:r>
              <a:rPr lang="en-IN" sz="1700" b="1" dirty="0">
                <a:latin typeface="Times New Roman" panose="02020603050405020304" pitchFamily="18" charset="0"/>
                <a:cs typeface="Times New Roman" panose="02020603050405020304" pitchFamily="18" charset="0"/>
              </a:rPr>
              <a:t>, S., Shakya, S., </a:t>
            </a:r>
            <a:r>
              <a:rPr lang="en-IN" sz="1700" b="1" dirty="0" err="1">
                <a:latin typeface="Times New Roman" panose="02020603050405020304" pitchFamily="18" charset="0"/>
                <a:cs typeface="Times New Roman" panose="02020603050405020304" pitchFamily="18" charset="0"/>
              </a:rPr>
              <a:t>lamichhane</a:t>
            </a:r>
            <a:r>
              <a:rPr lang="en-IN" sz="1700" b="1" dirty="0">
                <a:latin typeface="Times New Roman" panose="02020603050405020304" pitchFamily="18" charset="0"/>
                <a:cs typeface="Times New Roman" panose="02020603050405020304" pitchFamily="18" charset="0"/>
              </a:rPr>
              <a:t>, S., Adhikari, S., Tamang, A., and Adhikari, S., </a:t>
            </a:r>
            <a:r>
              <a:rPr lang="en-IN" sz="1700" dirty="0">
                <a:latin typeface="Times New Roman" panose="02020603050405020304" pitchFamily="18" charset="0"/>
                <a:cs typeface="Times New Roman" panose="02020603050405020304" pitchFamily="18" charset="0"/>
              </a:rPr>
              <a:t>“Application of NLP for Information Extraction from Unstructured Documents”, in </a:t>
            </a:r>
            <a:r>
              <a:rPr lang="en-IN" sz="1700" b="1" dirty="0">
                <a:latin typeface="Times New Roman" panose="02020603050405020304" pitchFamily="18" charset="0"/>
                <a:cs typeface="Times New Roman" panose="02020603050405020304" pitchFamily="18" charset="0"/>
              </a:rPr>
              <a:t>Data Engineering and Communication Technology</a:t>
            </a:r>
            <a:r>
              <a:rPr lang="en-IN" sz="1700" dirty="0">
                <a:latin typeface="Times New Roman" panose="02020603050405020304" pitchFamily="18" charset="0"/>
                <a:cs typeface="Times New Roman" panose="02020603050405020304" pitchFamily="18" charset="0"/>
              </a:rPr>
              <a:t>, pp. 631–642, 2022. </a:t>
            </a:r>
            <a:r>
              <a:rPr lang="en-IN" sz="1700" dirty="0">
                <a:latin typeface="Times New Roman" panose="02020603050405020304" pitchFamily="18" charset="0"/>
                <a:cs typeface="Times New Roman" panose="02020603050405020304" pitchFamily="18" charset="0"/>
                <a:hlinkClick r:id="rId3"/>
              </a:rPr>
              <a:t>https://doi.org/10.1007/978-3-030-92128-0_54</a:t>
            </a:r>
            <a:r>
              <a:rPr lang="en-IN" sz="1700" dirty="0">
                <a:latin typeface="Times New Roman" panose="02020603050405020304" pitchFamily="18" charset="0"/>
                <a:cs typeface="Times New Roman" panose="02020603050405020304" pitchFamily="18" charset="0"/>
              </a:rPr>
              <a:t> </a:t>
            </a:r>
          </a:p>
          <a:p>
            <a:pPr algn="just">
              <a:lnSpc>
                <a:spcPct val="150000"/>
              </a:lnSpc>
            </a:pPr>
            <a:r>
              <a:rPr lang="en-IN" sz="1700" dirty="0">
                <a:latin typeface="Times New Roman" panose="02020603050405020304" pitchFamily="18" charset="0"/>
                <a:cs typeface="Times New Roman" panose="02020603050405020304" pitchFamily="18" charset="0"/>
              </a:rPr>
              <a:t> [12] </a:t>
            </a:r>
            <a:r>
              <a:rPr lang="en-IN" sz="1700" b="1" dirty="0">
                <a:latin typeface="Times New Roman" panose="02020603050405020304" pitchFamily="18" charset="0"/>
                <a:cs typeface="Times New Roman" panose="02020603050405020304" pitchFamily="18" charset="0"/>
              </a:rPr>
              <a:t>Mubeen, S., Brahmani, J., Kalyan, D. P., Jagirdar, A., and Kumar, A. P., </a:t>
            </a:r>
            <a:r>
              <a:rPr lang="en-IN" sz="1700" dirty="0">
                <a:latin typeface="Times New Roman" panose="02020603050405020304" pitchFamily="18" charset="0"/>
                <a:cs typeface="Times New Roman" panose="02020603050405020304" pitchFamily="18" charset="0"/>
              </a:rPr>
              <a:t>“Optical Character Recognition Using Tesseract”, </a:t>
            </a:r>
            <a:r>
              <a:rPr lang="en-IN" sz="1700" b="1" dirty="0">
                <a:latin typeface="Times New Roman" panose="02020603050405020304" pitchFamily="18" charset="0"/>
                <a:cs typeface="Times New Roman" panose="02020603050405020304" pitchFamily="18" charset="0"/>
              </a:rPr>
              <a:t>International Journal for Research in Applied Science &amp; Engineering Technology (IJRASET), </a:t>
            </a:r>
            <a:r>
              <a:rPr lang="en-IN" sz="1700" dirty="0">
                <a:latin typeface="Times New Roman" panose="02020603050405020304" pitchFamily="18" charset="0"/>
                <a:cs typeface="Times New Roman" panose="02020603050405020304" pitchFamily="18" charset="0"/>
              </a:rPr>
              <a:t>vol. 10, issue XI, pp. 672–675, 2022. </a:t>
            </a:r>
            <a:r>
              <a:rPr lang="en-IN" sz="1700" dirty="0">
                <a:latin typeface="Times New Roman" panose="02020603050405020304" pitchFamily="18" charset="0"/>
                <a:cs typeface="Times New Roman" panose="02020603050405020304" pitchFamily="18" charset="0"/>
                <a:hlinkClick r:id="rId4"/>
              </a:rPr>
              <a:t>https://doi.org/10.22214/ijraset.2022.47414</a:t>
            </a:r>
            <a:r>
              <a:rPr lang="en-IN" sz="1700" dirty="0">
                <a:latin typeface="Times New Roman" panose="02020603050405020304" pitchFamily="18" charset="0"/>
                <a:cs typeface="Times New Roman" panose="02020603050405020304" pitchFamily="18" charset="0"/>
              </a:rPr>
              <a:t> </a:t>
            </a:r>
            <a:endParaRPr lang="en-IN" sz="1700" b="1" dirty="0">
              <a:latin typeface="Times New Roman" panose="02020603050405020304" pitchFamily="18" charset="0"/>
              <a:cs typeface="Times New Roman" panose="02020603050405020304" pitchFamily="18" charset="0"/>
            </a:endParaRPr>
          </a:p>
          <a:p>
            <a:pPr algn="just">
              <a:lnSpc>
                <a:spcPct val="150000"/>
              </a:lnSpc>
            </a:pPr>
            <a:r>
              <a:rPr lang="en-IN" sz="1700" dirty="0">
                <a:latin typeface="Times New Roman" panose="02020603050405020304" pitchFamily="18" charset="0"/>
                <a:cs typeface="Times New Roman" panose="02020603050405020304" pitchFamily="18" charset="0"/>
              </a:rPr>
              <a:t> [13] </a:t>
            </a:r>
            <a:r>
              <a:rPr lang="en-IN" sz="1700" b="1" dirty="0">
                <a:latin typeface="Times New Roman" panose="02020603050405020304" pitchFamily="18" charset="0"/>
                <a:cs typeface="Times New Roman" panose="02020603050405020304" pitchFamily="18" charset="0"/>
              </a:rPr>
              <a:t>Lynn, N. D., Sourav, A. I., and Santoso, A. J.</a:t>
            </a:r>
            <a:r>
              <a:rPr lang="en-IN" sz="1700" dirty="0">
                <a:latin typeface="Times New Roman" panose="02020603050405020304" pitchFamily="18" charset="0"/>
                <a:cs typeface="Times New Roman" panose="02020603050405020304" pitchFamily="18" charset="0"/>
              </a:rPr>
              <a:t>, “Implementation of Real-Time Edge Detection Using Canny and Sobel Algorithms”, </a:t>
            </a:r>
            <a:r>
              <a:rPr lang="en-IN" sz="1700" b="1" dirty="0">
                <a:latin typeface="Times New Roman" panose="02020603050405020304" pitchFamily="18" charset="0"/>
                <a:cs typeface="Times New Roman" panose="02020603050405020304" pitchFamily="18" charset="0"/>
              </a:rPr>
              <a:t>IOP Conference Series: Materials Science and Engineering</a:t>
            </a:r>
            <a:r>
              <a:rPr lang="en-IN" sz="1700" dirty="0">
                <a:latin typeface="Times New Roman" panose="02020603050405020304" pitchFamily="18" charset="0"/>
                <a:cs typeface="Times New Roman" panose="02020603050405020304" pitchFamily="18" charset="0"/>
              </a:rPr>
              <a:t>, vol. 1096, Article 012079, 2021. </a:t>
            </a:r>
            <a:r>
              <a:rPr lang="en-IN" sz="1700" dirty="0">
                <a:latin typeface="Times New Roman" panose="02020603050405020304" pitchFamily="18" charset="0"/>
                <a:cs typeface="Times New Roman" panose="02020603050405020304" pitchFamily="18" charset="0"/>
                <a:hlinkClick r:id="rId5"/>
              </a:rPr>
              <a:t>https://doi.org/10.1088/1757-899X/1096/1/012079</a:t>
            </a:r>
            <a:r>
              <a:rPr lang="en-IN" sz="1700" dirty="0">
                <a:latin typeface="Times New Roman" panose="02020603050405020304" pitchFamily="18" charset="0"/>
                <a:cs typeface="Times New Roman" panose="02020603050405020304" pitchFamily="18" charset="0"/>
              </a:rPr>
              <a:t> </a:t>
            </a:r>
          </a:p>
          <a:p>
            <a:pPr algn="just">
              <a:lnSpc>
                <a:spcPct val="150000"/>
              </a:lnSpc>
            </a:pPr>
            <a:r>
              <a:rPr lang="en-IN" sz="1700" dirty="0">
                <a:latin typeface="Times New Roman" panose="02020603050405020304" pitchFamily="18" charset="0"/>
                <a:cs typeface="Times New Roman" panose="02020603050405020304" pitchFamily="18" charset="0"/>
              </a:rPr>
              <a:t> [14] </a:t>
            </a:r>
            <a:r>
              <a:rPr lang="en-IN" sz="1700" b="1" dirty="0">
                <a:latin typeface="Times New Roman" panose="02020603050405020304" pitchFamily="18" charset="0"/>
                <a:cs typeface="Times New Roman" panose="02020603050405020304" pitchFamily="18" charset="0"/>
              </a:rPr>
              <a:t>Pandey, A. and Jain, A., </a:t>
            </a:r>
            <a:r>
              <a:rPr lang="en-IN" sz="1700" dirty="0">
                <a:latin typeface="Times New Roman" panose="02020603050405020304" pitchFamily="18" charset="0"/>
                <a:cs typeface="Times New Roman" panose="02020603050405020304" pitchFamily="18" charset="0"/>
              </a:rPr>
              <a:t>“Comparative Analysis of KNN Algorithm using Various Normalization Techniques”, </a:t>
            </a:r>
            <a:r>
              <a:rPr lang="en-IN" sz="1700" b="1" dirty="0">
                <a:latin typeface="Times New Roman" panose="02020603050405020304" pitchFamily="18" charset="0"/>
                <a:cs typeface="Times New Roman" panose="02020603050405020304" pitchFamily="18" charset="0"/>
              </a:rPr>
              <a:t>I. J. Computer Network and Information Security (IJCNIS)</a:t>
            </a:r>
            <a:r>
              <a:rPr lang="en-IN" sz="1700" dirty="0">
                <a:latin typeface="Times New Roman" panose="02020603050405020304" pitchFamily="18" charset="0"/>
                <a:cs typeface="Times New Roman" panose="02020603050405020304" pitchFamily="18" charset="0"/>
              </a:rPr>
              <a:t>, vol. 9, no. 11, pp. 36–42, 2017. </a:t>
            </a:r>
            <a:r>
              <a:rPr lang="en-IN" sz="1700" dirty="0">
                <a:latin typeface="Times New Roman" panose="02020603050405020304" pitchFamily="18" charset="0"/>
                <a:cs typeface="Times New Roman" panose="02020603050405020304" pitchFamily="18" charset="0"/>
                <a:hlinkClick r:id="rId6"/>
              </a:rPr>
              <a:t>https://doi.org/10.5815/ijcnis.2017.11.04</a:t>
            </a:r>
            <a:r>
              <a:rPr lang="en-IN" sz="1700" dirty="0">
                <a:latin typeface="Times New Roman" panose="02020603050405020304" pitchFamily="18" charset="0"/>
                <a:cs typeface="Times New Roman" panose="02020603050405020304" pitchFamily="18" charset="0"/>
              </a:rPr>
              <a:t> </a:t>
            </a:r>
          </a:p>
          <a:p>
            <a:pPr algn="just">
              <a:lnSpc>
                <a:spcPct val="150000"/>
              </a:lnSpc>
            </a:pPr>
            <a:r>
              <a:rPr lang="en-IN" sz="1700" dirty="0">
                <a:latin typeface="Times New Roman" panose="02020603050405020304" pitchFamily="18" charset="0"/>
                <a:cs typeface="Times New Roman" panose="02020603050405020304" pitchFamily="18" charset="0"/>
              </a:rPr>
              <a:t> [15] </a:t>
            </a:r>
            <a:r>
              <a:rPr lang="en-IN" sz="1700" b="1" dirty="0">
                <a:latin typeface="Times New Roman" panose="02020603050405020304" pitchFamily="18" charset="0"/>
                <a:cs typeface="Times New Roman" panose="02020603050405020304" pitchFamily="18" charset="0"/>
              </a:rPr>
              <a:t>Abadi, M., Barham, P., Chen, J., Chen, Z., Davis, A., Dean, J., Devin, M., Ghemawat, S., </a:t>
            </a:r>
            <a:r>
              <a:rPr lang="en-IN" sz="1700" dirty="0">
                <a:latin typeface="Times New Roman" panose="02020603050405020304" pitchFamily="18" charset="0"/>
                <a:cs typeface="Times New Roman" panose="02020603050405020304" pitchFamily="18" charset="0"/>
              </a:rPr>
              <a:t>“TensorFlow: A System for Large-Scale Machine Learning”, </a:t>
            </a:r>
            <a:r>
              <a:rPr lang="en-IN" sz="1700" b="1" dirty="0">
                <a:latin typeface="Times New Roman" panose="02020603050405020304" pitchFamily="18" charset="0"/>
                <a:cs typeface="Times New Roman" panose="02020603050405020304" pitchFamily="18" charset="0"/>
              </a:rPr>
              <a:t>in Proceedings of the 12th USENIX Symposium on Operating Systems Design and Implementation (OSDI '16)</a:t>
            </a:r>
            <a:r>
              <a:rPr lang="en-IN" sz="1700" dirty="0">
                <a:latin typeface="Times New Roman" panose="02020603050405020304" pitchFamily="18" charset="0"/>
                <a:cs typeface="Times New Roman" panose="02020603050405020304" pitchFamily="18" charset="0"/>
              </a:rPr>
              <a:t>, pp. 265–283, 2016. </a:t>
            </a:r>
            <a:r>
              <a:rPr lang="en-IN" sz="1700" dirty="0">
                <a:latin typeface="Times New Roman" panose="02020603050405020304" pitchFamily="18" charset="0"/>
                <a:cs typeface="Times New Roman" panose="02020603050405020304" pitchFamily="18" charset="0"/>
                <a:hlinkClick r:id="rId7"/>
              </a:rPr>
              <a:t>https://doi.org/10.48550/arXiv.1605.08695</a:t>
            </a:r>
            <a:r>
              <a:rPr lang="en-IN" sz="1700" dirty="0">
                <a:latin typeface="Times New Roman" panose="02020603050405020304" pitchFamily="18" charset="0"/>
                <a:cs typeface="Times New Roman" panose="02020603050405020304" pitchFamily="18" charset="0"/>
              </a:rPr>
              <a:t> </a:t>
            </a:r>
          </a:p>
          <a:p>
            <a:pPr algn="just">
              <a:lnSpc>
                <a:spcPct val="150000"/>
              </a:lnSpc>
            </a:pPr>
            <a:endParaRPr lang="en-IN" sz="17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10B3736-4EF7-D824-A235-D22B425AC861}"/>
              </a:ext>
            </a:extLst>
          </p:cNvPr>
          <p:cNvSpPr txBox="1"/>
          <p:nvPr/>
        </p:nvSpPr>
        <p:spPr>
          <a:xfrm>
            <a:off x="184948" y="6705084"/>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pic>
        <p:nvPicPr>
          <p:cNvPr id="14" name="Picture 4">
            <a:extLst>
              <a:ext uri="{FF2B5EF4-FFF2-40B4-BE49-F238E27FC236}">
                <a16:creationId xmlns:a16="http://schemas.microsoft.com/office/drawing/2014/main" id="{B28CAD71-DA52-9451-381E-47856424787F}"/>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8726575" y="6756916"/>
            <a:ext cx="317500" cy="317500"/>
          </a:xfrm>
          <a:prstGeom prst="rect">
            <a:avLst/>
          </a:prstGeom>
        </p:spPr>
      </p:pic>
      <p:pic>
        <p:nvPicPr>
          <p:cNvPr id="16" name="Picture 5">
            <a:extLst>
              <a:ext uri="{FF2B5EF4-FFF2-40B4-BE49-F238E27FC236}">
                <a16:creationId xmlns:a16="http://schemas.microsoft.com/office/drawing/2014/main" id="{1A3E51F3-9885-CC8F-74CA-681DB1B9D97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9119414" y="6756916"/>
            <a:ext cx="317500" cy="317500"/>
          </a:xfrm>
          <a:prstGeom prst="rect">
            <a:avLst/>
          </a:prstGeom>
        </p:spPr>
      </p:pic>
      <p:pic>
        <p:nvPicPr>
          <p:cNvPr id="17" name="Picture 6">
            <a:extLst>
              <a:ext uri="{FF2B5EF4-FFF2-40B4-BE49-F238E27FC236}">
                <a16:creationId xmlns:a16="http://schemas.microsoft.com/office/drawing/2014/main" id="{BA0E00B4-F969-76D8-63DD-57B7A89C43DC}"/>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a:xfrm>
            <a:off x="9512253" y="6756916"/>
            <a:ext cx="317500" cy="317500"/>
          </a:xfrm>
          <a:prstGeom prst="rect">
            <a:avLst/>
          </a:prstGeom>
        </p:spPr>
      </p:pic>
      <p:pic>
        <p:nvPicPr>
          <p:cNvPr id="18" name="Picture 7">
            <a:extLst>
              <a:ext uri="{FF2B5EF4-FFF2-40B4-BE49-F238E27FC236}">
                <a16:creationId xmlns:a16="http://schemas.microsoft.com/office/drawing/2014/main" id="{6DA60DD7-CBF7-305A-B132-75A61AF8C14A}"/>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a:xfrm>
            <a:off x="9883567" y="6756916"/>
            <a:ext cx="317500" cy="317500"/>
          </a:xfrm>
          <a:prstGeom prst="rect">
            <a:avLst/>
          </a:prstGeom>
        </p:spPr>
      </p:pic>
      <p:sp>
        <p:nvSpPr>
          <p:cNvPr id="21" name="TextBox 8">
            <a:extLst>
              <a:ext uri="{FF2B5EF4-FFF2-40B4-BE49-F238E27FC236}">
                <a16:creationId xmlns:a16="http://schemas.microsoft.com/office/drawing/2014/main" id="{278C6E84-5D68-01CC-D608-762980711D7F}"/>
              </a:ext>
            </a:extLst>
          </p:cNvPr>
          <p:cNvSpPr txBox="1"/>
          <p:nvPr/>
        </p:nvSpPr>
        <p:spPr>
          <a:xfrm>
            <a:off x="10201067" y="6779141"/>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Tree>
    <p:extLst>
      <p:ext uri="{BB962C8B-B14F-4D97-AF65-F5344CB8AC3E}">
        <p14:creationId xmlns:p14="http://schemas.microsoft.com/office/powerpoint/2010/main" val="1669914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26" name="Picture 4">
            <a:extLst>
              <a:ext uri="{FF2B5EF4-FFF2-40B4-BE49-F238E27FC236}">
                <a16:creationId xmlns:a16="http://schemas.microsoft.com/office/drawing/2014/main" id="{A38916BD-2F6C-8C5C-69F1-20EF826FFC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726575" y="6426200"/>
            <a:ext cx="317500" cy="317500"/>
          </a:xfrm>
          <a:prstGeom prst="rect">
            <a:avLst/>
          </a:prstGeom>
        </p:spPr>
      </p:pic>
      <p:pic>
        <p:nvPicPr>
          <p:cNvPr id="27" name="Picture 5">
            <a:extLst>
              <a:ext uri="{FF2B5EF4-FFF2-40B4-BE49-F238E27FC236}">
                <a16:creationId xmlns:a16="http://schemas.microsoft.com/office/drawing/2014/main" id="{C0CB9FD8-D8C9-4709-8349-C8C9267E83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9119414" y="6426200"/>
            <a:ext cx="317500" cy="317500"/>
          </a:xfrm>
          <a:prstGeom prst="rect">
            <a:avLst/>
          </a:prstGeom>
        </p:spPr>
      </p:pic>
      <p:pic>
        <p:nvPicPr>
          <p:cNvPr id="28" name="Picture 6">
            <a:extLst>
              <a:ext uri="{FF2B5EF4-FFF2-40B4-BE49-F238E27FC236}">
                <a16:creationId xmlns:a16="http://schemas.microsoft.com/office/drawing/2014/main" id="{DB4FE3B4-BB90-79D8-EB65-C10A428A39D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9512253" y="6426200"/>
            <a:ext cx="317500" cy="317500"/>
          </a:xfrm>
          <a:prstGeom prst="rect">
            <a:avLst/>
          </a:prstGeom>
        </p:spPr>
      </p:pic>
      <p:pic>
        <p:nvPicPr>
          <p:cNvPr id="29" name="Picture 7">
            <a:extLst>
              <a:ext uri="{FF2B5EF4-FFF2-40B4-BE49-F238E27FC236}">
                <a16:creationId xmlns:a16="http://schemas.microsoft.com/office/drawing/2014/main" id="{6BEDBDB7-0B57-60B5-B67A-1FA0861D1DA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883567" y="6426200"/>
            <a:ext cx="317500" cy="317500"/>
          </a:xfrm>
          <a:prstGeom prst="rect">
            <a:avLst/>
          </a:prstGeom>
        </p:spPr>
      </p:pic>
      <p:sp>
        <p:nvSpPr>
          <p:cNvPr id="30" name="TextBox 8">
            <a:extLst>
              <a:ext uri="{FF2B5EF4-FFF2-40B4-BE49-F238E27FC236}">
                <a16:creationId xmlns:a16="http://schemas.microsoft.com/office/drawing/2014/main" id="{BDC56BF2-92F3-3F12-F910-2816DF452EE8}"/>
              </a:ext>
            </a:extLst>
          </p:cNvPr>
          <p:cNvSpPr txBox="1"/>
          <p:nvPr/>
        </p:nvSpPr>
        <p:spPr>
          <a:xfrm>
            <a:off x="10201067" y="6448425"/>
            <a:ext cx="1990933" cy="249043"/>
          </a:xfrm>
          <a:prstGeom prst="rect">
            <a:avLst/>
          </a:prstGeom>
        </p:spPr>
        <p:txBody>
          <a:bodyPr wrap="square"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10">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extBox 11">
            <a:extLst>
              <a:ext uri="{FF2B5EF4-FFF2-40B4-BE49-F238E27FC236}">
                <a16:creationId xmlns:a16="http://schemas.microsoft.com/office/drawing/2014/main" id="{246FD0C1-C816-8AC4-F6DA-0F444E3BC589}"/>
              </a:ext>
            </a:extLst>
          </p:cNvPr>
          <p:cNvSpPr txBox="1"/>
          <p:nvPr/>
        </p:nvSpPr>
        <p:spPr>
          <a:xfrm>
            <a:off x="2989006" y="2364173"/>
            <a:ext cx="7580671" cy="1938992"/>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THANK      </a:t>
            </a:r>
          </a:p>
          <a:p>
            <a:r>
              <a:rPr lang="en-US" sz="6000" b="1" dirty="0">
                <a:latin typeface="Times New Roman" panose="02020603050405020304" pitchFamily="18" charset="0"/>
                <a:cs typeface="Times New Roman" panose="02020603050405020304" pitchFamily="18" charset="0"/>
              </a:rPr>
              <a:t>                YOU!</a:t>
            </a:r>
            <a:endParaRPr lang="en-IN" sz="60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7A57BB6-31D4-6EC3-CD80-CEB556713C8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AI&amp;ML, VKIT</a:t>
            </a:r>
          </a:p>
        </p:txBody>
      </p:sp>
    </p:spTree>
    <p:extLst>
      <p:ext uri="{BB962C8B-B14F-4D97-AF65-F5344CB8AC3E}">
        <p14:creationId xmlns:p14="http://schemas.microsoft.com/office/powerpoint/2010/main" val="2499517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4125</TotalTime>
  <Words>4217</Words>
  <Application>Microsoft Office PowerPoint</Application>
  <PresentationFormat>Widescreen</PresentationFormat>
  <Paragraphs>580</Paragraphs>
  <Slides>32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Lato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 Gowdru</dc:creator>
  <cp:lastModifiedBy>Chaman S</cp:lastModifiedBy>
  <cp:revision>119</cp:revision>
  <dcterms:created xsi:type="dcterms:W3CDTF">2025-05-12T14:50:28Z</dcterms:created>
  <dcterms:modified xsi:type="dcterms:W3CDTF">2026-01-09T03:04:12Z</dcterms:modified>
</cp:coreProperties>
</file>